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6" r:id="rId1"/>
  </p:sldMasterIdLst>
  <p:notesMasterIdLst>
    <p:notesMasterId r:id="rId13"/>
  </p:notesMasterIdLst>
  <p:handoutMasterIdLst>
    <p:handoutMasterId r:id="rId14"/>
  </p:handoutMasterIdLst>
  <p:sldIdLst>
    <p:sldId id="359" r:id="rId2"/>
    <p:sldId id="358" r:id="rId3"/>
    <p:sldId id="368" r:id="rId4"/>
    <p:sldId id="369" r:id="rId5"/>
    <p:sldId id="370" r:id="rId6"/>
    <p:sldId id="352" r:id="rId7"/>
    <p:sldId id="354" r:id="rId8"/>
    <p:sldId id="364" r:id="rId9"/>
    <p:sldId id="360" r:id="rId10"/>
    <p:sldId id="363" r:id="rId11"/>
    <p:sldId id="372" r:id="rId12"/>
  </p:sldIdLst>
  <p:sldSz cx="12192000" cy="6858000"/>
  <p:notesSz cx="6735763" cy="987266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9F388EB8-2424-4806-A2ED-17EE7779107E}">
          <p14:sldIdLst>
            <p14:sldId id="359"/>
            <p14:sldId id="358"/>
            <p14:sldId id="368"/>
            <p14:sldId id="369"/>
            <p14:sldId id="370"/>
            <p14:sldId id="352"/>
            <p14:sldId id="354"/>
            <p14:sldId id="364"/>
            <p14:sldId id="360"/>
            <p14:sldId id="363"/>
            <p14:sldId id="37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 userDrawn="1">
          <p15:clr>
            <a:srgbClr val="A4A3A4"/>
          </p15:clr>
        </p15:guide>
        <p15:guide id="2" pos="2122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11109068　松尾　健司" initials="1" lastIdx="3" clrIdx="0">
    <p:extLst>
      <p:ext uri="{19B8F6BF-5375-455C-9EA6-DF929625EA0E}">
        <p15:presenceInfo xmlns:p15="http://schemas.microsoft.com/office/powerpoint/2012/main" userId="S-1-5-21-4172189229-2787287235-243375271-6735" providerId="AD"/>
      </p:ext>
    </p:extLst>
  </p:cmAuthor>
  <p:cmAuthor id="2" name="智晴 東野" initials="智晴" lastIdx="2" clrIdx="1">
    <p:extLst>
      <p:ext uri="{19B8F6BF-5375-455C-9EA6-DF929625EA0E}">
        <p15:presenceInfo xmlns:p15="http://schemas.microsoft.com/office/powerpoint/2012/main" userId="2b4cbf9fc6f8841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C80"/>
    <a:srgbClr val="FFFFCC"/>
    <a:srgbClr val="FFCC99"/>
    <a:srgbClr val="FFFF99"/>
    <a:srgbClr val="FFCC00"/>
    <a:srgbClr val="8E0000"/>
    <a:srgbClr val="DEE22C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淡色スタイル 3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間スタイル 4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202B0CA-FC54-4496-8BCA-5EF66A818D29}" styleName="スタイル (濃色)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濃色スタイル 2 - アクセント 1/アクセント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C2FFA5D-87B4-456A-9821-1D502468CF0F}" styleName="テーマ スタイル 1 - アクセント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淡色スタイル 1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淡色スタイル 2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DA37D80-6434-44D0-A028-1B22A696006F}" styleName="淡色スタイル 3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8603FDC-E32A-4AB5-989C-0864C3EAD2B8}" styleName="テーマ スタイル 2 - アクセント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CAF9ED-07DC-4A11-8D7F-57B35C25682E}" styleName="中間スタイル 1 - アクセント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129" autoAdjust="0"/>
    <p:restoredTop sz="91197" autoAdjust="0"/>
  </p:normalViewPr>
  <p:slideViewPr>
    <p:cSldViewPr snapToGrid="0">
      <p:cViewPr varScale="1">
        <p:scale>
          <a:sx n="83" d="100"/>
          <a:sy n="83" d="100"/>
        </p:scale>
        <p:origin x="883" y="67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-2050"/>
    </p:cViewPr>
  </p:sorterViewPr>
  <p:notesViewPr>
    <p:cSldViewPr snapToGrid="0">
      <p:cViewPr varScale="1">
        <p:scale>
          <a:sx n="69" d="100"/>
          <a:sy n="69" d="100"/>
        </p:scale>
        <p:origin x="3512" y="208"/>
      </p:cViewPr>
      <p:guideLst>
        <p:guide orient="horz" pos="3108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19413" cy="494030"/>
          </a:xfrm>
          <a:prstGeom prst="rect">
            <a:avLst/>
          </a:prstGeom>
        </p:spPr>
        <p:txBody>
          <a:bodyPr vert="horz" lIns="91467" tIns="45734" rIns="91467" bIns="45734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14763" y="1"/>
            <a:ext cx="2919412" cy="494030"/>
          </a:xfrm>
          <a:prstGeom prst="rect">
            <a:avLst/>
          </a:prstGeom>
        </p:spPr>
        <p:txBody>
          <a:bodyPr vert="horz" lIns="91467" tIns="45734" rIns="91467" bIns="45734" rtlCol="0"/>
          <a:lstStyle>
            <a:lvl1pPr algn="r">
              <a:defRPr sz="1200"/>
            </a:lvl1pPr>
          </a:lstStyle>
          <a:p>
            <a:fld id="{8728F2C9-6A85-4A53-9C26-77215B7BA093}" type="datetimeFigureOut">
              <a:rPr kumimoji="1" lang="ja-JP" altLang="en-US" smtClean="0"/>
              <a:pPr/>
              <a:t>2021/5/7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1" y="9377046"/>
            <a:ext cx="2919413" cy="494029"/>
          </a:xfrm>
          <a:prstGeom prst="rect">
            <a:avLst/>
          </a:prstGeom>
        </p:spPr>
        <p:txBody>
          <a:bodyPr vert="horz" lIns="91467" tIns="45734" rIns="91467" bIns="45734" rtlCol="0" anchor="b"/>
          <a:lstStyle>
            <a:lvl1pPr algn="l">
              <a:defRPr sz="1200"/>
            </a:lvl1pPr>
          </a:lstStyle>
          <a:p>
            <a:r>
              <a:rPr kumimoji="1" lang="en-US" altLang="ja-JP"/>
              <a:t>Copyright</a:t>
            </a:r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14763" y="9377046"/>
            <a:ext cx="2919412" cy="494029"/>
          </a:xfrm>
          <a:prstGeom prst="rect">
            <a:avLst/>
          </a:prstGeom>
        </p:spPr>
        <p:txBody>
          <a:bodyPr vert="horz" lIns="91467" tIns="45734" rIns="91467" bIns="45734" rtlCol="0" anchor="b"/>
          <a:lstStyle>
            <a:lvl1pPr algn="r">
              <a:defRPr sz="1200"/>
            </a:lvl1pPr>
          </a:lstStyle>
          <a:p>
            <a:fld id="{17C02088-5C5A-4A84-B9FF-52F59138A60A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823395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18831" cy="495348"/>
          </a:xfrm>
          <a:prstGeom prst="rect">
            <a:avLst/>
          </a:prstGeom>
        </p:spPr>
        <p:txBody>
          <a:bodyPr vert="horz" lIns="91467" tIns="45734" rIns="91467" bIns="45734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5374" y="0"/>
            <a:ext cx="2918831" cy="495348"/>
          </a:xfrm>
          <a:prstGeom prst="rect">
            <a:avLst/>
          </a:prstGeom>
        </p:spPr>
        <p:txBody>
          <a:bodyPr vert="horz" lIns="91467" tIns="45734" rIns="91467" bIns="45734" rtlCol="0"/>
          <a:lstStyle>
            <a:lvl1pPr algn="r">
              <a:defRPr sz="1200"/>
            </a:lvl1pPr>
          </a:lstStyle>
          <a:p>
            <a:fld id="{26A4112D-3992-4EA1-8AD8-804232A30FE1}" type="datetimeFigureOut">
              <a:rPr kumimoji="1" lang="ja-JP" altLang="en-US" smtClean="0"/>
              <a:pPr/>
              <a:t>2021/5/7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1233488"/>
            <a:ext cx="5919787" cy="3330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67" tIns="45734" rIns="91467" bIns="45734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3577" y="4751219"/>
            <a:ext cx="5388610" cy="3887361"/>
          </a:xfrm>
          <a:prstGeom prst="rect">
            <a:avLst/>
          </a:prstGeom>
        </p:spPr>
        <p:txBody>
          <a:bodyPr vert="horz" lIns="91467" tIns="45734" rIns="91467" bIns="45734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377317"/>
            <a:ext cx="2918831" cy="495347"/>
          </a:xfrm>
          <a:prstGeom prst="rect">
            <a:avLst/>
          </a:prstGeom>
        </p:spPr>
        <p:txBody>
          <a:bodyPr vert="horz" lIns="91467" tIns="45734" rIns="91467" bIns="45734" rtlCol="0" anchor="b"/>
          <a:lstStyle>
            <a:lvl1pPr algn="l">
              <a:defRPr sz="1200"/>
            </a:lvl1pPr>
          </a:lstStyle>
          <a:p>
            <a:r>
              <a:rPr kumimoji="1" lang="en-US" altLang="ja-JP"/>
              <a:t>Copyright</a:t>
            </a:r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5374" y="9377317"/>
            <a:ext cx="2918831" cy="495347"/>
          </a:xfrm>
          <a:prstGeom prst="rect">
            <a:avLst/>
          </a:prstGeom>
        </p:spPr>
        <p:txBody>
          <a:bodyPr vert="horz" lIns="91467" tIns="45734" rIns="91467" bIns="45734" rtlCol="0" anchor="b"/>
          <a:lstStyle>
            <a:lvl1pPr algn="r">
              <a:defRPr sz="1200"/>
            </a:lvl1pPr>
          </a:lstStyle>
          <a:p>
            <a:fld id="{A22D667A-AAE3-42D2-A3D4-CC96BBA9ADDD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4083700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5" name="Rectangle 95"/>
          <p:cNvSpPr>
            <a:spLocks noGrp="1" noChangeArrowheads="1"/>
          </p:cNvSpPr>
          <p:nvPr>
            <p:ph type="ctrTitle" sz="quarter"/>
          </p:nvPr>
        </p:nvSpPr>
        <p:spPr bwMode="auto">
          <a:xfrm>
            <a:off x="2373745" y="3885363"/>
            <a:ext cx="7935179" cy="839787"/>
          </a:xfrm>
        </p:spPr>
        <p:txBody>
          <a:bodyPr lIns="0" rIns="87277" anchor="ctr"/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pPr lvl="0"/>
            <a:r>
              <a:rPr lang="ja-JP" altLang="en-US" noProof="0"/>
              <a:t>マスター タイトルの書式設定</a:t>
            </a:r>
            <a:endParaRPr lang="en-US" altLang="ja-JP" noProof="0"/>
          </a:p>
        </p:txBody>
      </p:sp>
      <p:sp>
        <p:nvSpPr>
          <p:cNvPr id="10336" name="Rectangle 9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255574" y="5589240"/>
            <a:ext cx="7917187" cy="704850"/>
          </a:xfrm>
          <a:prstGeom prst="rect">
            <a:avLst/>
          </a:prstGeom>
        </p:spPr>
        <p:txBody>
          <a:bodyPr lIns="0" tIns="43638" rIns="87277" bIns="43638" anchor="ctr"/>
          <a:lstStyle>
            <a:lvl1pPr algn="ctr">
              <a:defRPr sz="130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pPr lvl="0"/>
            <a:r>
              <a:rPr lang="ja-JP" altLang="en-US" noProof="0"/>
              <a:t>マスター サブタイトルの書式設定</a:t>
            </a:r>
            <a:endParaRPr lang="en-US" altLang="ja-JP" noProof="0"/>
          </a:p>
        </p:txBody>
      </p:sp>
      <p:sp>
        <p:nvSpPr>
          <p:cNvPr id="2" name="正方形/長方形 1"/>
          <p:cNvSpPr/>
          <p:nvPr/>
        </p:nvSpPr>
        <p:spPr>
          <a:xfrm>
            <a:off x="513841" y="3453317"/>
            <a:ext cx="11076923" cy="72000"/>
          </a:xfrm>
          <a:prstGeom prst="rect">
            <a:avLst/>
          </a:prstGeom>
          <a:solidFill>
            <a:srgbClr val="D60000"/>
          </a:solidFill>
          <a:ln w="15875" algn="ctr">
            <a:noFill/>
            <a:miter lim="800000"/>
            <a:headEnd/>
            <a:tailEnd/>
          </a:ln>
        </p:spPr>
        <p:txBody>
          <a:bodyPr wrap="square" lIns="36000" tIns="36000" rIns="36000" bIns="36000" rtlCol="0" anchor="ctr"/>
          <a:lstStyle/>
          <a:p>
            <a:pPr algn="ctr"/>
            <a:endParaRPr kumimoji="1" lang="ja-JP" altLang="en-US" sz="1800" dirty="0">
              <a:latin typeface="HGP創英角ｺﾞｼｯｸUB" pitchFamily="50" charset="-128"/>
              <a:ea typeface="HGP創英角ｺﾞｼｯｸUB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678294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57945" y="33339"/>
            <a:ext cx="9305908" cy="652462"/>
          </a:xfrm>
        </p:spPr>
        <p:txBody>
          <a:bodyPr anchor="ctr"/>
          <a:lstStyle>
            <a:lvl1pPr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24880051"/>
      </p:ext>
    </p:extLst>
  </p:cSld>
  <p:clrMapOvr>
    <a:masterClrMapping/>
  </p:clrMapOvr>
  <p:transition/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6" name="AutoShape 128"/>
          <p:cNvSpPr>
            <a:spLocks noChangeArrowheads="1"/>
          </p:cNvSpPr>
          <p:nvPr userDrawn="1"/>
        </p:nvSpPr>
        <p:spPr bwMode="auto">
          <a:xfrm flipV="1">
            <a:off x="25402" y="657225"/>
            <a:ext cx="12121661" cy="46038"/>
          </a:xfrm>
          <a:prstGeom prst="rect">
            <a:avLst/>
          </a:prstGeom>
          <a:solidFill>
            <a:srgbClr val="FF0000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rot="10800000" wrap="none" lIns="87277" tIns="43638" rIns="87277" bIns="43638" anchor="ctr"/>
          <a:lstStyle/>
          <a:p>
            <a:pPr eaLnBrk="0" hangingPunct="0">
              <a:spcBef>
                <a:spcPct val="10000"/>
              </a:spcBef>
              <a:buClr>
                <a:srgbClr val="000000"/>
              </a:buClr>
              <a:buSzPct val="100000"/>
              <a:buFont typeface="Wingdings" pitchFamily="2" charset="2"/>
              <a:buNone/>
              <a:defRPr/>
            </a:pPr>
            <a:endParaRPr kumimoji="0" lang="ja-JP" altLang="en-US" sz="1800">
              <a:solidFill>
                <a:srgbClr val="000000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7" name="テキスト プレースホルダ 2"/>
          <p:cNvSpPr>
            <a:spLocks noGrp="1"/>
          </p:cNvSpPr>
          <p:nvPr>
            <p:ph idx="1"/>
          </p:nvPr>
        </p:nvSpPr>
        <p:spPr>
          <a:xfrm>
            <a:off x="87923" y="721274"/>
            <a:ext cx="11992708" cy="3886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sz="2000"/>
            </a:lvl1pPr>
          </a:lstStyle>
          <a:p>
            <a:pPr lvl="0"/>
            <a:r>
              <a:rPr kumimoji="1" lang="ja-JP" altLang="en-US" dirty="0"/>
              <a:t>マスタ テキストの書式設定</a:t>
            </a:r>
          </a:p>
        </p:txBody>
      </p:sp>
      <p:sp>
        <p:nvSpPr>
          <p:cNvPr id="11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11502139" y="6597354"/>
            <a:ext cx="664340" cy="221109"/>
          </a:xfrm>
          <a:prstGeom prst="rect">
            <a:avLst/>
          </a:prstGeom>
        </p:spPr>
        <p:txBody>
          <a:bodyPr vert="horz" wrap="none" lIns="91440" tIns="45720" rIns="91440" bIns="4572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eiryo UI" pitchFamily="50" charset="-128"/>
                <a:ea typeface="Meiryo UI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13" name="スライド番号プレースホルダ 5"/>
          <p:cNvSpPr txBox="1">
            <a:spLocks/>
          </p:cNvSpPr>
          <p:nvPr userDrawn="1"/>
        </p:nvSpPr>
        <p:spPr>
          <a:xfrm>
            <a:off x="11502139" y="6597354"/>
            <a:ext cx="664340" cy="221109"/>
          </a:xfrm>
          <a:prstGeom prst="rect">
            <a:avLst/>
          </a:prstGeom>
        </p:spPr>
        <p:txBody>
          <a:bodyPr vert="horz" wrap="none" lIns="91440" tIns="45720" rIns="91440" bIns="4572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eiryo UI" pitchFamily="50" charset="-128"/>
                <a:ea typeface="Meiryo UI" pitchFamily="50" charset="-128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D8002D-B5B0-4BAC-B1F6-782DDCCE6D9C}" type="slidenum">
              <a:rPr kumimoji="1" lang="ja-JP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Meiryo UI" pitchFamily="50" charset="-128"/>
                <a:ea typeface="Meiryo UI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11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Meiryo UI" pitchFamily="50" charset="-128"/>
              <a:ea typeface="Meiryo UI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954115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582125" y="6575434"/>
            <a:ext cx="549030" cy="280235"/>
          </a:xfrm>
        </p:spPr>
        <p:txBody>
          <a:bodyPr anchor="b"/>
          <a:lstStyle>
            <a:lvl1pPr>
              <a:defRPr sz="14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>
              <a:defRPr/>
            </a:pPr>
            <a:fld id="{8FE4D100-34D2-4072-AAC4-2A5B38E3231C}" type="slidenum">
              <a:rPr lang="ja-JP" altLang="en-US" smtClean="0"/>
              <a:pPr>
                <a:defRPr/>
              </a:pPr>
              <a:t>‹#›</a:t>
            </a:fld>
            <a:endParaRPr lang="ja-JP" altLang="en-US" dirty="0"/>
          </a:p>
        </p:txBody>
      </p:sp>
      <p:sp>
        <p:nvSpPr>
          <p:cNvPr id="5" name="AutoShape 128"/>
          <p:cNvSpPr>
            <a:spLocks noChangeArrowheads="1"/>
          </p:cNvSpPr>
          <p:nvPr userDrawn="1"/>
        </p:nvSpPr>
        <p:spPr bwMode="auto">
          <a:xfrm flipV="1">
            <a:off x="0" y="549241"/>
            <a:ext cx="12190052" cy="45719"/>
          </a:xfrm>
          <a:prstGeom prst="rect">
            <a:avLst/>
          </a:prstGeom>
          <a:solidFill>
            <a:srgbClr val="FF0000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rot="10800000" wrap="none" lIns="87277" tIns="43638" rIns="87277" bIns="43638" anchor="ctr"/>
          <a:lstStyle/>
          <a:p>
            <a:pPr eaLnBrk="0" fontAlgn="base" hangingPunct="0">
              <a:spcBef>
                <a:spcPct val="1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itchFamily="2" charset="2"/>
              <a:buNone/>
              <a:defRPr/>
            </a:pPr>
            <a:endParaRPr kumimoji="0" lang="ja-JP" altLang="en-US" sz="1800">
              <a:solidFill>
                <a:srgbClr val="000000"/>
              </a:solidFill>
              <a:ea typeface="ＭＳ Ｐゴシック" pitchFamily="50" charset="-128"/>
            </a:endParaRPr>
          </a:p>
        </p:txBody>
      </p:sp>
      <p:sp>
        <p:nvSpPr>
          <p:cNvPr id="6" name="AutoShape 128"/>
          <p:cNvSpPr>
            <a:spLocks noChangeArrowheads="1"/>
          </p:cNvSpPr>
          <p:nvPr userDrawn="1"/>
        </p:nvSpPr>
        <p:spPr bwMode="auto">
          <a:xfrm flipV="1">
            <a:off x="3481" y="6529715"/>
            <a:ext cx="12191146" cy="45719"/>
          </a:xfrm>
          <a:prstGeom prst="rect">
            <a:avLst/>
          </a:prstGeom>
          <a:solidFill>
            <a:srgbClr val="FF0000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rot="10800000" wrap="none" lIns="87277" tIns="43638" rIns="87277" bIns="43638" anchor="ctr"/>
          <a:lstStyle/>
          <a:p>
            <a:pPr eaLnBrk="0" fontAlgn="base" hangingPunct="0">
              <a:spcBef>
                <a:spcPct val="1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itchFamily="2" charset="2"/>
              <a:buNone/>
              <a:defRPr/>
            </a:pPr>
            <a:endParaRPr kumimoji="0" lang="ja-JP" altLang="en-US" sz="1800" dirty="0">
              <a:solidFill>
                <a:srgbClr val="000000"/>
              </a:solidFill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36725835"/>
      </p:ext>
    </p:extLst>
  </p:cSld>
  <p:clrMapOvr>
    <a:masterClrMapping/>
  </p:clrMapOvr>
  <p:transition/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88"/>
          <p:cNvSpPr>
            <a:spLocks noGrp="1" noChangeArrowheads="1"/>
          </p:cNvSpPr>
          <p:nvPr>
            <p:ph type="title"/>
          </p:nvPr>
        </p:nvSpPr>
        <p:spPr bwMode="gray">
          <a:xfrm>
            <a:off x="160216" y="33338"/>
            <a:ext cx="9304216" cy="652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3638" tIns="43638" rIns="43638" bIns="436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  <a:endParaRPr lang="en-US" altLang="ja-JP" dirty="0"/>
          </a:p>
        </p:txBody>
      </p:sp>
      <p:sp>
        <p:nvSpPr>
          <p:cNvPr id="1031" name="AutoShape 128"/>
          <p:cNvSpPr>
            <a:spLocks noChangeArrowheads="1"/>
          </p:cNvSpPr>
          <p:nvPr/>
        </p:nvSpPr>
        <p:spPr bwMode="auto">
          <a:xfrm flipV="1">
            <a:off x="25402" y="548680"/>
            <a:ext cx="12121661" cy="46038"/>
          </a:xfrm>
          <a:prstGeom prst="rect">
            <a:avLst/>
          </a:prstGeom>
          <a:solidFill>
            <a:srgbClr val="CC0000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rot="10800000" wrap="none" lIns="87277" tIns="43638" rIns="87277" bIns="43638" anchor="ctr"/>
          <a:lstStyle/>
          <a:p>
            <a:pPr eaLnBrk="0" hangingPunct="0">
              <a:spcBef>
                <a:spcPct val="10000"/>
              </a:spcBef>
              <a:buClr>
                <a:srgbClr val="000000"/>
              </a:buClr>
              <a:buSzPct val="100000"/>
              <a:buFont typeface="Wingdings" pitchFamily="2" charset="2"/>
              <a:buNone/>
              <a:defRPr/>
            </a:pPr>
            <a:endParaRPr kumimoji="0" lang="ja-JP" altLang="en-US" sz="1800">
              <a:solidFill>
                <a:srgbClr val="000000"/>
              </a:solidFill>
            </a:endParaRP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11733968" y="6690271"/>
            <a:ext cx="391454" cy="123111"/>
          </a:xfrm>
          <a:prstGeom prst="rect">
            <a:avLst/>
          </a:prstGeom>
          <a:noFill/>
        </p:spPr>
        <p:txBody>
          <a:bodyPr wrap="none" tIns="0" bIns="0" rtlCol="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431E2E-0283-47E6-88AC-614E15CB9FE9}" type="slidenum">
              <a:rPr kumimoji="1" lang="ja-JP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1" lang="en-US" altLang="ja-JP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</a:t>
            </a:r>
            <a:endParaRPr kumimoji="1" lang="ja-JP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11733968" y="6690271"/>
            <a:ext cx="391454" cy="123111"/>
          </a:xfrm>
          <a:prstGeom prst="rect">
            <a:avLst/>
          </a:prstGeom>
          <a:noFill/>
        </p:spPr>
        <p:txBody>
          <a:bodyPr wrap="none" tIns="0" bIns="0" rtlCol="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431E2E-0283-47E6-88AC-614E15CB9FE9}" type="slidenum">
              <a:rPr kumimoji="1" lang="ja-JP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1" lang="en-US" altLang="ja-JP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</a:t>
            </a:r>
            <a:endParaRPr kumimoji="1" lang="ja-JP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79808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</p:sldLayoutIdLst>
  <p:transition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1900">
          <a:solidFill>
            <a:schemeClr val="tx1"/>
          </a:solidFill>
          <a:latin typeface="+mj-ea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1900">
          <a:solidFill>
            <a:schemeClr val="tx1"/>
          </a:solidFill>
          <a:latin typeface="HGP創英角ｺﾞｼｯｸUB" pitchFamily="50" charset="-128"/>
          <a:ea typeface="HGP創英角ｺﾞｼｯｸUB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1900">
          <a:solidFill>
            <a:schemeClr val="tx1"/>
          </a:solidFill>
          <a:latin typeface="HGP創英角ｺﾞｼｯｸUB" pitchFamily="50" charset="-128"/>
          <a:ea typeface="HGP創英角ｺﾞｼｯｸUB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1900">
          <a:solidFill>
            <a:schemeClr val="tx1"/>
          </a:solidFill>
          <a:latin typeface="HGP創英角ｺﾞｼｯｸUB" pitchFamily="50" charset="-128"/>
          <a:ea typeface="HGP創英角ｺﾞｼｯｸUB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1900">
          <a:solidFill>
            <a:schemeClr val="tx1"/>
          </a:solidFill>
          <a:latin typeface="HGP創英角ｺﾞｼｯｸUB" pitchFamily="50" charset="-128"/>
          <a:ea typeface="HGP創英角ｺﾞｼｯｸUB" pitchFamily="50" charset="-128"/>
        </a:defRPr>
      </a:lvl5pPr>
      <a:lvl6pPr marL="436383" algn="l" rtl="0" eaLnBrk="1" fontAlgn="base" hangingPunct="1">
        <a:spcBef>
          <a:spcPct val="0"/>
        </a:spcBef>
        <a:spcAft>
          <a:spcPct val="0"/>
        </a:spcAft>
        <a:defRPr kumimoji="1" sz="2300" b="1">
          <a:solidFill>
            <a:schemeClr val="bg1"/>
          </a:solidFill>
          <a:latin typeface="Arial" charset="0"/>
        </a:defRPr>
      </a:lvl6pPr>
      <a:lvl7pPr marL="872765" algn="l" rtl="0" eaLnBrk="1" fontAlgn="base" hangingPunct="1">
        <a:spcBef>
          <a:spcPct val="0"/>
        </a:spcBef>
        <a:spcAft>
          <a:spcPct val="0"/>
        </a:spcAft>
        <a:defRPr kumimoji="1" sz="2300" b="1">
          <a:solidFill>
            <a:schemeClr val="bg1"/>
          </a:solidFill>
          <a:latin typeface="Arial" charset="0"/>
        </a:defRPr>
      </a:lvl7pPr>
      <a:lvl8pPr marL="1309148" algn="l" rtl="0" eaLnBrk="1" fontAlgn="base" hangingPunct="1">
        <a:spcBef>
          <a:spcPct val="0"/>
        </a:spcBef>
        <a:spcAft>
          <a:spcPct val="0"/>
        </a:spcAft>
        <a:defRPr kumimoji="1" sz="2300" b="1">
          <a:solidFill>
            <a:schemeClr val="bg1"/>
          </a:solidFill>
          <a:latin typeface="Arial" charset="0"/>
        </a:defRPr>
      </a:lvl8pPr>
      <a:lvl9pPr marL="1745530" algn="l" rtl="0" eaLnBrk="1" fontAlgn="base" hangingPunct="1">
        <a:spcBef>
          <a:spcPct val="0"/>
        </a:spcBef>
        <a:spcAft>
          <a:spcPct val="0"/>
        </a:spcAft>
        <a:defRPr kumimoji="1" sz="2300" b="1">
          <a:solidFill>
            <a:schemeClr val="bg1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Char char="•"/>
        <a:defRPr kumimoji="1" sz="17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1588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Char char="–"/>
        <a:defRPr kumimoji="1" sz="1300">
          <a:solidFill>
            <a:schemeClr val="tx1"/>
          </a:solidFill>
          <a:latin typeface="+mn-lt"/>
        </a:defRPr>
      </a:lvl2pPr>
      <a:lvl3pPr marL="946150" indent="-215900" algn="l" rtl="0" eaLnBrk="1" fontAlgn="base" hangingPunct="1">
        <a:spcBef>
          <a:spcPct val="0"/>
        </a:spcBef>
        <a:spcAft>
          <a:spcPct val="50000"/>
        </a:spcAft>
        <a:buClr>
          <a:schemeClr val="accent1"/>
        </a:buClr>
        <a:buChar char="•"/>
        <a:defRPr kumimoji="1" sz="2400">
          <a:solidFill>
            <a:schemeClr val="tx1"/>
          </a:solidFill>
          <a:latin typeface="+mn-lt"/>
        </a:defRPr>
      </a:lvl3pPr>
      <a:lvl4pPr marL="1333500" indent="-215900" algn="l" rtl="0" eaLnBrk="1" fontAlgn="base" hangingPunct="1">
        <a:spcBef>
          <a:spcPct val="0"/>
        </a:spcBef>
        <a:spcAft>
          <a:spcPct val="50000"/>
        </a:spcAft>
        <a:buClr>
          <a:schemeClr val="accent1"/>
        </a:buClr>
        <a:buChar char="–"/>
        <a:defRPr kumimoji="1" sz="2000">
          <a:solidFill>
            <a:schemeClr val="tx1"/>
          </a:solidFill>
          <a:latin typeface="+mn-lt"/>
        </a:defRPr>
      </a:lvl4pPr>
      <a:lvl5pPr marL="1722438" indent="-215900" algn="l" rtl="0" eaLnBrk="1" fontAlgn="base" hangingPunct="1">
        <a:spcBef>
          <a:spcPct val="0"/>
        </a:spcBef>
        <a:spcAft>
          <a:spcPct val="5000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</a:defRPr>
      </a:lvl5pPr>
      <a:lvl6pPr marL="2159186" indent="-216677" algn="l" rtl="0" eaLnBrk="1" fontAlgn="base" hangingPunct="1">
        <a:spcBef>
          <a:spcPct val="0"/>
        </a:spcBef>
        <a:spcAft>
          <a:spcPct val="50000"/>
        </a:spcAft>
        <a:buClr>
          <a:schemeClr val="accent1"/>
        </a:buClr>
        <a:buChar char="•"/>
        <a:defRPr kumimoji="1">
          <a:solidFill>
            <a:schemeClr val="tx1"/>
          </a:solidFill>
          <a:latin typeface="+mn-lt"/>
        </a:defRPr>
      </a:lvl6pPr>
      <a:lvl7pPr marL="2595568" indent="-216677" algn="l" rtl="0" eaLnBrk="1" fontAlgn="base" hangingPunct="1">
        <a:spcBef>
          <a:spcPct val="0"/>
        </a:spcBef>
        <a:spcAft>
          <a:spcPct val="50000"/>
        </a:spcAft>
        <a:buClr>
          <a:schemeClr val="accent1"/>
        </a:buClr>
        <a:buChar char="•"/>
        <a:defRPr kumimoji="1">
          <a:solidFill>
            <a:schemeClr val="tx1"/>
          </a:solidFill>
          <a:latin typeface="+mn-lt"/>
        </a:defRPr>
      </a:lvl7pPr>
      <a:lvl8pPr marL="3031951" indent="-216677" algn="l" rtl="0" eaLnBrk="1" fontAlgn="base" hangingPunct="1">
        <a:spcBef>
          <a:spcPct val="0"/>
        </a:spcBef>
        <a:spcAft>
          <a:spcPct val="50000"/>
        </a:spcAft>
        <a:buClr>
          <a:schemeClr val="accent1"/>
        </a:buClr>
        <a:buChar char="•"/>
        <a:defRPr kumimoji="1">
          <a:solidFill>
            <a:schemeClr val="tx1"/>
          </a:solidFill>
          <a:latin typeface="+mn-lt"/>
        </a:defRPr>
      </a:lvl8pPr>
      <a:lvl9pPr marL="3468334" indent="-216677" algn="l" rtl="0" eaLnBrk="1" fontAlgn="base" hangingPunct="1">
        <a:spcBef>
          <a:spcPct val="0"/>
        </a:spcBef>
        <a:spcAft>
          <a:spcPct val="50000"/>
        </a:spcAft>
        <a:buClr>
          <a:schemeClr val="accent1"/>
        </a:buClr>
        <a:buChar char="•"/>
        <a:defRPr kumimoji="1">
          <a:solidFill>
            <a:schemeClr val="tx1"/>
          </a:solidFill>
          <a:latin typeface="+mn-lt"/>
        </a:defRPr>
      </a:lvl9pPr>
    </p:bodyStyle>
    <p:otherStyle>
      <a:defPPr>
        <a:defRPr lang="ja-JP"/>
      </a:defPPr>
      <a:lvl1pPr marL="0" algn="l" defTabSz="872765" rtl="0" eaLnBrk="1" latinLnBrk="0" hangingPunct="1">
        <a:defRPr kumimoji="1"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36383" algn="l" defTabSz="872765" rtl="0" eaLnBrk="1" latinLnBrk="0" hangingPunct="1">
        <a:defRPr kumimoji="1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72765" algn="l" defTabSz="872765" rtl="0" eaLnBrk="1" latinLnBrk="0" hangingPunct="1">
        <a:defRPr kumimoji="1"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09148" algn="l" defTabSz="872765" rtl="0" eaLnBrk="1" latinLnBrk="0" hangingPunct="1">
        <a:defRPr kumimoji="1"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45530" algn="l" defTabSz="872765" rtl="0" eaLnBrk="1" latinLnBrk="0" hangingPunct="1">
        <a:defRPr kumimoji="1"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81913" algn="l" defTabSz="872765" rtl="0" eaLnBrk="1" latinLnBrk="0" hangingPunct="1">
        <a:defRPr kumimoji="1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618296" algn="l" defTabSz="872765" rtl="0" eaLnBrk="1" latinLnBrk="0" hangingPunct="1">
        <a:defRPr kumimoji="1"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54678" algn="l" defTabSz="872765" rtl="0" eaLnBrk="1" latinLnBrk="0" hangingPunct="1">
        <a:defRPr kumimoji="1"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491061" algn="l" defTabSz="872765" rtl="0" eaLnBrk="1" latinLnBrk="0" hangingPunct="1">
        <a:defRPr kumimoji="1"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タイトル 1">
            <a:extLst>
              <a:ext uri="{FF2B5EF4-FFF2-40B4-BE49-F238E27FC236}">
                <a16:creationId xmlns:a16="http://schemas.microsoft.com/office/drawing/2014/main" id="{3C88CE30-2AA5-4A8F-855C-E9328ACC3B3E}"/>
              </a:ext>
            </a:extLst>
          </p:cNvPr>
          <p:cNvSpPr txBox="1">
            <a:spLocks/>
          </p:cNvSpPr>
          <p:nvPr/>
        </p:nvSpPr>
        <p:spPr>
          <a:xfrm>
            <a:off x="748145" y="2560783"/>
            <a:ext cx="10695710" cy="1325563"/>
          </a:xfrm>
          <a:prstGeom prst="rect">
            <a:avLst/>
          </a:prstGeom>
        </p:spPr>
        <p:txBody>
          <a:bodyPr lIns="0" tIns="0" rIns="0" bIns="0" anchor="ctr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 b="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5pPr>
            <a:lvl6pPr marL="4363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6pPr>
            <a:lvl7pPr marL="872765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7pPr>
            <a:lvl8pPr marL="1309148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8pPr>
            <a:lvl9pPr marL="174553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 algn="ctr">
              <a:spcBef>
                <a:spcPts val="1219"/>
              </a:spcBef>
              <a:buClrTx/>
            </a:pPr>
            <a:r>
              <a:rPr lang="ja-JP" altLang="en-US" b="1" dirty="0">
                <a:solidFill>
                  <a:srgbClr val="000000"/>
                </a:solidFill>
                <a:latin typeface="+mn-ea"/>
              </a:rPr>
              <a:t>データの入力や更新および蓄積するシステムを一つに統合する。</a:t>
            </a:r>
            <a:endParaRPr lang="en-US" altLang="ja-JP" b="1" kern="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690423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51BB2B-8676-46BF-9A45-912FB8343038}"/>
              </a:ext>
            </a:extLst>
          </p:cNvPr>
          <p:cNvSpPr txBox="1">
            <a:spLocks/>
          </p:cNvSpPr>
          <p:nvPr/>
        </p:nvSpPr>
        <p:spPr>
          <a:xfrm>
            <a:off x="681038" y="1146466"/>
            <a:ext cx="10651980" cy="4234590"/>
          </a:xfrm>
          <a:prstGeom prst="rect">
            <a:avLst/>
          </a:prstGeom>
        </p:spPr>
        <p:txBody>
          <a:bodyPr anchor="ctr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 b="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5pPr>
            <a:lvl6pPr marL="4363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6pPr>
            <a:lvl7pPr marL="872765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7pPr>
            <a:lvl8pPr marL="1309148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8pPr>
            <a:lvl9pPr marL="174553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 algn="ctr"/>
            <a:r>
              <a:rPr lang="ja-JP" altLang="en-US" kern="0" dirty="0">
                <a:latin typeface="+mn-ea"/>
                <a:ea typeface="+mn-ea"/>
              </a:rPr>
              <a:t>目次</a:t>
            </a:r>
            <a:endParaRPr lang="en-US" altLang="ja-JP" kern="0" dirty="0">
              <a:latin typeface="+mn-ea"/>
              <a:ea typeface="+mn-ea"/>
            </a:endParaRPr>
          </a:p>
          <a:p>
            <a:pPr algn="ctr"/>
            <a:endParaRPr lang="en-US" altLang="ja-JP" kern="0" dirty="0">
              <a:latin typeface="+mn-ea"/>
              <a:ea typeface="+mn-ea"/>
            </a:endParaRPr>
          </a:p>
          <a:p>
            <a:pPr marL="3408363" indent="-176213">
              <a:buFont typeface="Arial" panose="020B0604020202020204" pitchFamily="34" charset="0"/>
              <a:buChar char="•"/>
            </a:pPr>
            <a:r>
              <a:rPr lang="ja-JP" altLang="en-US" sz="1800" kern="0" dirty="0">
                <a:latin typeface="+mn-ea"/>
                <a:ea typeface="+mn-ea"/>
              </a:rPr>
              <a:t>現状の問題点とその原因</a:t>
            </a:r>
          </a:p>
          <a:p>
            <a:pPr marL="3408363" indent="-176213">
              <a:buFont typeface="Arial" panose="020B0604020202020204" pitchFamily="34" charset="0"/>
              <a:buChar char="•"/>
            </a:pPr>
            <a:r>
              <a:rPr lang="ja-JP" altLang="en-US" sz="1800" kern="0" dirty="0">
                <a:latin typeface="+mn-ea"/>
                <a:ea typeface="+mn-ea"/>
              </a:rPr>
              <a:t>施策案と概要フロー</a:t>
            </a:r>
          </a:p>
          <a:p>
            <a:pPr marL="3408363" indent="-176213">
              <a:buFont typeface="Arial" panose="020B0604020202020204" pitchFamily="34" charset="0"/>
              <a:buChar char="•"/>
            </a:pPr>
            <a:r>
              <a:rPr lang="en-US" altLang="ja-JP" sz="1800" kern="0" dirty="0">
                <a:latin typeface="+mn-ea"/>
                <a:ea typeface="+mn-ea"/>
              </a:rPr>
              <a:t>WF</a:t>
            </a:r>
            <a:r>
              <a:rPr lang="ja-JP" altLang="en-US" sz="1800" kern="0" dirty="0">
                <a:latin typeface="+mn-ea"/>
                <a:ea typeface="+mn-ea"/>
              </a:rPr>
              <a:t>の現状</a:t>
            </a:r>
          </a:p>
          <a:p>
            <a:pPr marL="3408363" indent="-176213">
              <a:buFont typeface="Arial" panose="020B0604020202020204" pitchFamily="34" charset="0"/>
              <a:buChar char="•"/>
            </a:pPr>
            <a:r>
              <a:rPr lang="ja-JP" altLang="en-US" sz="1800" kern="0" dirty="0">
                <a:latin typeface="+mn-ea"/>
                <a:ea typeface="+mn-ea"/>
              </a:rPr>
              <a:t>現状の全体の業務フロー</a:t>
            </a:r>
          </a:p>
          <a:p>
            <a:pPr marL="3408363" indent="-176213">
              <a:buFont typeface="Arial" panose="020B0604020202020204" pitchFamily="34" charset="0"/>
              <a:buChar char="•"/>
            </a:pPr>
            <a:r>
              <a:rPr lang="ja-JP" altLang="en-US" sz="1800" kern="0" dirty="0">
                <a:latin typeface="+mn-ea"/>
                <a:ea typeface="+mn-ea"/>
              </a:rPr>
              <a:t>短中期理想の全体の業務フロー</a:t>
            </a:r>
          </a:p>
          <a:p>
            <a:pPr marL="3408363" indent="-176213">
              <a:buFont typeface="Arial" panose="020B0604020202020204" pitchFamily="34" charset="0"/>
              <a:buChar char="•"/>
            </a:pPr>
            <a:r>
              <a:rPr lang="en-US" altLang="ja-JP" sz="1800" kern="0" dirty="0">
                <a:latin typeface="+mn-ea"/>
                <a:ea typeface="+mn-ea"/>
              </a:rPr>
              <a:t>WF</a:t>
            </a:r>
            <a:r>
              <a:rPr lang="ja-JP" altLang="en-US" sz="1800" kern="0" dirty="0">
                <a:latin typeface="+mn-ea"/>
                <a:ea typeface="+mn-ea"/>
              </a:rPr>
              <a:t>運用を想定した場合の工数について</a:t>
            </a:r>
          </a:p>
          <a:p>
            <a:pPr marL="3408363" indent="-176213">
              <a:buFont typeface="Arial" panose="020B0604020202020204" pitchFamily="34" charset="0"/>
              <a:buChar char="•"/>
            </a:pPr>
            <a:r>
              <a:rPr lang="ja-JP" altLang="en-US" sz="1800" kern="0" dirty="0">
                <a:latin typeface="+mn-ea"/>
                <a:ea typeface="+mn-ea"/>
              </a:rPr>
              <a:t>スケジュール</a:t>
            </a:r>
          </a:p>
          <a:p>
            <a:pPr marL="3408363" indent="-176213">
              <a:buFont typeface="Arial" panose="020B0604020202020204" pitchFamily="34" charset="0"/>
              <a:buChar char="•"/>
            </a:pPr>
            <a:r>
              <a:rPr lang="ja-JP" altLang="en-US" sz="1800" kern="0" dirty="0">
                <a:latin typeface="+mn-ea"/>
                <a:ea typeface="+mn-ea"/>
              </a:rPr>
              <a:t>期待される効果について</a:t>
            </a:r>
          </a:p>
          <a:p>
            <a:pPr marL="3408363" indent="-176213">
              <a:buFont typeface="Arial" panose="020B0604020202020204" pitchFamily="34" charset="0"/>
              <a:buChar char="•"/>
            </a:pPr>
            <a:r>
              <a:rPr lang="ja-JP" altLang="en-US" sz="1800" kern="0" dirty="0">
                <a:latin typeface="+mn-ea"/>
                <a:ea typeface="+mn-ea"/>
              </a:rPr>
              <a:t>今回の改善は、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166B5B5-91FC-4024-92C8-F48A115D85E7}"/>
              </a:ext>
            </a:extLst>
          </p:cNvPr>
          <p:cNvSpPr txBox="1">
            <a:spLocks/>
          </p:cNvSpPr>
          <p:nvPr/>
        </p:nvSpPr>
        <p:spPr>
          <a:xfrm>
            <a:off x="4193311" y="1981483"/>
            <a:ext cx="4886036" cy="423459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1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1588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Char char="–"/>
              <a:defRPr kumimoji="1" sz="1300">
                <a:solidFill>
                  <a:schemeClr val="tx1"/>
                </a:solidFill>
                <a:latin typeface="+mn-lt"/>
              </a:defRPr>
            </a:lvl2pPr>
            <a:lvl3pPr marL="946150" indent="-215900" algn="l" rtl="0" eaLnBrk="1" fontAlgn="base" hangingPunct="1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+mn-lt"/>
              </a:defRPr>
            </a:lvl3pPr>
            <a:lvl4pPr marL="1333500" indent="-215900" algn="l" rtl="0" eaLnBrk="1" fontAlgn="base" hangingPunct="1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Char char="–"/>
              <a:defRPr kumimoji="1" sz="2000">
                <a:solidFill>
                  <a:schemeClr val="tx1"/>
                </a:solidFill>
                <a:latin typeface="+mn-lt"/>
              </a:defRPr>
            </a:lvl4pPr>
            <a:lvl5pPr marL="1722438" indent="-215900" algn="l" rtl="0" eaLnBrk="1" fontAlgn="base" hangingPunct="1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+mn-lt"/>
              </a:defRPr>
            </a:lvl5pPr>
            <a:lvl6pPr marL="2159186" indent="-216677" algn="l" rtl="0" eaLnBrk="1" fontAlgn="base" hangingPunct="1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Char char="•"/>
              <a:defRPr kumimoji="1">
                <a:solidFill>
                  <a:schemeClr val="tx1"/>
                </a:solidFill>
                <a:latin typeface="+mn-lt"/>
              </a:defRPr>
            </a:lvl6pPr>
            <a:lvl7pPr marL="2595568" indent="-216677" algn="l" rtl="0" eaLnBrk="1" fontAlgn="base" hangingPunct="1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Char char="•"/>
              <a:defRPr kumimoji="1">
                <a:solidFill>
                  <a:schemeClr val="tx1"/>
                </a:solidFill>
                <a:latin typeface="+mn-lt"/>
              </a:defRPr>
            </a:lvl7pPr>
            <a:lvl8pPr marL="3031951" indent="-216677" algn="l" rtl="0" eaLnBrk="1" fontAlgn="base" hangingPunct="1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Char char="•"/>
              <a:defRPr kumimoji="1">
                <a:solidFill>
                  <a:schemeClr val="tx1"/>
                </a:solidFill>
                <a:latin typeface="+mn-lt"/>
              </a:defRPr>
            </a:lvl8pPr>
            <a:lvl9pPr marL="3468334" indent="-216677" algn="l" rtl="0" eaLnBrk="1" fontAlgn="base" hangingPunct="1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Char char="•"/>
              <a:defRPr kumimoji="1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spcBef>
                <a:spcPts val="1219"/>
              </a:spcBef>
              <a:buClrTx/>
              <a:buFont typeface="+mj-lt"/>
              <a:buAutoNum type="arabicPeriod"/>
            </a:pPr>
            <a:endParaRPr lang="ja-JP" altLang="en-US" kern="0" dirty="0">
              <a:latin typeface="+mn-ea"/>
            </a:endParaRPr>
          </a:p>
          <a:p>
            <a:pPr>
              <a:spcBef>
                <a:spcPts val="1219"/>
              </a:spcBef>
              <a:buClrTx/>
              <a:buFont typeface="+mj-lt"/>
              <a:buAutoNum type="arabicPeriod"/>
            </a:pPr>
            <a:endParaRPr lang="ja-JP" altLang="en-US" kern="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60836109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847731A-C0C2-42AE-B8C3-C21F013BAD25}"/>
              </a:ext>
            </a:extLst>
          </p:cNvPr>
          <p:cNvSpPr/>
          <p:nvPr/>
        </p:nvSpPr>
        <p:spPr>
          <a:xfrm>
            <a:off x="748145" y="2011364"/>
            <a:ext cx="4535055" cy="305013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  <a:scene3d>
            <a:camera prst="orthographicFront"/>
            <a:lightRig rig="contrasting" dir="t">
              <a:rot lat="0" lon="0" rev="2400000"/>
            </a:lightRig>
          </a:scene3d>
          <a:sp3d prstMaterial="powder">
            <a:bevelB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3600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600" b="1" dirty="0"/>
              <a:t>問題点</a:t>
            </a:r>
            <a:endParaRPr kumimoji="1" lang="ja-JP" altLang="en-US" sz="1626" b="1" dirty="0">
              <a:solidFill>
                <a:schemeClr val="bg1"/>
              </a:solidFill>
              <a:latin typeface="+mn-ea"/>
              <a:cs typeface="Meiryo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C14C7D7-4B45-4807-8DE6-19B3FA24FBC9}"/>
              </a:ext>
            </a:extLst>
          </p:cNvPr>
          <p:cNvSpPr/>
          <p:nvPr/>
        </p:nvSpPr>
        <p:spPr>
          <a:xfrm>
            <a:off x="748145" y="2316376"/>
            <a:ext cx="4535055" cy="3521005"/>
          </a:xfrm>
          <a:prstGeom prst="rect">
            <a:avLst/>
          </a:prstGeom>
          <a:solidFill>
            <a:schemeClr val="bg1"/>
          </a:solidFill>
          <a:ln w="12700">
            <a:solidFill>
              <a:srgbClr val="00B0F0"/>
            </a:solidFill>
          </a:ln>
          <a:effectLst>
            <a:outerShdw dist="38100" sx="1000" sy="1000" algn="tl" rotWithShape="0">
              <a:prstClr val="black"/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prstMaterial="powder">
            <a:bevelB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216000" rIns="216000" bIns="21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193675" algn="just"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chemeClr val="tx1"/>
                </a:solidFill>
              </a:rPr>
              <a:t>データの入力や更新および蓄積する仕組みとして</a:t>
            </a:r>
            <a:r>
              <a:rPr lang="en-US" altLang="ja-JP" dirty="0">
                <a:solidFill>
                  <a:schemeClr val="tx1"/>
                </a:solidFill>
              </a:rPr>
              <a:t>WF</a:t>
            </a:r>
            <a:r>
              <a:rPr lang="ja-JP" altLang="en-US" dirty="0">
                <a:solidFill>
                  <a:schemeClr val="tx1"/>
                </a:solidFill>
              </a:rPr>
              <a:t>やエクセル等複数使用している。</a:t>
            </a:r>
          </a:p>
          <a:p>
            <a:pPr marL="285750" indent="-193675" algn="just"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chemeClr val="tx1"/>
                </a:solidFill>
              </a:rPr>
              <a:t>データの更が新差異発生している。</a:t>
            </a:r>
          </a:p>
          <a:p>
            <a:pPr marL="285750" indent="-193675" algn="just"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chemeClr val="tx1"/>
                </a:solidFill>
              </a:rPr>
              <a:t>データの転記作業が発生している。</a:t>
            </a:r>
          </a:p>
          <a:p>
            <a:pPr marL="285750" indent="-193675" algn="just"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chemeClr val="tx1"/>
                </a:solidFill>
              </a:rPr>
              <a:t>エクセル上でリスク分析用のフラグの追加を行っている。</a:t>
            </a:r>
          </a:p>
          <a:p>
            <a:pPr marL="285750" indent="-193675" algn="just">
              <a:buFont typeface="Arial" panose="020B0604020202020204" pitchFamily="34" charset="0"/>
              <a:buChar char="•"/>
            </a:pPr>
            <a:r>
              <a:rPr lang="en-US" altLang="ja-JP" dirty="0">
                <a:solidFill>
                  <a:schemeClr val="tx1"/>
                </a:solidFill>
              </a:rPr>
              <a:t>WF</a:t>
            </a:r>
            <a:r>
              <a:rPr lang="ja-JP" altLang="en-US" dirty="0">
                <a:solidFill>
                  <a:schemeClr val="tx1"/>
                </a:solidFill>
              </a:rPr>
              <a:t>の報告内容に記入不備がある。</a:t>
            </a:r>
          </a:p>
          <a:p>
            <a:pPr marL="285750" indent="-193675" algn="just"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chemeClr val="tx1"/>
                </a:solidFill>
              </a:rPr>
              <a:t>施策に関しての進捗報告を別途掲示板で行っている。</a:t>
            </a:r>
          </a:p>
        </p:txBody>
      </p:sp>
      <p:sp>
        <p:nvSpPr>
          <p:cNvPr id="10" name="タイトル 1">
            <a:extLst>
              <a:ext uri="{FF2B5EF4-FFF2-40B4-BE49-F238E27FC236}">
                <a16:creationId xmlns:a16="http://schemas.microsoft.com/office/drawing/2014/main" id="{28391A78-96B3-4ABD-BBBD-1E24F4F84DC7}"/>
              </a:ext>
            </a:extLst>
          </p:cNvPr>
          <p:cNvSpPr txBox="1">
            <a:spLocks/>
          </p:cNvSpPr>
          <p:nvPr/>
        </p:nvSpPr>
        <p:spPr>
          <a:xfrm>
            <a:off x="157945" y="33339"/>
            <a:ext cx="11285910" cy="652462"/>
          </a:xfrm>
          <a:prstGeom prst="rect">
            <a:avLst/>
          </a:prstGeom>
        </p:spPr>
        <p:txBody>
          <a:bodyPr anchor="ctr" anchorCtr="0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5pPr>
            <a:lvl6pPr marL="4363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6pPr>
            <a:lvl7pPr marL="872765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7pPr>
            <a:lvl8pPr marL="1309148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8pPr>
            <a:lvl9pPr marL="174553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ja-JP" altLang="en-US" sz="2400" b="1" kern="0" dirty="0"/>
              <a:t>リスク管理業務改善資料</a:t>
            </a:r>
          </a:p>
        </p:txBody>
      </p:sp>
      <p:sp>
        <p:nvSpPr>
          <p:cNvPr id="12" name="タイトル 1">
            <a:extLst>
              <a:ext uri="{FF2B5EF4-FFF2-40B4-BE49-F238E27FC236}">
                <a16:creationId xmlns:a16="http://schemas.microsoft.com/office/drawing/2014/main" id="{3C88CE30-2AA5-4A8F-855C-E9328ACC3B3E}"/>
              </a:ext>
            </a:extLst>
          </p:cNvPr>
          <p:cNvSpPr txBox="1">
            <a:spLocks/>
          </p:cNvSpPr>
          <p:nvPr/>
        </p:nvSpPr>
        <p:spPr>
          <a:xfrm>
            <a:off x="748145" y="685801"/>
            <a:ext cx="10695710" cy="1325563"/>
          </a:xfrm>
          <a:prstGeom prst="rect">
            <a:avLst/>
          </a:prstGeom>
        </p:spPr>
        <p:txBody>
          <a:bodyPr lIns="0" tIns="0" rIns="0" bIns="0" anchor="ctr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 b="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5pPr>
            <a:lvl6pPr marL="4363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6pPr>
            <a:lvl7pPr marL="872765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7pPr>
            <a:lvl8pPr marL="1309148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8pPr>
            <a:lvl9pPr marL="174553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spcBef>
                <a:spcPts val="1219"/>
              </a:spcBef>
              <a:buClrTx/>
            </a:pPr>
            <a:r>
              <a:rPr lang="ja-JP" altLang="en-US" b="1" dirty="0">
                <a:solidFill>
                  <a:srgbClr val="000000"/>
                </a:solidFill>
                <a:latin typeface="+mn-ea"/>
              </a:rPr>
              <a:t>現状の問題点とその原因：</a:t>
            </a:r>
            <a:endParaRPr lang="en-US" altLang="ja-JP" b="1" kern="0" dirty="0">
              <a:latin typeface="+mn-ea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BA87990-296A-47DC-9913-9CEC8CA8E808}"/>
              </a:ext>
            </a:extLst>
          </p:cNvPr>
          <p:cNvSpPr/>
          <p:nvPr/>
        </p:nvSpPr>
        <p:spPr>
          <a:xfrm>
            <a:off x="6908802" y="2011364"/>
            <a:ext cx="4535055" cy="305013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  <a:scene3d>
            <a:camera prst="orthographicFront"/>
            <a:lightRig rig="contrasting" dir="t">
              <a:rot lat="0" lon="0" rev="2400000"/>
            </a:lightRig>
          </a:scene3d>
          <a:sp3d prstMaterial="powder">
            <a:bevelB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3600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600" b="1" dirty="0"/>
              <a:t>原因</a:t>
            </a:r>
            <a:endParaRPr kumimoji="1" lang="ja-JP" altLang="en-US" sz="1626" b="1" dirty="0">
              <a:solidFill>
                <a:schemeClr val="bg1"/>
              </a:solidFill>
              <a:latin typeface="+mn-ea"/>
              <a:cs typeface="Meiryo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3ACB4AB-8F7B-473D-8F3C-30BE9E5F11AC}"/>
              </a:ext>
            </a:extLst>
          </p:cNvPr>
          <p:cNvSpPr/>
          <p:nvPr/>
        </p:nvSpPr>
        <p:spPr>
          <a:xfrm>
            <a:off x="6908802" y="2316376"/>
            <a:ext cx="4535055" cy="3521005"/>
          </a:xfrm>
          <a:prstGeom prst="rect">
            <a:avLst/>
          </a:prstGeom>
          <a:solidFill>
            <a:schemeClr val="bg1"/>
          </a:solidFill>
          <a:ln w="12700">
            <a:solidFill>
              <a:srgbClr val="00B0F0"/>
            </a:solidFill>
          </a:ln>
          <a:effectLst>
            <a:outerShdw dist="38100" sx="1000" sy="1000" algn="tl" rotWithShape="0">
              <a:prstClr val="black"/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prstMaterial="powder">
            <a:bevelB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216000" rIns="216000" bIns="21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193675" algn="just"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chemeClr val="tx1"/>
                </a:solidFill>
              </a:rPr>
              <a:t>入力や更新および蓄積する仕組みが複数ある。</a:t>
            </a:r>
          </a:p>
          <a:p>
            <a:pPr marL="285750" indent="-193675" algn="just"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chemeClr val="tx1"/>
                </a:solidFill>
              </a:rPr>
              <a:t>入力規制や入力フォーマットが適正化されていない。</a:t>
            </a:r>
          </a:p>
        </p:txBody>
      </p:sp>
      <p:sp>
        <p:nvSpPr>
          <p:cNvPr id="11" name="矢印: 五方向 10">
            <a:extLst>
              <a:ext uri="{FF2B5EF4-FFF2-40B4-BE49-F238E27FC236}">
                <a16:creationId xmlns:a16="http://schemas.microsoft.com/office/drawing/2014/main" id="{BE052EDE-B3BD-4AF1-9DE6-D18C11409DD1}"/>
              </a:ext>
            </a:extLst>
          </p:cNvPr>
          <p:cNvSpPr/>
          <p:nvPr/>
        </p:nvSpPr>
        <p:spPr>
          <a:xfrm>
            <a:off x="5902035" y="2783898"/>
            <a:ext cx="498765" cy="2379229"/>
          </a:xfrm>
          <a:prstGeom prst="homePlate">
            <a:avLst>
              <a:gd name="adj" fmla="val 100000"/>
            </a:avLst>
          </a:prstGeom>
          <a:solidFill>
            <a:schemeClr val="tx1">
              <a:lumMod val="50000"/>
              <a:lumOff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ja-JP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521599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C14C7D7-4B45-4807-8DE6-19B3FA24FBC9}"/>
              </a:ext>
            </a:extLst>
          </p:cNvPr>
          <p:cNvSpPr/>
          <p:nvPr/>
        </p:nvSpPr>
        <p:spPr>
          <a:xfrm>
            <a:off x="748145" y="2316376"/>
            <a:ext cx="4535055" cy="3520989"/>
          </a:xfrm>
          <a:prstGeom prst="rect">
            <a:avLst/>
          </a:prstGeom>
          <a:solidFill>
            <a:schemeClr val="bg1"/>
          </a:solidFill>
          <a:ln w="12700">
            <a:solidFill>
              <a:srgbClr val="00B0F0"/>
            </a:solidFill>
          </a:ln>
          <a:effectLst>
            <a:outerShdw dist="38100" sx="1000" sy="1000" algn="tl" rotWithShape="0">
              <a:prstClr val="black"/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prstMaterial="powder">
            <a:bevelB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216000" rIns="216000" bIns="21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92075"/>
            <a:r>
              <a:rPr lang="en-US" altLang="ja-JP" b="1" dirty="0">
                <a:solidFill>
                  <a:schemeClr val="tx1"/>
                </a:solidFill>
                <a:latin typeface="+mn-ea"/>
              </a:rPr>
              <a:t>1.WF</a:t>
            </a:r>
            <a:r>
              <a:rPr lang="ja-JP" altLang="en-US" b="1" dirty="0">
                <a:solidFill>
                  <a:schemeClr val="tx1"/>
                </a:solidFill>
                <a:latin typeface="+mn-ea"/>
              </a:rPr>
              <a:t>へ統合を行う。</a:t>
            </a:r>
            <a:endParaRPr lang="en-US" altLang="ja-JP" b="1" dirty="0">
              <a:solidFill>
                <a:schemeClr val="tx1"/>
              </a:solidFill>
              <a:latin typeface="+mn-ea"/>
            </a:endParaRPr>
          </a:p>
          <a:p>
            <a:pPr marL="92075"/>
            <a:r>
              <a:rPr lang="ja-JP" altLang="en-US" dirty="0">
                <a:solidFill>
                  <a:schemeClr val="tx1"/>
                </a:solidFill>
                <a:latin typeface="+mn-ea"/>
              </a:rPr>
              <a:t>　（現在の環境の場合、</a:t>
            </a:r>
            <a:r>
              <a:rPr lang="en-US" altLang="ja-JP" dirty="0">
                <a:solidFill>
                  <a:schemeClr val="tx1"/>
                </a:solidFill>
                <a:latin typeface="+mn-ea"/>
              </a:rPr>
              <a:t>WF</a:t>
            </a:r>
            <a:r>
              <a:rPr lang="ja-JP" altLang="en-US" dirty="0">
                <a:solidFill>
                  <a:schemeClr val="tx1"/>
                </a:solidFill>
                <a:latin typeface="+mn-ea"/>
              </a:rPr>
              <a:t>一択）</a:t>
            </a:r>
            <a:endParaRPr lang="en-US" altLang="ja-JP" dirty="0">
              <a:solidFill>
                <a:schemeClr val="tx1"/>
              </a:solidFill>
              <a:latin typeface="+mn-ea"/>
            </a:endParaRPr>
          </a:p>
          <a:p>
            <a:pPr marL="92075"/>
            <a:endParaRPr lang="en-US" altLang="ja-JP" dirty="0">
              <a:solidFill>
                <a:schemeClr val="tx1"/>
              </a:solidFill>
              <a:latin typeface="+mn-ea"/>
            </a:endParaRPr>
          </a:p>
          <a:p>
            <a:pPr marL="92075"/>
            <a:r>
              <a:rPr lang="en-US" altLang="ja-JP" dirty="0">
                <a:solidFill>
                  <a:schemeClr val="tx1"/>
                </a:solidFill>
                <a:latin typeface="+mn-ea"/>
              </a:rPr>
              <a:t>2.</a:t>
            </a:r>
            <a:r>
              <a:rPr lang="ja-JP" altLang="en-US" dirty="0">
                <a:solidFill>
                  <a:schemeClr val="tx1"/>
                </a:solidFill>
                <a:latin typeface="+mn-ea"/>
              </a:rPr>
              <a:t>キントーンへ統合を行う。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847731A-C0C2-42AE-B8C3-C21F013BAD25}"/>
              </a:ext>
            </a:extLst>
          </p:cNvPr>
          <p:cNvSpPr/>
          <p:nvPr/>
        </p:nvSpPr>
        <p:spPr>
          <a:xfrm>
            <a:off x="748145" y="2011364"/>
            <a:ext cx="4535055" cy="305013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  <a:scene3d>
            <a:camera prst="orthographicFront"/>
            <a:lightRig rig="contrasting" dir="t">
              <a:rot lat="0" lon="0" rev="2400000"/>
            </a:lightRig>
          </a:scene3d>
          <a:sp3d prstMaterial="powder">
            <a:bevelB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3600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600" b="1" dirty="0">
                <a:solidFill>
                  <a:schemeClr val="bg1"/>
                </a:solidFill>
                <a:latin typeface="+mn-ea"/>
              </a:rPr>
              <a:t>施策案</a:t>
            </a:r>
          </a:p>
        </p:txBody>
      </p:sp>
      <p:sp>
        <p:nvSpPr>
          <p:cNvPr id="10" name="タイトル 1">
            <a:extLst>
              <a:ext uri="{FF2B5EF4-FFF2-40B4-BE49-F238E27FC236}">
                <a16:creationId xmlns:a16="http://schemas.microsoft.com/office/drawing/2014/main" id="{28391A78-96B3-4ABD-BBBD-1E24F4F84DC7}"/>
              </a:ext>
            </a:extLst>
          </p:cNvPr>
          <p:cNvSpPr txBox="1">
            <a:spLocks/>
          </p:cNvSpPr>
          <p:nvPr/>
        </p:nvSpPr>
        <p:spPr>
          <a:xfrm>
            <a:off x="157945" y="33339"/>
            <a:ext cx="11285910" cy="652462"/>
          </a:xfrm>
          <a:prstGeom prst="rect">
            <a:avLst/>
          </a:prstGeom>
        </p:spPr>
        <p:txBody>
          <a:bodyPr anchor="ctr" anchorCtr="0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5pPr>
            <a:lvl6pPr marL="4363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6pPr>
            <a:lvl7pPr marL="872765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7pPr>
            <a:lvl8pPr marL="1309148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8pPr>
            <a:lvl9pPr marL="174553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ja-JP" altLang="en-US" sz="2400" b="1" kern="0" dirty="0"/>
              <a:t>リスク管理業務改善資料</a:t>
            </a:r>
          </a:p>
        </p:txBody>
      </p:sp>
      <p:sp>
        <p:nvSpPr>
          <p:cNvPr id="12" name="タイトル 1">
            <a:extLst>
              <a:ext uri="{FF2B5EF4-FFF2-40B4-BE49-F238E27FC236}">
                <a16:creationId xmlns:a16="http://schemas.microsoft.com/office/drawing/2014/main" id="{3C88CE30-2AA5-4A8F-855C-E9328ACC3B3E}"/>
              </a:ext>
            </a:extLst>
          </p:cNvPr>
          <p:cNvSpPr txBox="1">
            <a:spLocks/>
          </p:cNvSpPr>
          <p:nvPr/>
        </p:nvSpPr>
        <p:spPr>
          <a:xfrm>
            <a:off x="748145" y="685801"/>
            <a:ext cx="10695710" cy="1325563"/>
          </a:xfrm>
          <a:prstGeom prst="rect">
            <a:avLst/>
          </a:prstGeom>
        </p:spPr>
        <p:txBody>
          <a:bodyPr lIns="0" tIns="0" rIns="0" bIns="0" anchor="ctr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 b="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5pPr>
            <a:lvl6pPr marL="4363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6pPr>
            <a:lvl7pPr marL="872765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7pPr>
            <a:lvl8pPr marL="1309148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8pPr>
            <a:lvl9pPr marL="174553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spcBef>
                <a:spcPts val="1219"/>
              </a:spcBef>
              <a:buClrTx/>
            </a:pPr>
            <a:r>
              <a:rPr lang="ja-JP" altLang="en-US" b="1" dirty="0">
                <a:solidFill>
                  <a:srgbClr val="000000"/>
                </a:solidFill>
                <a:latin typeface="+mn-ea"/>
              </a:rPr>
              <a:t>施策案と概要フロー：</a:t>
            </a:r>
            <a:endParaRPr lang="en-US" altLang="ja-JP" b="1" kern="0" dirty="0">
              <a:latin typeface="+mn-ea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CB162582-563A-43BF-A1BE-2B992C7E2948}"/>
              </a:ext>
            </a:extLst>
          </p:cNvPr>
          <p:cNvSpPr/>
          <p:nvPr/>
        </p:nvSpPr>
        <p:spPr>
          <a:xfrm>
            <a:off x="6908799" y="2316376"/>
            <a:ext cx="4535054" cy="364192"/>
          </a:xfrm>
          <a:prstGeom prst="rect">
            <a:avLst/>
          </a:prstGeom>
          <a:solidFill>
            <a:schemeClr val="bg1"/>
          </a:solidFill>
          <a:ln w="12700">
            <a:solidFill>
              <a:srgbClr val="00B0F0"/>
            </a:solidFill>
          </a:ln>
          <a:effectLst>
            <a:outerShdw dist="38100" sx="1000" sy="1000" algn="tl" rotWithShape="0">
              <a:prstClr val="black"/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prstMaterial="powder">
            <a:bevelB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36000" rIns="21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92075"/>
            <a:r>
              <a:rPr lang="ja-JP" altLang="en-US" sz="1400" dirty="0">
                <a:solidFill>
                  <a:srgbClr val="000000"/>
                </a:solidFill>
                <a:latin typeface="+mn-ea"/>
              </a:rPr>
              <a:t>業務全体のフローを再構築</a:t>
            </a:r>
            <a:endParaRPr lang="ja-JP" altLang="en-US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E923E29D-D250-4382-932A-B9B26706E9B7}"/>
              </a:ext>
            </a:extLst>
          </p:cNvPr>
          <p:cNvCxnSpPr>
            <a:cxnSpLocks/>
            <a:stCxn id="13" idx="2"/>
            <a:endCxn id="45" idx="0"/>
          </p:cNvCxnSpPr>
          <p:nvPr/>
        </p:nvCxnSpPr>
        <p:spPr bwMode="auto">
          <a:xfrm>
            <a:off x="9176326" y="2680568"/>
            <a:ext cx="0" cy="267167"/>
          </a:xfrm>
          <a:prstGeom prst="straightConnector1">
            <a:avLst/>
          </a:prstGeom>
          <a:ln w="38100">
            <a:headEnd type="none" w="med" len="med"/>
            <a:tailEnd type="triangle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3B26540A-6297-43EE-A52E-6A2607B41299}"/>
              </a:ext>
            </a:extLst>
          </p:cNvPr>
          <p:cNvSpPr/>
          <p:nvPr/>
        </p:nvSpPr>
        <p:spPr>
          <a:xfrm>
            <a:off x="6908799" y="2011363"/>
            <a:ext cx="4535055" cy="305013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  <a:scene3d>
            <a:camera prst="orthographicFront"/>
            <a:lightRig rig="contrasting" dir="t">
              <a:rot lat="0" lon="0" rev="2400000"/>
            </a:lightRig>
          </a:scene3d>
          <a:sp3d prstMaterial="powder">
            <a:bevelB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3600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600" b="1" dirty="0">
                <a:solidFill>
                  <a:schemeClr val="bg1"/>
                </a:solidFill>
                <a:latin typeface="+mn-ea"/>
              </a:rPr>
              <a:t>概要フロー</a:t>
            </a: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E6C84881-5402-49FC-A230-D8E8B7FD8FF3}"/>
              </a:ext>
            </a:extLst>
          </p:cNvPr>
          <p:cNvSpPr/>
          <p:nvPr/>
        </p:nvSpPr>
        <p:spPr>
          <a:xfrm>
            <a:off x="6908799" y="2947735"/>
            <a:ext cx="4535054" cy="364192"/>
          </a:xfrm>
          <a:prstGeom prst="rect">
            <a:avLst/>
          </a:prstGeom>
          <a:solidFill>
            <a:schemeClr val="bg1"/>
          </a:solidFill>
          <a:ln w="12700">
            <a:solidFill>
              <a:srgbClr val="00B0F0"/>
            </a:solidFill>
          </a:ln>
          <a:effectLst>
            <a:outerShdw dist="38100" sx="1000" sy="1000" algn="tl" rotWithShape="0">
              <a:prstClr val="black"/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prstMaterial="powder">
            <a:bevelB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36000" rIns="21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92075"/>
            <a:r>
              <a:rPr lang="ja-JP" altLang="en-US" sz="1400" dirty="0">
                <a:solidFill>
                  <a:srgbClr val="000000"/>
                </a:solidFill>
                <a:latin typeface="+mn-ea"/>
              </a:rPr>
              <a:t>データの流れフローを設計</a:t>
            </a:r>
            <a:endParaRPr lang="ja-JP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8" name="矢印: 五方向 47">
            <a:extLst>
              <a:ext uri="{FF2B5EF4-FFF2-40B4-BE49-F238E27FC236}">
                <a16:creationId xmlns:a16="http://schemas.microsoft.com/office/drawing/2014/main" id="{80F3A476-7DA7-4DB8-B7C8-67ADBB38B0F3}"/>
              </a:ext>
            </a:extLst>
          </p:cNvPr>
          <p:cNvSpPr/>
          <p:nvPr/>
        </p:nvSpPr>
        <p:spPr>
          <a:xfrm>
            <a:off x="5902035" y="2783898"/>
            <a:ext cx="498765" cy="2379229"/>
          </a:xfrm>
          <a:prstGeom prst="homePlate">
            <a:avLst>
              <a:gd name="adj" fmla="val 100000"/>
            </a:avLst>
          </a:prstGeom>
          <a:solidFill>
            <a:schemeClr val="tx1">
              <a:lumMod val="50000"/>
              <a:lumOff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ja-JP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B547A8E7-555E-4ED9-B61F-0EFDACB1D8C6}"/>
              </a:ext>
            </a:extLst>
          </p:cNvPr>
          <p:cNvSpPr/>
          <p:nvPr/>
        </p:nvSpPr>
        <p:spPr>
          <a:xfrm>
            <a:off x="6908799" y="3579094"/>
            <a:ext cx="4535054" cy="364192"/>
          </a:xfrm>
          <a:prstGeom prst="rect">
            <a:avLst/>
          </a:prstGeom>
          <a:solidFill>
            <a:schemeClr val="bg1"/>
          </a:solidFill>
          <a:ln w="12700">
            <a:solidFill>
              <a:srgbClr val="00B0F0"/>
            </a:solidFill>
          </a:ln>
          <a:effectLst>
            <a:outerShdw dist="38100" sx="1000" sy="1000" algn="tl" rotWithShape="0">
              <a:prstClr val="black"/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prstMaterial="powder">
            <a:bevelB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36000" rIns="21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ja-JP" altLang="ja-JP" sz="1400" dirty="0">
                <a:solidFill>
                  <a:schemeClr val="tx1"/>
                </a:solidFill>
              </a:rPr>
              <a:t>入力フォーマットの変更</a:t>
            </a:r>
            <a:endParaRPr lang="ja-JP" altLang="ja-JP" sz="1400" dirty="0">
              <a:solidFill>
                <a:schemeClr val="tx1"/>
              </a:solidFill>
              <a:effectLst/>
            </a:endParaRP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DC59D25F-64C1-416F-9345-D0F67A826284}"/>
              </a:ext>
            </a:extLst>
          </p:cNvPr>
          <p:cNvSpPr/>
          <p:nvPr/>
        </p:nvSpPr>
        <p:spPr>
          <a:xfrm>
            <a:off x="6908799" y="4210453"/>
            <a:ext cx="4535054" cy="364192"/>
          </a:xfrm>
          <a:prstGeom prst="rect">
            <a:avLst/>
          </a:prstGeom>
          <a:solidFill>
            <a:schemeClr val="bg1"/>
          </a:solidFill>
          <a:ln w="12700">
            <a:solidFill>
              <a:srgbClr val="00B0F0"/>
            </a:solidFill>
          </a:ln>
          <a:effectLst>
            <a:outerShdw dist="38100" sx="1000" sy="1000" algn="tl" rotWithShape="0">
              <a:prstClr val="black"/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prstMaterial="powder">
            <a:bevelB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36000" rIns="21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ja-JP" altLang="ja-JP" sz="1400" dirty="0">
                <a:solidFill>
                  <a:schemeClr val="tx1"/>
                </a:solidFill>
              </a:rPr>
              <a:t>ツールの再設計と構築</a:t>
            </a:r>
            <a:endParaRPr lang="ja-JP" altLang="ja-JP" sz="1400" dirty="0">
              <a:solidFill>
                <a:schemeClr val="tx1"/>
              </a:solidFill>
              <a:effectLst/>
            </a:endParaRPr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1EF534DE-E835-483D-9899-39D6C21D7FE4}"/>
              </a:ext>
            </a:extLst>
          </p:cNvPr>
          <p:cNvSpPr/>
          <p:nvPr/>
        </p:nvSpPr>
        <p:spPr>
          <a:xfrm>
            <a:off x="6908799" y="4841812"/>
            <a:ext cx="4535054" cy="364192"/>
          </a:xfrm>
          <a:prstGeom prst="rect">
            <a:avLst/>
          </a:prstGeom>
          <a:solidFill>
            <a:schemeClr val="bg1"/>
          </a:solidFill>
          <a:ln w="12700">
            <a:solidFill>
              <a:srgbClr val="00B0F0"/>
            </a:solidFill>
          </a:ln>
          <a:effectLst>
            <a:outerShdw dist="38100" sx="1000" sy="1000" algn="tl" rotWithShape="0">
              <a:prstClr val="black"/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prstMaterial="powder">
            <a:bevelB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36000" rIns="21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ja-JP" altLang="ja-JP" sz="1400" dirty="0">
                <a:solidFill>
                  <a:schemeClr val="tx1"/>
                </a:solidFill>
              </a:rPr>
              <a:t>可動テスト</a:t>
            </a:r>
            <a:endParaRPr lang="ja-JP" altLang="ja-JP" sz="1400" dirty="0">
              <a:solidFill>
                <a:schemeClr val="tx1"/>
              </a:solidFill>
              <a:effectLst/>
            </a:endParaRPr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724BCB85-8EE3-4286-9C81-DFD099846A2C}"/>
              </a:ext>
            </a:extLst>
          </p:cNvPr>
          <p:cNvSpPr/>
          <p:nvPr/>
        </p:nvSpPr>
        <p:spPr>
          <a:xfrm>
            <a:off x="6908799" y="5473173"/>
            <a:ext cx="4535054" cy="364192"/>
          </a:xfrm>
          <a:prstGeom prst="rect">
            <a:avLst/>
          </a:prstGeom>
          <a:solidFill>
            <a:schemeClr val="bg1"/>
          </a:solidFill>
          <a:ln w="12700">
            <a:solidFill>
              <a:srgbClr val="00B0F0"/>
            </a:solidFill>
          </a:ln>
          <a:effectLst>
            <a:outerShdw dist="38100" sx="1000" sy="1000" algn="tl" rotWithShape="0">
              <a:prstClr val="black"/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prstMaterial="powder">
            <a:bevelB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36000" rIns="21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92075"/>
            <a:r>
              <a:rPr lang="ja-JP" altLang="en-US" sz="1400" dirty="0">
                <a:solidFill>
                  <a:srgbClr val="000000"/>
                </a:solidFill>
                <a:latin typeface="+mn-ea"/>
              </a:rPr>
              <a:t>本運用</a:t>
            </a:r>
            <a:endParaRPr lang="ja-JP" altLang="en-US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54" name="直線矢印コネクタ 53">
            <a:extLst>
              <a:ext uri="{FF2B5EF4-FFF2-40B4-BE49-F238E27FC236}">
                <a16:creationId xmlns:a16="http://schemas.microsoft.com/office/drawing/2014/main" id="{5E69F568-E1FF-43E9-87D1-9DEA0ECD2F98}"/>
              </a:ext>
            </a:extLst>
          </p:cNvPr>
          <p:cNvCxnSpPr>
            <a:cxnSpLocks/>
            <a:stCxn id="45" idx="2"/>
            <a:endCxn id="50" idx="0"/>
          </p:cNvCxnSpPr>
          <p:nvPr/>
        </p:nvCxnSpPr>
        <p:spPr bwMode="auto">
          <a:xfrm>
            <a:off x="9176326" y="3311927"/>
            <a:ext cx="0" cy="267167"/>
          </a:xfrm>
          <a:prstGeom prst="straightConnector1">
            <a:avLst/>
          </a:prstGeom>
          <a:ln w="38100">
            <a:headEnd type="none" w="med" len="med"/>
            <a:tailEnd type="triangle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1E4C924C-B4A4-4C3E-838F-846BAA07BCC0}"/>
              </a:ext>
            </a:extLst>
          </p:cNvPr>
          <p:cNvCxnSpPr>
            <a:cxnSpLocks/>
            <a:stCxn id="50" idx="2"/>
            <a:endCxn id="51" idx="0"/>
          </p:cNvCxnSpPr>
          <p:nvPr/>
        </p:nvCxnSpPr>
        <p:spPr bwMode="auto">
          <a:xfrm>
            <a:off x="9176326" y="3943286"/>
            <a:ext cx="0" cy="267167"/>
          </a:xfrm>
          <a:prstGeom prst="straightConnector1">
            <a:avLst/>
          </a:prstGeom>
          <a:ln w="38100">
            <a:headEnd type="none" w="med" len="med"/>
            <a:tailEnd type="triangle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矢印コネクタ 59">
            <a:extLst>
              <a:ext uri="{FF2B5EF4-FFF2-40B4-BE49-F238E27FC236}">
                <a16:creationId xmlns:a16="http://schemas.microsoft.com/office/drawing/2014/main" id="{1C1F8E63-0B2A-49C8-8189-E2420A9457A7}"/>
              </a:ext>
            </a:extLst>
          </p:cNvPr>
          <p:cNvCxnSpPr>
            <a:cxnSpLocks/>
            <a:endCxn id="52" idx="0"/>
          </p:cNvCxnSpPr>
          <p:nvPr/>
        </p:nvCxnSpPr>
        <p:spPr bwMode="auto">
          <a:xfrm>
            <a:off x="9176326" y="4574645"/>
            <a:ext cx="0" cy="267167"/>
          </a:xfrm>
          <a:prstGeom prst="straightConnector1">
            <a:avLst/>
          </a:prstGeom>
          <a:ln w="38100">
            <a:headEnd type="none" w="med" len="med"/>
            <a:tailEnd type="triangle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1D5EE0A2-4A09-464B-BB13-92A67B7CEC4C}"/>
              </a:ext>
            </a:extLst>
          </p:cNvPr>
          <p:cNvCxnSpPr>
            <a:cxnSpLocks/>
            <a:endCxn id="53" idx="0"/>
          </p:cNvCxnSpPr>
          <p:nvPr/>
        </p:nvCxnSpPr>
        <p:spPr bwMode="auto">
          <a:xfrm>
            <a:off x="9176326" y="5206004"/>
            <a:ext cx="0" cy="267169"/>
          </a:xfrm>
          <a:prstGeom prst="straightConnector1">
            <a:avLst/>
          </a:prstGeom>
          <a:ln w="38100">
            <a:headEnd type="none" w="med" len="med"/>
            <a:tailEnd type="triangle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吹き出し: 四角形 65">
            <a:extLst>
              <a:ext uri="{FF2B5EF4-FFF2-40B4-BE49-F238E27FC236}">
                <a16:creationId xmlns:a16="http://schemas.microsoft.com/office/drawing/2014/main" id="{C355F316-0BB5-4712-928F-9B69E89519A0}"/>
              </a:ext>
            </a:extLst>
          </p:cNvPr>
          <p:cNvSpPr/>
          <p:nvPr/>
        </p:nvSpPr>
        <p:spPr>
          <a:xfrm>
            <a:off x="918622" y="4757982"/>
            <a:ext cx="2627284" cy="896044"/>
          </a:xfrm>
          <a:prstGeom prst="wedgeRectCallout">
            <a:avLst>
              <a:gd name="adj1" fmla="val 23912"/>
              <a:gd name="adj2" fmla="val -75505"/>
            </a:avLst>
          </a:prstGeom>
          <a:solidFill>
            <a:srgbClr val="FFCC0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36000" rIns="9144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tabLst>
                <a:tab pos="442913" algn="l"/>
              </a:tabLst>
            </a:pPr>
            <a:r>
              <a:rPr lang="ja-JP" altLang="en-US" sz="1200" dirty="0">
                <a:solidFill>
                  <a:schemeClr val="tx1"/>
                </a:solidFill>
              </a:rPr>
              <a:t>懸念点：</a:t>
            </a:r>
            <a:endParaRPr lang="en-US" altLang="ja-JP" sz="1200" dirty="0">
              <a:solidFill>
                <a:schemeClr val="tx1"/>
              </a:solidFill>
            </a:endParaRPr>
          </a:p>
          <a:p>
            <a:pPr>
              <a:tabLst>
                <a:tab pos="442913" algn="l"/>
              </a:tabLst>
            </a:pPr>
            <a:r>
              <a:rPr lang="en-US" altLang="ja-JP" sz="1200" dirty="0">
                <a:solidFill>
                  <a:schemeClr val="tx1"/>
                </a:solidFill>
              </a:rPr>
              <a:t>WF</a:t>
            </a:r>
            <a:r>
              <a:rPr lang="ja-JP" altLang="en-US" sz="1200" dirty="0">
                <a:solidFill>
                  <a:schemeClr val="tx1"/>
                </a:solidFill>
              </a:rPr>
              <a:t>の機能不足のため、一部は移行できない想定。</a:t>
            </a:r>
            <a:endParaRPr lang="en-US" altLang="ja-JP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379900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C14C7D7-4B45-4807-8DE6-19B3FA24FBC9}"/>
              </a:ext>
            </a:extLst>
          </p:cNvPr>
          <p:cNvSpPr/>
          <p:nvPr/>
        </p:nvSpPr>
        <p:spPr>
          <a:xfrm>
            <a:off x="748145" y="2316376"/>
            <a:ext cx="10695710" cy="3520989"/>
          </a:xfrm>
          <a:prstGeom prst="rect">
            <a:avLst/>
          </a:prstGeom>
          <a:solidFill>
            <a:schemeClr val="bg1"/>
          </a:solidFill>
          <a:ln w="12700">
            <a:solidFill>
              <a:srgbClr val="00B0F0"/>
            </a:solidFill>
          </a:ln>
          <a:effectLst>
            <a:outerShdw dist="38100" sx="1000" sy="1000" algn="tl" rotWithShape="0">
              <a:prstClr val="black"/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prstMaterial="powder">
            <a:bevelB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216000" rIns="216000" bIns="21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193675"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chemeClr val="tx1"/>
                </a:solidFill>
                <a:latin typeface="+mn-ea"/>
              </a:rPr>
              <a:t>データの保存期間が一年間。</a:t>
            </a:r>
            <a:endParaRPr lang="en-US" altLang="ja-JP" dirty="0">
              <a:solidFill>
                <a:schemeClr val="tx1"/>
              </a:solidFill>
              <a:latin typeface="+mn-ea"/>
            </a:endParaRPr>
          </a:p>
          <a:p>
            <a:pPr marL="285750" indent="-193675"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chemeClr val="tx1"/>
                </a:solidFill>
              </a:rPr>
              <a:t>数値の参照や参照した数値の計算ができない。</a:t>
            </a:r>
            <a:endParaRPr lang="ja-JP" altLang="en-US" dirty="0">
              <a:solidFill>
                <a:schemeClr val="tx1"/>
              </a:solidFill>
              <a:latin typeface="+mn-ea"/>
            </a:endParaRPr>
          </a:p>
          <a:p>
            <a:pPr marL="285750" indent="-193675"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chemeClr val="tx1"/>
                </a:solidFill>
                <a:latin typeface="+mn-ea"/>
              </a:rPr>
              <a:t>現状フォーマットを更新しても、過去フォーマットへの反映がされない。</a:t>
            </a:r>
          </a:p>
          <a:p>
            <a:pPr marL="285750" indent="-193675"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chemeClr val="tx1"/>
                </a:solidFill>
                <a:latin typeface="+mn-ea"/>
              </a:rPr>
              <a:t>入力規制がない。</a:t>
            </a:r>
            <a:r>
              <a:rPr lang="en-US" altLang="ja-JP" dirty="0">
                <a:solidFill>
                  <a:schemeClr val="tx1"/>
                </a:solidFill>
                <a:latin typeface="+mn-ea"/>
              </a:rPr>
              <a:t>JavaScript</a:t>
            </a:r>
            <a:r>
              <a:rPr lang="ja-JP" altLang="en-US" dirty="0">
                <a:solidFill>
                  <a:schemeClr val="tx1"/>
                </a:solidFill>
                <a:latin typeface="+mn-ea"/>
              </a:rPr>
              <a:t>なら作成可。</a:t>
            </a:r>
            <a:endParaRPr lang="en-US" altLang="ja-JP" dirty="0">
              <a:solidFill>
                <a:schemeClr val="tx1"/>
              </a:solidFill>
              <a:latin typeface="+mn-ea"/>
            </a:endParaRPr>
          </a:p>
          <a:p>
            <a:pPr marL="285750" indent="-193675"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chemeClr val="tx1"/>
                </a:solidFill>
                <a:latin typeface="+mn-ea"/>
              </a:rPr>
              <a:t>入力データを計算や参照する仕組みがない。</a:t>
            </a:r>
            <a:endParaRPr lang="en-US" altLang="ja-JP" dirty="0">
              <a:solidFill>
                <a:schemeClr val="tx1"/>
              </a:solidFill>
              <a:latin typeface="+mn-ea"/>
            </a:endParaRPr>
          </a:p>
          <a:p>
            <a:pPr marL="285750" indent="-193675"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chemeClr val="tx1"/>
                </a:solidFill>
                <a:latin typeface="+mn-ea"/>
              </a:rPr>
              <a:t>データのアウトプットが</a:t>
            </a:r>
            <a:r>
              <a:rPr lang="en-US" altLang="ja-JP" dirty="0">
                <a:solidFill>
                  <a:schemeClr val="tx1"/>
                </a:solidFill>
                <a:latin typeface="+mn-ea"/>
              </a:rPr>
              <a:t>CSV</a:t>
            </a:r>
            <a:r>
              <a:rPr lang="ja-JP" altLang="en-US" dirty="0">
                <a:solidFill>
                  <a:schemeClr val="tx1"/>
                </a:solidFill>
                <a:latin typeface="+mn-ea"/>
              </a:rPr>
              <a:t>のみである。添付したデータのまとめて保存できない。</a:t>
            </a:r>
            <a:endParaRPr lang="en-US" altLang="ja-JP" dirty="0">
              <a:solidFill>
                <a:schemeClr val="tx1"/>
              </a:solidFill>
              <a:latin typeface="+mn-ea"/>
            </a:endParaRPr>
          </a:p>
          <a:p>
            <a:pPr marL="285750" indent="-193675"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chemeClr val="tx1"/>
                </a:solidFill>
                <a:latin typeface="+mn-ea"/>
              </a:rPr>
              <a:t>集計、グラフ化する機能はない。</a:t>
            </a:r>
            <a:endParaRPr lang="en-US" altLang="ja-JP" dirty="0">
              <a:solidFill>
                <a:schemeClr val="tx1"/>
              </a:solidFill>
              <a:latin typeface="+mn-ea"/>
            </a:endParaRPr>
          </a:p>
          <a:p>
            <a:pPr marL="285750" indent="-193675">
              <a:buFont typeface="Arial" panose="020B0604020202020204" pitchFamily="34" charset="0"/>
              <a:buChar char="•"/>
            </a:pPr>
            <a:r>
              <a:rPr lang="en-US" altLang="ja-JP" dirty="0">
                <a:solidFill>
                  <a:schemeClr val="tx1"/>
                </a:solidFill>
                <a:latin typeface="+mn-ea"/>
              </a:rPr>
              <a:t>API</a:t>
            </a:r>
            <a:r>
              <a:rPr lang="ja-JP" altLang="en-US" dirty="0">
                <a:solidFill>
                  <a:schemeClr val="tx1"/>
                </a:solidFill>
                <a:latin typeface="+mn-ea"/>
              </a:rPr>
              <a:t>外部連携等の機能はない。</a:t>
            </a:r>
            <a:endParaRPr lang="en-US" altLang="ja-JP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847731A-C0C2-42AE-B8C3-C21F013BAD25}"/>
              </a:ext>
            </a:extLst>
          </p:cNvPr>
          <p:cNvSpPr/>
          <p:nvPr/>
        </p:nvSpPr>
        <p:spPr>
          <a:xfrm>
            <a:off x="748145" y="2011364"/>
            <a:ext cx="10695710" cy="305013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  <a:scene3d>
            <a:camera prst="orthographicFront"/>
            <a:lightRig rig="contrasting" dir="t">
              <a:rot lat="0" lon="0" rev="2400000"/>
            </a:lightRig>
          </a:scene3d>
          <a:sp3d prstMaterial="powder">
            <a:bevelB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3600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sz="1600" b="1" dirty="0">
                <a:solidFill>
                  <a:schemeClr val="bg1"/>
                </a:solidFill>
                <a:latin typeface="+mn-ea"/>
              </a:rPr>
              <a:t>WF</a:t>
            </a:r>
            <a:r>
              <a:rPr lang="ja-JP" altLang="en-US" sz="1600" b="1" dirty="0">
                <a:solidFill>
                  <a:schemeClr val="bg1"/>
                </a:solidFill>
                <a:latin typeface="+mn-ea"/>
              </a:rPr>
              <a:t>の機能に関して</a:t>
            </a:r>
            <a:endParaRPr lang="en-US" altLang="ja-JP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" name="タイトル 1">
            <a:extLst>
              <a:ext uri="{FF2B5EF4-FFF2-40B4-BE49-F238E27FC236}">
                <a16:creationId xmlns:a16="http://schemas.microsoft.com/office/drawing/2014/main" id="{28391A78-96B3-4ABD-BBBD-1E24F4F84DC7}"/>
              </a:ext>
            </a:extLst>
          </p:cNvPr>
          <p:cNvSpPr txBox="1">
            <a:spLocks/>
          </p:cNvSpPr>
          <p:nvPr/>
        </p:nvSpPr>
        <p:spPr>
          <a:xfrm>
            <a:off x="157945" y="33339"/>
            <a:ext cx="11285910" cy="652462"/>
          </a:xfrm>
          <a:prstGeom prst="rect">
            <a:avLst/>
          </a:prstGeom>
        </p:spPr>
        <p:txBody>
          <a:bodyPr anchor="ctr" anchorCtr="0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5pPr>
            <a:lvl6pPr marL="4363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6pPr>
            <a:lvl7pPr marL="872765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7pPr>
            <a:lvl8pPr marL="1309148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8pPr>
            <a:lvl9pPr marL="174553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ja-JP" altLang="en-US" sz="2400" b="1" kern="0" dirty="0"/>
              <a:t>リスク管理業務改善資料</a:t>
            </a:r>
          </a:p>
        </p:txBody>
      </p:sp>
      <p:sp>
        <p:nvSpPr>
          <p:cNvPr id="12" name="タイトル 1">
            <a:extLst>
              <a:ext uri="{FF2B5EF4-FFF2-40B4-BE49-F238E27FC236}">
                <a16:creationId xmlns:a16="http://schemas.microsoft.com/office/drawing/2014/main" id="{3C88CE30-2AA5-4A8F-855C-E9328ACC3B3E}"/>
              </a:ext>
            </a:extLst>
          </p:cNvPr>
          <p:cNvSpPr txBox="1">
            <a:spLocks/>
          </p:cNvSpPr>
          <p:nvPr/>
        </p:nvSpPr>
        <p:spPr>
          <a:xfrm>
            <a:off x="748145" y="685801"/>
            <a:ext cx="10695710" cy="1325563"/>
          </a:xfrm>
          <a:prstGeom prst="rect">
            <a:avLst/>
          </a:prstGeom>
        </p:spPr>
        <p:txBody>
          <a:bodyPr lIns="0" tIns="0" rIns="0" bIns="0" anchor="ctr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 b="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5pPr>
            <a:lvl6pPr marL="4363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6pPr>
            <a:lvl7pPr marL="872765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7pPr>
            <a:lvl8pPr marL="1309148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8pPr>
            <a:lvl9pPr marL="174553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en-US" altLang="ja-JP" b="1" dirty="0">
                <a:latin typeface="+mn-ea"/>
                <a:cs typeface="Meiryo" charset="-128"/>
              </a:rPr>
              <a:t>WF</a:t>
            </a:r>
            <a:r>
              <a:rPr lang="ja-JP" altLang="en-US" b="1" dirty="0">
                <a:latin typeface="+mn-ea"/>
                <a:cs typeface="Meiryo" charset="-128"/>
              </a:rPr>
              <a:t>の現状：</a:t>
            </a:r>
          </a:p>
        </p:txBody>
      </p:sp>
    </p:spTree>
    <p:extLst>
      <p:ext uri="{BB962C8B-B14F-4D97-AF65-F5344CB8AC3E}">
        <p14:creationId xmlns:p14="http://schemas.microsoft.com/office/powerpoint/2010/main" val="2461111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正方形/長方形 93">
            <a:extLst>
              <a:ext uri="{FF2B5EF4-FFF2-40B4-BE49-F238E27FC236}">
                <a16:creationId xmlns:a16="http://schemas.microsoft.com/office/drawing/2014/main" id="{A3488B52-8295-4B6A-9806-DB253936B442}"/>
              </a:ext>
            </a:extLst>
          </p:cNvPr>
          <p:cNvSpPr/>
          <p:nvPr/>
        </p:nvSpPr>
        <p:spPr>
          <a:xfrm>
            <a:off x="748145" y="2011364"/>
            <a:ext cx="5179755" cy="416083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ja-JP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</p:txBody>
      </p:sp>
      <p:sp>
        <p:nvSpPr>
          <p:cNvPr id="91" name="正方形/長方形 90">
            <a:extLst>
              <a:ext uri="{FF2B5EF4-FFF2-40B4-BE49-F238E27FC236}">
                <a16:creationId xmlns:a16="http://schemas.microsoft.com/office/drawing/2014/main" id="{2B79A2AE-6077-4AAE-8E14-C39646471841}"/>
              </a:ext>
            </a:extLst>
          </p:cNvPr>
          <p:cNvSpPr/>
          <p:nvPr/>
        </p:nvSpPr>
        <p:spPr>
          <a:xfrm>
            <a:off x="5927900" y="2011364"/>
            <a:ext cx="5587310" cy="4160835"/>
          </a:xfrm>
          <a:prstGeom prst="rect">
            <a:avLst/>
          </a:prstGeom>
          <a:noFill/>
          <a:ln w="12700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ja-JP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BE81DD09-CF41-4773-8721-42EAED88472D}"/>
              </a:ext>
            </a:extLst>
          </p:cNvPr>
          <p:cNvSpPr txBox="1">
            <a:spLocks/>
          </p:cNvSpPr>
          <p:nvPr/>
        </p:nvSpPr>
        <p:spPr>
          <a:xfrm>
            <a:off x="157945" y="33339"/>
            <a:ext cx="11285910" cy="652462"/>
          </a:xfrm>
          <a:prstGeom prst="rect">
            <a:avLst/>
          </a:prstGeom>
        </p:spPr>
        <p:txBody>
          <a:bodyPr anchor="ctr" anchorCtr="0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5pPr>
            <a:lvl6pPr marL="4363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6pPr>
            <a:lvl7pPr marL="872765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7pPr>
            <a:lvl8pPr marL="1309148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8pPr>
            <a:lvl9pPr marL="174553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ja-JP" altLang="en-US" sz="2400" b="1" kern="0" dirty="0"/>
              <a:t>商品統合管理室　リスク管理業務改善資料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6CCBC1E-F5E5-4806-AA0C-9BA39E5F9649}"/>
              </a:ext>
            </a:extLst>
          </p:cNvPr>
          <p:cNvSpPr/>
          <p:nvPr/>
        </p:nvSpPr>
        <p:spPr>
          <a:xfrm>
            <a:off x="2488970" y="3019068"/>
            <a:ext cx="1463040" cy="493881"/>
          </a:xfrm>
          <a:prstGeom prst="rect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インシデント</a:t>
            </a:r>
            <a:r>
              <a:rPr kumimoji="0" lang="en-US" altLang="ja-JP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WF</a:t>
            </a: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申請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63B239D-30A8-40A5-861C-3B7BF9CF4B4B}"/>
              </a:ext>
            </a:extLst>
          </p:cNvPr>
          <p:cNvSpPr/>
          <p:nvPr/>
        </p:nvSpPr>
        <p:spPr>
          <a:xfrm>
            <a:off x="4305532" y="3841443"/>
            <a:ext cx="1463040" cy="493881"/>
          </a:xfrm>
          <a:prstGeom prst="rect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インシデント会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37DEB678-8D6B-4A66-8A57-27136AD7EAC5}"/>
              </a:ext>
            </a:extLst>
          </p:cNvPr>
          <p:cNvSpPr/>
          <p:nvPr/>
        </p:nvSpPr>
        <p:spPr>
          <a:xfrm>
            <a:off x="9743210" y="3019068"/>
            <a:ext cx="1463040" cy="49388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経理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  <a:p>
            <a:pPr marR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アクシデントリスト</a:t>
            </a:r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6D60639E-6320-4A3A-B363-674FA51DF546}"/>
              </a:ext>
            </a:extLst>
          </p:cNvPr>
          <p:cNvCxnSpPr>
            <a:cxnSpLocks/>
            <a:stCxn id="26" idx="4"/>
          </p:cNvCxnSpPr>
          <p:nvPr/>
        </p:nvCxnSpPr>
        <p:spPr bwMode="auto">
          <a:xfrm>
            <a:off x="5768571" y="3266008"/>
            <a:ext cx="347519" cy="1"/>
          </a:xfrm>
          <a:prstGeom prst="bentConnector3">
            <a:avLst>
              <a:gd name="adj1" fmla="val 50000"/>
            </a:avLst>
          </a:prstGeom>
          <a:ln w="28575">
            <a:solidFill>
              <a:srgbClr val="00B0F0"/>
            </a:solidFill>
            <a:headEnd type="none" w="med" len="med"/>
            <a:tailEnd type="triangle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DF785F19-A3ED-4AE4-BFF0-2A2BB16F166E}"/>
              </a:ext>
            </a:extLst>
          </p:cNvPr>
          <p:cNvCxnSpPr>
            <a:cxnSpLocks/>
            <a:stCxn id="44" idx="0"/>
            <a:endCxn id="40" idx="3"/>
          </p:cNvCxnSpPr>
          <p:nvPr/>
        </p:nvCxnSpPr>
        <p:spPr bwMode="auto">
          <a:xfrm flipH="1" flipV="1">
            <a:off x="6847379" y="3512948"/>
            <a:ext cx="1269" cy="328495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triangle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フローチャート: 磁気ディスク 25">
            <a:extLst>
              <a:ext uri="{FF2B5EF4-FFF2-40B4-BE49-F238E27FC236}">
                <a16:creationId xmlns:a16="http://schemas.microsoft.com/office/drawing/2014/main" id="{9C87A2BF-9963-463D-8ADA-44C4399CD2A5}"/>
              </a:ext>
            </a:extLst>
          </p:cNvPr>
          <p:cNvSpPr/>
          <p:nvPr/>
        </p:nvSpPr>
        <p:spPr>
          <a:xfrm>
            <a:off x="4305531" y="3019068"/>
            <a:ext cx="1463040" cy="493880"/>
          </a:xfrm>
          <a:prstGeom prst="flowChartMagneticDisk">
            <a:avLst/>
          </a:prstGeom>
          <a:solidFill>
            <a:srgbClr val="00B0F0"/>
          </a:solidFill>
          <a:ln w="12700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altLang="ja-JP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WF</a:t>
            </a:r>
            <a:endParaRPr kumimoji="0" lang="ja-JP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</p:txBody>
      </p: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B6C9C28F-8EDE-488B-AAC7-F2D19D89CC91}"/>
              </a:ext>
            </a:extLst>
          </p:cNvPr>
          <p:cNvCxnSpPr>
            <a:cxnSpLocks/>
            <a:stCxn id="2" idx="3"/>
            <a:endCxn id="26" idx="2"/>
          </p:cNvCxnSpPr>
          <p:nvPr/>
        </p:nvCxnSpPr>
        <p:spPr bwMode="auto">
          <a:xfrm flipV="1">
            <a:off x="3952010" y="3266008"/>
            <a:ext cx="353521" cy="1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triangle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爆発: 8 pt 37">
            <a:extLst>
              <a:ext uri="{FF2B5EF4-FFF2-40B4-BE49-F238E27FC236}">
                <a16:creationId xmlns:a16="http://schemas.microsoft.com/office/drawing/2014/main" id="{AE4326E7-89CE-4BE8-A3D8-35E625B495CE}"/>
              </a:ext>
            </a:extLst>
          </p:cNvPr>
          <p:cNvSpPr/>
          <p:nvPr/>
        </p:nvSpPr>
        <p:spPr>
          <a:xfrm>
            <a:off x="954118" y="2779748"/>
            <a:ext cx="1706880" cy="1031800"/>
          </a:xfrm>
          <a:prstGeom prst="irregularSeal1">
            <a:avLst/>
          </a:prstGeom>
          <a:solidFill>
            <a:schemeClr val="bg1"/>
          </a:solidFill>
          <a:ln w="12700"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0" lang="ja-JP" altLang="en-US" sz="1200" b="1" kern="0" dirty="0">
                <a:solidFill>
                  <a:prstClr val="black"/>
                </a:solidFill>
                <a:ea typeface="Meiryo UI"/>
              </a:rPr>
              <a:t>事故発生</a:t>
            </a:r>
            <a:endParaRPr kumimoji="0" lang="en-US" altLang="ja-JP" sz="1200" b="1" kern="0" dirty="0">
              <a:solidFill>
                <a:prstClr val="black"/>
              </a:solidFill>
              <a:ea typeface="Meiryo UI"/>
            </a:endParaRPr>
          </a:p>
        </p:txBody>
      </p: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077110C8-25CE-4A1A-812B-A4767FB339E8}"/>
              </a:ext>
            </a:extLst>
          </p:cNvPr>
          <p:cNvCxnSpPr>
            <a:cxnSpLocks/>
            <a:stCxn id="40" idx="4"/>
            <a:endCxn id="13" idx="1"/>
          </p:cNvCxnSpPr>
          <p:nvPr/>
        </p:nvCxnSpPr>
        <p:spPr bwMode="auto">
          <a:xfrm>
            <a:off x="7578899" y="3266008"/>
            <a:ext cx="2164311" cy="1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triangle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A05DC05E-55BB-4DC5-A22B-A740CCEC5154}"/>
              </a:ext>
            </a:extLst>
          </p:cNvPr>
          <p:cNvSpPr/>
          <p:nvPr/>
        </p:nvSpPr>
        <p:spPr>
          <a:xfrm>
            <a:off x="9743210" y="3811548"/>
            <a:ext cx="1463040" cy="49388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部長承認用資料</a:t>
            </a:r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A78A4205-229D-4E5C-83C6-0FB396786C78}"/>
              </a:ext>
            </a:extLst>
          </p:cNvPr>
          <p:cNvCxnSpPr>
            <a:cxnSpLocks/>
            <a:stCxn id="40" idx="4"/>
            <a:endCxn id="52" idx="1"/>
          </p:cNvCxnSpPr>
          <p:nvPr/>
        </p:nvCxnSpPr>
        <p:spPr bwMode="auto">
          <a:xfrm>
            <a:off x="7578899" y="3266008"/>
            <a:ext cx="2164311" cy="792481"/>
          </a:xfrm>
          <a:prstGeom prst="bentConnector3">
            <a:avLst>
              <a:gd name="adj1" fmla="val 50000"/>
            </a:avLst>
          </a:prstGeom>
          <a:ln w="28575">
            <a:solidFill>
              <a:srgbClr val="00B0F0"/>
            </a:solidFill>
            <a:headEnd type="none" w="med" len="med"/>
            <a:tailEnd type="triangle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039B06ED-35D9-4E22-98AA-304469C1DF77}"/>
              </a:ext>
            </a:extLst>
          </p:cNvPr>
          <p:cNvSpPr/>
          <p:nvPr/>
        </p:nvSpPr>
        <p:spPr>
          <a:xfrm>
            <a:off x="9743210" y="4604028"/>
            <a:ext cx="1463040" cy="49388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定例</a:t>
            </a:r>
            <a:r>
              <a:rPr kumimoji="0" lang="en-US" altLang="ja-JP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MTG</a:t>
            </a: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資料</a:t>
            </a:r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00EE65E9-02BD-430E-B46B-9C1C65439659}"/>
              </a:ext>
            </a:extLst>
          </p:cNvPr>
          <p:cNvSpPr/>
          <p:nvPr/>
        </p:nvSpPr>
        <p:spPr>
          <a:xfrm>
            <a:off x="9743210" y="5396508"/>
            <a:ext cx="1463040" cy="49388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グループリスク管理室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  <a:p>
            <a:pPr marR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ja-JP" altLang="en-US" sz="1200" kern="0" dirty="0">
                <a:solidFill>
                  <a:prstClr val="black"/>
                </a:solidFill>
                <a:latin typeface="Meiryo UI"/>
                <a:ea typeface="Meiryo UI"/>
              </a:rPr>
              <a:t>提出報告書</a:t>
            </a:r>
            <a:endParaRPr kumimoji="0" lang="ja-JP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</p:txBody>
      </p:sp>
      <p:cxnSp>
        <p:nvCxnSpPr>
          <p:cNvPr id="59" name="直線矢印コネクタ 52">
            <a:extLst>
              <a:ext uri="{FF2B5EF4-FFF2-40B4-BE49-F238E27FC236}">
                <a16:creationId xmlns:a16="http://schemas.microsoft.com/office/drawing/2014/main" id="{C00D0857-BFE9-43E6-B374-137C12B3D2AC}"/>
              </a:ext>
            </a:extLst>
          </p:cNvPr>
          <p:cNvCxnSpPr>
            <a:cxnSpLocks/>
            <a:stCxn id="40" idx="4"/>
            <a:endCxn id="57" idx="1"/>
          </p:cNvCxnSpPr>
          <p:nvPr/>
        </p:nvCxnSpPr>
        <p:spPr bwMode="auto">
          <a:xfrm>
            <a:off x="7578899" y="3266008"/>
            <a:ext cx="2164311" cy="1584961"/>
          </a:xfrm>
          <a:prstGeom prst="bentConnector3">
            <a:avLst>
              <a:gd name="adj1" fmla="val 50000"/>
            </a:avLst>
          </a:prstGeom>
          <a:ln w="28575">
            <a:solidFill>
              <a:srgbClr val="00B0F0"/>
            </a:solidFill>
            <a:headEnd type="none" w="med" len="med"/>
            <a:tailEnd type="triangle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直線矢印コネクタ 52">
            <a:extLst>
              <a:ext uri="{FF2B5EF4-FFF2-40B4-BE49-F238E27FC236}">
                <a16:creationId xmlns:a16="http://schemas.microsoft.com/office/drawing/2014/main" id="{F89C64D3-AAC1-4CD6-9C16-D86B36D3CCEB}"/>
              </a:ext>
            </a:extLst>
          </p:cNvPr>
          <p:cNvCxnSpPr>
            <a:cxnSpLocks/>
            <a:stCxn id="40" idx="4"/>
            <a:endCxn id="58" idx="1"/>
          </p:cNvCxnSpPr>
          <p:nvPr/>
        </p:nvCxnSpPr>
        <p:spPr bwMode="auto">
          <a:xfrm>
            <a:off x="7578899" y="3266008"/>
            <a:ext cx="2164311" cy="2377441"/>
          </a:xfrm>
          <a:prstGeom prst="bentConnector3">
            <a:avLst>
              <a:gd name="adj1" fmla="val 50000"/>
            </a:avLst>
          </a:prstGeom>
          <a:ln w="28575">
            <a:solidFill>
              <a:srgbClr val="00B0F0"/>
            </a:solidFill>
            <a:headEnd type="none" w="med" len="med"/>
            <a:tailEnd type="triangle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直線矢印コネクタ 52">
            <a:extLst>
              <a:ext uri="{FF2B5EF4-FFF2-40B4-BE49-F238E27FC236}">
                <a16:creationId xmlns:a16="http://schemas.microsoft.com/office/drawing/2014/main" id="{AA0E772E-8004-4F2A-9BC7-3DB5004810E9}"/>
              </a:ext>
            </a:extLst>
          </p:cNvPr>
          <p:cNvCxnSpPr>
            <a:cxnSpLocks/>
            <a:stCxn id="9" idx="0"/>
            <a:endCxn id="26" idx="3"/>
          </p:cNvCxnSpPr>
          <p:nvPr/>
        </p:nvCxnSpPr>
        <p:spPr bwMode="auto">
          <a:xfrm flipH="1" flipV="1">
            <a:off x="5037051" y="3512948"/>
            <a:ext cx="1" cy="328495"/>
          </a:xfrm>
          <a:prstGeom prst="straightConnector1">
            <a:avLst/>
          </a:prstGeom>
          <a:ln w="28575">
            <a:solidFill>
              <a:srgbClr val="00B0F0"/>
            </a:solidFill>
            <a:headEnd type="triangle" w="med" len="med"/>
            <a:tailEnd type="triangle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直線矢印コネクタ 86">
            <a:extLst>
              <a:ext uri="{FF2B5EF4-FFF2-40B4-BE49-F238E27FC236}">
                <a16:creationId xmlns:a16="http://schemas.microsoft.com/office/drawing/2014/main" id="{95B98C31-2569-4274-AD37-D910EDF1FE3A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5927898" y="2011365"/>
            <a:ext cx="12642" cy="4160834"/>
          </a:xfrm>
          <a:prstGeom prst="straightConnector1">
            <a:avLst/>
          </a:prstGeom>
          <a:ln w="28575">
            <a:solidFill>
              <a:srgbClr val="00B0F0"/>
            </a:solidFill>
            <a:prstDash val="sysDash"/>
            <a:headEnd type="none" w="med" len="med"/>
            <a:tailEnd type="none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8" name="矢印: 左右 107">
            <a:extLst>
              <a:ext uri="{FF2B5EF4-FFF2-40B4-BE49-F238E27FC236}">
                <a16:creationId xmlns:a16="http://schemas.microsoft.com/office/drawing/2014/main" id="{4C319451-5998-44CE-8FB7-57EAF4784057}"/>
              </a:ext>
            </a:extLst>
          </p:cNvPr>
          <p:cNvSpPr/>
          <p:nvPr/>
        </p:nvSpPr>
        <p:spPr>
          <a:xfrm>
            <a:off x="4779707" y="5134810"/>
            <a:ext cx="2296383" cy="798644"/>
          </a:xfrm>
          <a:prstGeom prst="leftRightArrow">
            <a:avLst/>
          </a:prstGeom>
          <a:solidFill>
            <a:schemeClr val="tx1">
              <a:lumMod val="65000"/>
              <a:lumOff val="3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200" b="1" dirty="0">
                <a:solidFill>
                  <a:schemeClr val="bg1"/>
                </a:solidFill>
              </a:rPr>
              <a:t>記載内容に差異が発生</a:t>
            </a:r>
            <a:endParaRPr lang="en-US" altLang="ja-JP" sz="1200" b="1" dirty="0">
              <a:solidFill>
                <a:schemeClr val="bg1"/>
              </a:solidFill>
            </a:endParaRPr>
          </a:p>
        </p:txBody>
      </p:sp>
      <p:sp>
        <p:nvSpPr>
          <p:cNvPr id="109" name="吹き出し: 四角形 108">
            <a:extLst>
              <a:ext uri="{FF2B5EF4-FFF2-40B4-BE49-F238E27FC236}">
                <a16:creationId xmlns:a16="http://schemas.microsoft.com/office/drawing/2014/main" id="{9C5857F4-65CA-4F40-A116-3C47D452CC00}"/>
              </a:ext>
            </a:extLst>
          </p:cNvPr>
          <p:cNvSpPr/>
          <p:nvPr/>
        </p:nvSpPr>
        <p:spPr>
          <a:xfrm>
            <a:off x="899621" y="5278611"/>
            <a:ext cx="1867882" cy="729673"/>
          </a:xfrm>
          <a:prstGeom prst="wedgeRectCallout">
            <a:avLst>
              <a:gd name="adj1" fmla="val -19825"/>
              <a:gd name="adj2" fmla="val 87122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36000" rIns="9144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r>
              <a:rPr lang="en-US" altLang="ja-JP" sz="1200" b="1" dirty="0">
                <a:solidFill>
                  <a:schemeClr val="bg1"/>
                </a:solidFill>
              </a:rPr>
              <a:t>WF</a:t>
            </a:r>
            <a:r>
              <a:rPr lang="ja-JP" altLang="en-US" sz="1200" b="1" dirty="0">
                <a:solidFill>
                  <a:schemeClr val="bg1"/>
                </a:solidFill>
              </a:rPr>
              <a:t>は、データベースとしての機能に不足がある</a:t>
            </a:r>
            <a:endParaRPr lang="en-US" altLang="ja-JP" sz="1200" b="1" dirty="0">
              <a:solidFill>
                <a:schemeClr val="bg1"/>
              </a:solidFill>
            </a:endParaRPr>
          </a:p>
        </p:txBody>
      </p:sp>
      <p:sp>
        <p:nvSpPr>
          <p:cNvPr id="33" name="タイトル 1">
            <a:extLst>
              <a:ext uri="{FF2B5EF4-FFF2-40B4-BE49-F238E27FC236}">
                <a16:creationId xmlns:a16="http://schemas.microsoft.com/office/drawing/2014/main" id="{C8420AE2-BC01-4FC5-B761-95212465FE93}"/>
              </a:ext>
            </a:extLst>
          </p:cNvPr>
          <p:cNvSpPr txBox="1">
            <a:spLocks/>
          </p:cNvSpPr>
          <p:nvPr/>
        </p:nvSpPr>
        <p:spPr>
          <a:xfrm>
            <a:off x="748145" y="685801"/>
            <a:ext cx="10695710" cy="1325563"/>
          </a:xfrm>
          <a:prstGeom prst="rect">
            <a:avLst/>
          </a:prstGeom>
        </p:spPr>
        <p:txBody>
          <a:bodyPr lIns="0" tIns="0" rIns="0" bIns="0" anchor="ctr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 b="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5pPr>
            <a:lvl6pPr marL="4363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6pPr>
            <a:lvl7pPr marL="872765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7pPr>
            <a:lvl8pPr marL="1309148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8pPr>
            <a:lvl9pPr marL="174553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ja-JP" altLang="en-US" b="1" dirty="0"/>
              <a:t>現状の全体の業務フロー：</a:t>
            </a:r>
          </a:p>
        </p:txBody>
      </p:sp>
      <p:sp>
        <p:nvSpPr>
          <p:cNvPr id="40" name="フローチャート: 磁気ディスク 39">
            <a:extLst>
              <a:ext uri="{FF2B5EF4-FFF2-40B4-BE49-F238E27FC236}">
                <a16:creationId xmlns:a16="http://schemas.microsoft.com/office/drawing/2014/main" id="{D6D10B88-A705-4376-81B0-780E8CDBA15E}"/>
              </a:ext>
            </a:extLst>
          </p:cNvPr>
          <p:cNvSpPr/>
          <p:nvPr/>
        </p:nvSpPr>
        <p:spPr>
          <a:xfrm>
            <a:off x="6115859" y="3019068"/>
            <a:ext cx="1463040" cy="493880"/>
          </a:xfrm>
          <a:prstGeom prst="flowChartMagneticDisk">
            <a:avLst/>
          </a:prstGeom>
          <a:solidFill>
            <a:srgbClr val="00B0F0"/>
          </a:solidFill>
          <a:ln w="12700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kumimoji="0" lang="ja-JP" altLang="en-US" sz="1200" kern="0" dirty="0">
                <a:solidFill>
                  <a:prstClr val="black"/>
                </a:solidFill>
                <a:ea typeface="Meiryo UI"/>
              </a:rPr>
              <a:t>エクセル版リスク管理報告書</a:t>
            </a: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C75B332D-FEB3-4738-BCB6-7FF814D994D7}"/>
              </a:ext>
            </a:extLst>
          </p:cNvPr>
          <p:cNvSpPr/>
          <p:nvPr/>
        </p:nvSpPr>
        <p:spPr>
          <a:xfrm>
            <a:off x="6117128" y="3841443"/>
            <a:ext cx="1463040" cy="493881"/>
          </a:xfrm>
          <a:prstGeom prst="rect">
            <a:avLst/>
          </a:prstGeom>
          <a:solidFill>
            <a:schemeClr val="bg1"/>
          </a:solidFill>
          <a:ln w="12700"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kumimoji="0" lang="ja-JP" altLang="en-US" sz="1200" kern="0" dirty="0">
                <a:solidFill>
                  <a:prstClr val="black"/>
                </a:solidFill>
                <a:ea typeface="Meiryo UI"/>
              </a:rPr>
              <a:t>進捗管理　掲示板</a:t>
            </a: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969F1A3C-4C6C-4A82-AD6D-AE4ADE11AEC1}"/>
              </a:ext>
            </a:extLst>
          </p:cNvPr>
          <p:cNvSpPr/>
          <p:nvPr/>
        </p:nvSpPr>
        <p:spPr>
          <a:xfrm>
            <a:off x="7929534" y="3019067"/>
            <a:ext cx="1463040" cy="49388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kumimoji="0" lang="ja-JP" altLang="en-US" sz="1200" kern="0" dirty="0">
                <a:solidFill>
                  <a:prstClr val="black"/>
                </a:solidFill>
                <a:ea typeface="Meiryo UI"/>
              </a:rPr>
              <a:t>マクロ</a:t>
            </a:r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3554A30D-8D8A-4BAB-807A-E9E6D41D2C4A}"/>
              </a:ext>
            </a:extLst>
          </p:cNvPr>
          <p:cNvSpPr/>
          <p:nvPr/>
        </p:nvSpPr>
        <p:spPr>
          <a:xfrm>
            <a:off x="9889608" y="924168"/>
            <a:ext cx="1625600" cy="886120"/>
          </a:xfrm>
          <a:prstGeom prst="rect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kumimoji="0" lang="ja-JP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BE448F01-B380-4647-AE35-E4E6280CFA90}"/>
              </a:ext>
            </a:extLst>
          </p:cNvPr>
          <p:cNvSpPr/>
          <p:nvPr/>
        </p:nvSpPr>
        <p:spPr>
          <a:xfrm>
            <a:off x="10802678" y="1060802"/>
            <a:ext cx="533420" cy="243697"/>
          </a:xfrm>
          <a:prstGeom prst="rect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kumimoji="0" lang="ja-JP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EA7153B7-E7BD-4BB7-9018-60C03D3DC52C}"/>
              </a:ext>
            </a:extLst>
          </p:cNvPr>
          <p:cNvSpPr/>
          <p:nvPr/>
        </p:nvSpPr>
        <p:spPr>
          <a:xfrm>
            <a:off x="10802678" y="1456727"/>
            <a:ext cx="533420" cy="2436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kumimoji="0" lang="ja-JP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F8AB20EA-A032-4D9F-97BF-24A5F74C01CB}"/>
              </a:ext>
            </a:extLst>
          </p:cNvPr>
          <p:cNvSpPr/>
          <p:nvPr/>
        </p:nvSpPr>
        <p:spPr>
          <a:xfrm>
            <a:off x="10014458" y="1060802"/>
            <a:ext cx="533420" cy="243697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入力</a:t>
            </a:r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131719C7-B319-4F22-999F-DF6465C4CE26}"/>
              </a:ext>
            </a:extLst>
          </p:cNvPr>
          <p:cNvSpPr/>
          <p:nvPr/>
        </p:nvSpPr>
        <p:spPr>
          <a:xfrm>
            <a:off x="10014458" y="1456727"/>
            <a:ext cx="533420" cy="243697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出力</a:t>
            </a:r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560C1677-D086-483E-8C3A-812F45F5AB7F}"/>
              </a:ext>
            </a:extLst>
          </p:cNvPr>
          <p:cNvSpPr/>
          <p:nvPr/>
        </p:nvSpPr>
        <p:spPr>
          <a:xfrm>
            <a:off x="6117128" y="2183345"/>
            <a:ext cx="1463040" cy="49388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kumimoji="0" lang="ja-JP" altLang="en-US" sz="1200" kern="0" dirty="0">
                <a:solidFill>
                  <a:prstClr val="black"/>
                </a:solidFill>
                <a:ea typeface="Meiryo UI"/>
              </a:rPr>
              <a:t>共有フォルダ</a:t>
            </a:r>
          </a:p>
        </p:txBody>
      </p:sp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366E4564-5592-4B4D-B23E-3EFC90641F74}"/>
              </a:ext>
            </a:extLst>
          </p:cNvPr>
          <p:cNvCxnSpPr>
            <a:cxnSpLocks/>
            <a:stCxn id="40" idx="1"/>
            <a:endCxn id="68" idx="2"/>
          </p:cNvCxnSpPr>
          <p:nvPr/>
        </p:nvCxnSpPr>
        <p:spPr bwMode="auto">
          <a:xfrm flipV="1">
            <a:off x="6847379" y="2677226"/>
            <a:ext cx="1269" cy="34184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triangle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05689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235B2081-363C-4F11-B54B-D1B766BD7824}"/>
              </a:ext>
            </a:extLst>
          </p:cNvPr>
          <p:cNvSpPr/>
          <p:nvPr/>
        </p:nvSpPr>
        <p:spPr>
          <a:xfrm>
            <a:off x="9889608" y="924168"/>
            <a:ext cx="1625600" cy="886120"/>
          </a:xfrm>
          <a:prstGeom prst="rect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kumimoji="0" lang="ja-JP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6BB9EB37-97E3-4273-A104-CFC88371194E}"/>
              </a:ext>
            </a:extLst>
          </p:cNvPr>
          <p:cNvSpPr/>
          <p:nvPr/>
        </p:nvSpPr>
        <p:spPr>
          <a:xfrm>
            <a:off x="748145" y="2006714"/>
            <a:ext cx="10767063" cy="4080049"/>
          </a:xfrm>
          <a:prstGeom prst="rect">
            <a:avLst/>
          </a:prstGeom>
          <a:noFill/>
          <a:ln w="12700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ja-JP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</p:txBody>
      </p:sp>
      <p:sp>
        <p:nvSpPr>
          <p:cNvPr id="15" name="タイトル 1">
            <a:extLst>
              <a:ext uri="{FF2B5EF4-FFF2-40B4-BE49-F238E27FC236}">
                <a16:creationId xmlns:a16="http://schemas.microsoft.com/office/drawing/2014/main" id="{A40DC099-2FDA-4D28-983F-9E07608A7D3F}"/>
              </a:ext>
            </a:extLst>
          </p:cNvPr>
          <p:cNvSpPr txBox="1">
            <a:spLocks/>
          </p:cNvSpPr>
          <p:nvPr/>
        </p:nvSpPr>
        <p:spPr>
          <a:xfrm>
            <a:off x="157945" y="33338"/>
            <a:ext cx="11285910" cy="652462"/>
          </a:xfrm>
          <a:prstGeom prst="rect">
            <a:avLst/>
          </a:prstGeom>
        </p:spPr>
        <p:txBody>
          <a:bodyPr anchor="ctr" anchorCtr="0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5pPr>
            <a:lvl6pPr marL="4363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6pPr>
            <a:lvl7pPr marL="872765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7pPr>
            <a:lvl8pPr marL="1309148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8pPr>
            <a:lvl9pPr marL="174553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ja-JP" altLang="en-US" sz="2400" b="1" kern="0" dirty="0"/>
              <a:t>商品統合管理室　リスク管理業務改善資料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B8BC9F9-6B30-47FA-A85A-2584DB96972E}"/>
              </a:ext>
            </a:extLst>
          </p:cNvPr>
          <p:cNvSpPr/>
          <p:nvPr/>
        </p:nvSpPr>
        <p:spPr>
          <a:xfrm>
            <a:off x="3577868" y="2582925"/>
            <a:ext cx="1463040" cy="493881"/>
          </a:xfrm>
          <a:prstGeom prst="rect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インシデント申請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D8B47F3-D7DF-4902-956E-FEDFD8AF04AF}"/>
              </a:ext>
            </a:extLst>
          </p:cNvPr>
          <p:cNvSpPr/>
          <p:nvPr/>
        </p:nvSpPr>
        <p:spPr>
          <a:xfrm>
            <a:off x="5413363" y="3603770"/>
            <a:ext cx="1463040" cy="493881"/>
          </a:xfrm>
          <a:prstGeom prst="rect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インシデント会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622DE71-EE05-4E5E-BDAF-F690848B8DBE}"/>
              </a:ext>
            </a:extLst>
          </p:cNvPr>
          <p:cNvSpPr/>
          <p:nvPr/>
        </p:nvSpPr>
        <p:spPr>
          <a:xfrm>
            <a:off x="7601228" y="2579973"/>
            <a:ext cx="2413230" cy="49388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経理アクシデントリスト</a:t>
            </a:r>
          </a:p>
        </p:txBody>
      </p:sp>
      <p:sp>
        <p:nvSpPr>
          <p:cNvPr id="17" name="フローチャート: 磁気ディスク 16">
            <a:extLst>
              <a:ext uri="{FF2B5EF4-FFF2-40B4-BE49-F238E27FC236}">
                <a16:creationId xmlns:a16="http://schemas.microsoft.com/office/drawing/2014/main" id="{A95E67F4-8845-4694-B12A-02EF97BBA3D7}"/>
              </a:ext>
            </a:extLst>
          </p:cNvPr>
          <p:cNvSpPr/>
          <p:nvPr/>
        </p:nvSpPr>
        <p:spPr>
          <a:xfrm>
            <a:off x="5413363" y="2583987"/>
            <a:ext cx="1463040" cy="493880"/>
          </a:xfrm>
          <a:prstGeom prst="flowChartMagneticDisk">
            <a:avLst/>
          </a:prstGeom>
          <a:solidFill>
            <a:srgbClr val="00B0F0"/>
          </a:solidFill>
          <a:ln w="12700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データベース</a:t>
            </a:r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2C3E854B-1D6F-440E-92AC-A9A582BB8D9B}"/>
              </a:ext>
            </a:extLst>
          </p:cNvPr>
          <p:cNvCxnSpPr>
            <a:cxnSpLocks/>
            <a:stCxn id="8" idx="3"/>
            <a:endCxn id="17" idx="2"/>
          </p:cNvCxnSpPr>
          <p:nvPr/>
        </p:nvCxnSpPr>
        <p:spPr bwMode="auto">
          <a:xfrm>
            <a:off x="5040908" y="2829866"/>
            <a:ext cx="372455" cy="1061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triangle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爆発: 8 pt 18">
            <a:extLst>
              <a:ext uri="{FF2B5EF4-FFF2-40B4-BE49-F238E27FC236}">
                <a16:creationId xmlns:a16="http://schemas.microsoft.com/office/drawing/2014/main" id="{A5B9EB8B-8D81-4437-A8C0-564C71167950}"/>
              </a:ext>
            </a:extLst>
          </p:cNvPr>
          <p:cNvSpPr/>
          <p:nvPr/>
        </p:nvSpPr>
        <p:spPr>
          <a:xfrm>
            <a:off x="1594243" y="2345017"/>
            <a:ext cx="1706880" cy="1031800"/>
          </a:xfrm>
          <a:prstGeom prst="irregularSeal1">
            <a:avLst/>
          </a:prstGeom>
          <a:solidFill>
            <a:schemeClr val="bg1"/>
          </a:solidFill>
          <a:ln w="12700"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0" lang="ja-JP" altLang="en-US" sz="1200" b="1" kern="0" dirty="0">
                <a:solidFill>
                  <a:prstClr val="black"/>
                </a:solidFill>
                <a:ea typeface="Meiryo UI"/>
              </a:rPr>
              <a:t>事故発生</a:t>
            </a:r>
            <a:endParaRPr kumimoji="0" lang="en-US" altLang="ja-JP" sz="1200" b="1" kern="0" dirty="0">
              <a:solidFill>
                <a:prstClr val="black"/>
              </a:solidFill>
              <a:ea typeface="Meiryo UI"/>
            </a:endParaRPr>
          </a:p>
        </p:txBody>
      </p: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5408A10F-1664-4481-8D03-317CF3542E3A}"/>
              </a:ext>
            </a:extLst>
          </p:cNvPr>
          <p:cNvCxnSpPr>
            <a:cxnSpLocks/>
            <a:stCxn id="17" idx="4"/>
            <a:endCxn id="12" idx="1"/>
          </p:cNvCxnSpPr>
          <p:nvPr/>
        </p:nvCxnSpPr>
        <p:spPr bwMode="auto">
          <a:xfrm flipV="1">
            <a:off x="6876403" y="2826914"/>
            <a:ext cx="724825" cy="4013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triangle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AACBBC52-3D6B-4337-AE29-A8B17E0EC7CB}"/>
              </a:ext>
            </a:extLst>
          </p:cNvPr>
          <p:cNvSpPr/>
          <p:nvPr/>
        </p:nvSpPr>
        <p:spPr>
          <a:xfrm>
            <a:off x="7601228" y="3236951"/>
            <a:ext cx="2413230" cy="49388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部長承認用資料</a:t>
            </a:r>
          </a:p>
        </p:txBody>
      </p:sp>
      <p:cxnSp>
        <p:nvCxnSpPr>
          <p:cNvPr id="24" name="直線矢印コネクタ 52">
            <a:extLst>
              <a:ext uri="{FF2B5EF4-FFF2-40B4-BE49-F238E27FC236}">
                <a16:creationId xmlns:a16="http://schemas.microsoft.com/office/drawing/2014/main" id="{5A1ECFF0-FFCA-469B-AC1A-5BC1AF8A2619}"/>
              </a:ext>
            </a:extLst>
          </p:cNvPr>
          <p:cNvCxnSpPr>
            <a:cxnSpLocks/>
            <a:stCxn id="17" idx="4"/>
            <a:endCxn id="23" idx="1"/>
          </p:cNvCxnSpPr>
          <p:nvPr/>
        </p:nvCxnSpPr>
        <p:spPr bwMode="auto">
          <a:xfrm>
            <a:off x="6876403" y="2830927"/>
            <a:ext cx="724825" cy="652965"/>
          </a:xfrm>
          <a:prstGeom prst="bentConnector3">
            <a:avLst>
              <a:gd name="adj1" fmla="val 50000"/>
            </a:avLst>
          </a:prstGeom>
          <a:ln w="28575">
            <a:solidFill>
              <a:srgbClr val="00B0F0"/>
            </a:solidFill>
            <a:headEnd type="none" w="med" len="med"/>
            <a:tailEnd type="triangle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115F7D0A-9127-4AD5-90FC-4D83EA0DC315}"/>
              </a:ext>
            </a:extLst>
          </p:cNvPr>
          <p:cNvSpPr/>
          <p:nvPr/>
        </p:nvSpPr>
        <p:spPr>
          <a:xfrm>
            <a:off x="7601228" y="3893929"/>
            <a:ext cx="2413230" cy="49388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定例</a:t>
            </a:r>
            <a:r>
              <a:rPr kumimoji="0" lang="en-US" altLang="ja-JP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MTG</a:t>
            </a: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資料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2C936EF6-0E38-4E9E-A385-3072C2958089}"/>
              </a:ext>
            </a:extLst>
          </p:cNvPr>
          <p:cNvSpPr/>
          <p:nvPr/>
        </p:nvSpPr>
        <p:spPr>
          <a:xfrm>
            <a:off x="7601228" y="4552042"/>
            <a:ext cx="2413230" cy="49388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グループリスク管理室</a:t>
            </a:r>
            <a:r>
              <a:rPr kumimoji="0" lang="ja-JP" altLang="en-US" sz="1200" kern="0" dirty="0">
                <a:solidFill>
                  <a:prstClr val="black"/>
                </a:solidFill>
                <a:latin typeface="Meiryo UI"/>
                <a:ea typeface="Meiryo UI"/>
              </a:rPr>
              <a:t>提出報告書</a:t>
            </a:r>
            <a:endParaRPr kumimoji="0" lang="ja-JP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</p:txBody>
      </p:sp>
      <p:cxnSp>
        <p:nvCxnSpPr>
          <p:cNvPr id="27" name="直線矢印コネクタ 52">
            <a:extLst>
              <a:ext uri="{FF2B5EF4-FFF2-40B4-BE49-F238E27FC236}">
                <a16:creationId xmlns:a16="http://schemas.microsoft.com/office/drawing/2014/main" id="{FF623CE9-76EF-41EE-B3F8-5EB22F50475B}"/>
              </a:ext>
            </a:extLst>
          </p:cNvPr>
          <p:cNvCxnSpPr>
            <a:cxnSpLocks/>
            <a:stCxn id="17" idx="4"/>
            <a:endCxn id="25" idx="1"/>
          </p:cNvCxnSpPr>
          <p:nvPr/>
        </p:nvCxnSpPr>
        <p:spPr bwMode="auto">
          <a:xfrm>
            <a:off x="6876403" y="2830927"/>
            <a:ext cx="724825" cy="1309943"/>
          </a:xfrm>
          <a:prstGeom prst="bentConnector3">
            <a:avLst>
              <a:gd name="adj1" fmla="val 50000"/>
            </a:avLst>
          </a:prstGeom>
          <a:ln w="28575">
            <a:solidFill>
              <a:srgbClr val="00B0F0"/>
            </a:solidFill>
            <a:headEnd type="none" w="med" len="med"/>
            <a:tailEnd type="triangle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線矢印コネクタ 52">
            <a:extLst>
              <a:ext uri="{FF2B5EF4-FFF2-40B4-BE49-F238E27FC236}">
                <a16:creationId xmlns:a16="http://schemas.microsoft.com/office/drawing/2014/main" id="{25A0E609-EFA3-4552-A42A-19485F32C88C}"/>
              </a:ext>
            </a:extLst>
          </p:cNvPr>
          <p:cNvCxnSpPr>
            <a:cxnSpLocks/>
            <a:stCxn id="17" idx="4"/>
            <a:endCxn id="26" idx="1"/>
          </p:cNvCxnSpPr>
          <p:nvPr/>
        </p:nvCxnSpPr>
        <p:spPr bwMode="auto">
          <a:xfrm>
            <a:off x="6876403" y="2830927"/>
            <a:ext cx="724825" cy="1968056"/>
          </a:xfrm>
          <a:prstGeom prst="bentConnector3">
            <a:avLst>
              <a:gd name="adj1" fmla="val 50000"/>
            </a:avLst>
          </a:prstGeom>
          <a:ln w="28575">
            <a:solidFill>
              <a:srgbClr val="00B0F0"/>
            </a:solidFill>
            <a:headEnd type="none" w="med" len="med"/>
            <a:tailEnd type="triangle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線矢印コネクタ 52">
            <a:extLst>
              <a:ext uri="{FF2B5EF4-FFF2-40B4-BE49-F238E27FC236}">
                <a16:creationId xmlns:a16="http://schemas.microsoft.com/office/drawing/2014/main" id="{3AAF2022-721F-409B-9D14-FB4629672E42}"/>
              </a:ext>
            </a:extLst>
          </p:cNvPr>
          <p:cNvCxnSpPr>
            <a:cxnSpLocks/>
            <a:stCxn id="9" idx="0"/>
            <a:endCxn id="17" idx="3"/>
          </p:cNvCxnSpPr>
          <p:nvPr/>
        </p:nvCxnSpPr>
        <p:spPr bwMode="auto">
          <a:xfrm flipV="1">
            <a:off x="6144883" y="3077867"/>
            <a:ext cx="0" cy="525903"/>
          </a:xfrm>
          <a:prstGeom prst="straightConnector1">
            <a:avLst/>
          </a:prstGeom>
          <a:ln w="28575">
            <a:solidFill>
              <a:srgbClr val="00B0F0"/>
            </a:solidFill>
            <a:headEnd type="triangle" w="med" len="med"/>
            <a:tailEnd type="triangle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1BE15E33-1A69-48DB-B124-1DCB0645AC10}"/>
              </a:ext>
            </a:extLst>
          </p:cNvPr>
          <p:cNvSpPr/>
          <p:nvPr/>
        </p:nvSpPr>
        <p:spPr>
          <a:xfrm>
            <a:off x="7601228" y="5206426"/>
            <a:ext cx="2413230" cy="49388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分析報告書</a:t>
            </a:r>
          </a:p>
        </p:txBody>
      </p:sp>
      <p:cxnSp>
        <p:nvCxnSpPr>
          <p:cNvPr id="50" name="直線矢印コネクタ 52">
            <a:extLst>
              <a:ext uri="{FF2B5EF4-FFF2-40B4-BE49-F238E27FC236}">
                <a16:creationId xmlns:a16="http://schemas.microsoft.com/office/drawing/2014/main" id="{F6537AB1-2796-4AFC-BA53-EB9778A14FB7}"/>
              </a:ext>
            </a:extLst>
          </p:cNvPr>
          <p:cNvCxnSpPr>
            <a:cxnSpLocks/>
            <a:stCxn id="17" idx="4"/>
            <a:endCxn id="49" idx="1"/>
          </p:cNvCxnSpPr>
          <p:nvPr/>
        </p:nvCxnSpPr>
        <p:spPr bwMode="auto">
          <a:xfrm>
            <a:off x="6876403" y="2830927"/>
            <a:ext cx="724825" cy="2622440"/>
          </a:xfrm>
          <a:prstGeom prst="bentConnector3">
            <a:avLst>
              <a:gd name="adj1" fmla="val 50000"/>
            </a:avLst>
          </a:prstGeom>
          <a:ln w="28575">
            <a:solidFill>
              <a:srgbClr val="00B0F0"/>
            </a:solidFill>
            <a:headEnd type="none" w="med" len="med"/>
            <a:tailEnd type="triangle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C255F376-1EFE-494A-976D-0C88757F22E2}"/>
              </a:ext>
            </a:extLst>
          </p:cNvPr>
          <p:cNvSpPr/>
          <p:nvPr/>
        </p:nvSpPr>
        <p:spPr>
          <a:xfrm>
            <a:off x="10802678" y="1060802"/>
            <a:ext cx="533420" cy="243697"/>
          </a:xfrm>
          <a:prstGeom prst="rect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kumimoji="0" lang="ja-JP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7A619DF1-22D9-4A5F-B058-11F893DF1597}"/>
              </a:ext>
            </a:extLst>
          </p:cNvPr>
          <p:cNvSpPr/>
          <p:nvPr/>
        </p:nvSpPr>
        <p:spPr>
          <a:xfrm>
            <a:off x="10802678" y="1456727"/>
            <a:ext cx="533420" cy="2436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kumimoji="0" lang="ja-JP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</p:txBody>
      </p:sp>
      <p:sp>
        <p:nvSpPr>
          <p:cNvPr id="32" name="タイトル 1">
            <a:extLst>
              <a:ext uri="{FF2B5EF4-FFF2-40B4-BE49-F238E27FC236}">
                <a16:creationId xmlns:a16="http://schemas.microsoft.com/office/drawing/2014/main" id="{AB9B1BF0-28C2-4068-B3D1-27C2E16394A3}"/>
              </a:ext>
            </a:extLst>
          </p:cNvPr>
          <p:cNvSpPr txBox="1">
            <a:spLocks/>
          </p:cNvSpPr>
          <p:nvPr/>
        </p:nvSpPr>
        <p:spPr>
          <a:xfrm>
            <a:off x="748145" y="685801"/>
            <a:ext cx="10695710" cy="1325563"/>
          </a:xfrm>
          <a:prstGeom prst="rect">
            <a:avLst/>
          </a:prstGeom>
        </p:spPr>
        <p:txBody>
          <a:bodyPr lIns="0" tIns="0" rIns="0" bIns="0" anchor="ctr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 b="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5pPr>
            <a:lvl6pPr marL="4363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6pPr>
            <a:lvl7pPr marL="872765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7pPr>
            <a:lvl8pPr marL="1309148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8pPr>
            <a:lvl9pPr marL="174553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ja-JP" altLang="en-US" b="1" dirty="0"/>
              <a:t>短中期理想の全体の業務フロー：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0B5A4133-F7BF-417A-A164-E71326F73B56}"/>
              </a:ext>
            </a:extLst>
          </p:cNvPr>
          <p:cNvSpPr/>
          <p:nvPr/>
        </p:nvSpPr>
        <p:spPr>
          <a:xfrm>
            <a:off x="10014458" y="1060802"/>
            <a:ext cx="533420" cy="243697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入力</a:t>
            </a: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7C40D9AE-B991-4C47-BE83-8998199CED4E}"/>
              </a:ext>
            </a:extLst>
          </p:cNvPr>
          <p:cNvSpPr/>
          <p:nvPr/>
        </p:nvSpPr>
        <p:spPr>
          <a:xfrm>
            <a:off x="10014458" y="1456727"/>
            <a:ext cx="533420" cy="243697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出力</a:t>
            </a:r>
          </a:p>
        </p:txBody>
      </p:sp>
    </p:spTree>
    <p:extLst>
      <p:ext uri="{BB962C8B-B14F-4D97-AF65-F5344CB8AC3E}">
        <p14:creationId xmlns:p14="http://schemas.microsoft.com/office/powerpoint/2010/main" val="361123668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">
            <a:extLst>
              <a:ext uri="{FF2B5EF4-FFF2-40B4-BE49-F238E27FC236}">
                <a16:creationId xmlns:a16="http://schemas.microsoft.com/office/drawing/2014/main" id="{D719D24B-810A-4505-A3BB-650108201197}"/>
              </a:ext>
            </a:extLst>
          </p:cNvPr>
          <p:cNvSpPr txBox="1">
            <a:spLocks/>
          </p:cNvSpPr>
          <p:nvPr/>
        </p:nvSpPr>
        <p:spPr>
          <a:xfrm>
            <a:off x="157945" y="33338"/>
            <a:ext cx="11285910" cy="652462"/>
          </a:xfrm>
          <a:prstGeom prst="rect">
            <a:avLst/>
          </a:prstGeom>
        </p:spPr>
        <p:txBody>
          <a:bodyPr anchor="ctr" anchorCtr="0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5pPr>
            <a:lvl6pPr marL="4363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6pPr>
            <a:lvl7pPr marL="872765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7pPr>
            <a:lvl8pPr marL="1309148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8pPr>
            <a:lvl9pPr marL="174553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ja-JP" altLang="en-US" sz="2400" b="1" kern="0" dirty="0"/>
              <a:t>商品統合管理室　リスク管理業務改善資料</a:t>
            </a:r>
          </a:p>
        </p:txBody>
      </p:sp>
      <p:sp>
        <p:nvSpPr>
          <p:cNvPr id="7" name="タイトル 1">
            <a:extLst>
              <a:ext uri="{FF2B5EF4-FFF2-40B4-BE49-F238E27FC236}">
                <a16:creationId xmlns:a16="http://schemas.microsoft.com/office/drawing/2014/main" id="{D42C57FF-6DE3-49BC-9271-22A6967D672F}"/>
              </a:ext>
            </a:extLst>
          </p:cNvPr>
          <p:cNvSpPr txBox="1">
            <a:spLocks/>
          </p:cNvSpPr>
          <p:nvPr/>
        </p:nvSpPr>
        <p:spPr>
          <a:xfrm>
            <a:off x="748145" y="685801"/>
            <a:ext cx="10695710" cy="1325563"/>
          </a:xfrm>
          <a:prstGeom prst="rect">
            <a:avLst/>
          </a:prstGeom>
        </p:spPr>
        <p:txBody>
          <a:bodyPr anchor="ctr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 b="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5pPr>
            <a:lvl6pPr marL="4363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6pPr>
            <a:lvl7pPr marL="872765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7pPr>
            <a:lvl8pPr marL="1309148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8pPr>
            <a:lvl9pPr marL="174553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spcBef>
                <a:spcPts val="1219"/>
              </a:spcBef>
              <a:buClrTx/>
            </a:pPr>
            <a:r>
              <a:rPr lang="en-US" altLang="ja-JP" b="1" kern="0" dirty="0">
                <a:latin typeface="+mn-ea"/>
              </a:rPr>
              <a:t>WF</a:t>
            </a:r>
            <a:r>
              <a:rPr lang="ja-JP" altLang="en-US" b="1" kern="0" dirty="0">
                <a:latin typeface="+mn-ea"/>
              </a:rPr>
              <a:t>運用を想定した場合の工数について：</a:t>
            </a:r>
            <a:endParaRPr lang="en-US" altLang="ja-JP" b="1" kern="0" dirty="0">
              <a:latin typeface="+mn-ea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5C095B7-0124-45E0-B49A-1C3FE382FE40}"/>
              </a:ext>
            </a:extLst>
          </p:cNvPr>
          <p:cNvSpPr/>
          <p:nvPr/>
        </p:nvSpPr>
        <p:spPr>
          <a:xfrm>
            <a:off x="748145" y="2011364"/>
            <a:ext cx="4535055" cy="305013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  <a:scene3d>
            <a:camera prst="orthographicFront"/>
            <a:lightRig rig="contrasting" dir="t">
              <a:rot lat="0" lon="0" rev="2400000"/>
            </a:lightRig>
          </a:scene3d>
          <a:sp3d prstMaterial="powder">
            <a:bevelB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3600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600" b="1" dirty="0">
                <a:solidFill>
                  <a:schemeClr val="bg1"/>
                </a:solidFill>
              </a:rPr>
              <a:t>開発工数</a:t>
            </a:r>
            <a:endParaRPr kumimoji="1" lang="ja-JP" altLang="en-US" sz="1626" b="1" dirty="0">
              <a:solidFill>
                <a:schemeClr val="bg1"/>
              </a:solidFill>
              <a:latin typeface="+mn-ea"/>
              <a:cs typeface="Meiryo" charset="-128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F0BB347A-DE25-40D7-91B1-54CADCEFD0AA}"/>
              </a:ext>
            </a:extLst>
          </p:cNvPr>
          <p:cNvSpPr/>
          <p:nvPr/>
        </p:nvSpPr>
        <p:spPr>
          <a:xfrm>
            <a:off x="748145" y="2316376"/>
            <a:ext cx="4535055" cy="3521005"/>
          </a:xfrm>
          <a:prstGeom prst="rect">
            <a:avLst/>
          </a:prstGeom>
          <a:solidFill>
            <a:schemeClr val="bg1"/>
          </a:solidFill>
          <a:ln w="12700">
            <a:solidFill>
              <a:srgbClr val="00B0F0"/>
            </a:solidFill>
          </a:ln>
          <a:effectLst>
            <a:outerShdw dist="38100" sx="1000" sy="1000" algn="tl" rotWithShape="0">
              <a:prstClr val="black"/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prstMaterial="powder">
            <a:bevelB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216000" rIns="216000" bIns="21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ja-JP" altLang="en-US" b="1" dirty="0">
                <a:solidFill>
                  <a:schemeClr val="tx1"/>
                </a:solidFill>
              </a:rPr>
              <a:t>通常業務を行いながら</a:t>
            </a:r>
            <a:r>
              <a:rPr lang="en-US" altLang="ja-JP" b="1" dirty="0">
                <a:solidFill>
                  <a:schemeClr val="tx1"/>
                </a:solidFill>
              </a:rPr>
              <a:t>14</a:t>
            </a:r>
            <a:r>
              <a:rPr lang="ja-JP" altLang="en-US" b="1" dirty="0">
                <a:solidFill>
                  <a:schemeClr val="tx1"/>
                </a:solidFill>
              </a:rPr>
              <a:t>日想定</a:t>
            </a:r>
            <a:endParaRPr lang="en-US" altLang="ja-JP" b="1" dirty="0">
              <a:solidFill>
                <a:schemeClr val="tx1"/>
              </a:solidFill>
            </a:endParaRPr>
          </a:p>
          <a:p>
            <a:pPr marL="179388" lvl="1"/>
            <a:r>
              <a:rPr lang="ja-JP" altLang="en-US" dirty="0">
                <a:solidFill>
                  <a:schemeClr val="tx1"/>
                </a:solidFill>
              </a:rPr>
              <a:t>全体設計：</a:t>
            </a:r>
            <a:r>
              <a:rPr lang="en-US" altLang="ja-JP" dirty="0">
                <a:solidFill>
                  <a:schemeClr val="tx1"/>
                </a:solidFill>
              </a:rPr>
              <a:t>1</a:t>
            </a:r>
            <a:r>
              <a:rPr lang="ja-JP" altLang="en-US" dirty="0">
                <a:solidFill>
                  <a:schemeClr val="tx1"/>
                </a:solidFill>
              </a:rPr>
              <a:t>日</a:t>
            </a:r>
            <a:endParaRPr lang="en-US" altLang="ja-JP" dirty="0">
              <a:solidFill>
                <a:schemeClr val="tx1"/>
              </a:solidFill>
            </a:endParaRPr>
          </a:p>
          <a:p>
            <a:pPr marL="179388" lvl="1"/>
            <a:r>
              <a:rPr lang="ja-JP" altLang="en-US" dirty="0">
                <a:solidFill>
                  <a:schemeClr val="tx1"/>
                </a:solidFill>
              </a:rPr>
              <a:t>業務フロー作成：</a:t>
            </a:r>
            <a:r>
              <a:rPr lang="en-US" altLang="ja-JP" dirty="0">
                <a:solidFill>
                  <a:schemeClr val="tx1"/>
                </a:solidFill>
              </a:rPr>
              <a:t> 2</a:t>
            </a:r>
            <a:r>
              <a:rPr lang="ja-JP" altLang="en-US" dirty="0">
                <a:solidFill>
                  <a:schemeClr val="tx1"/>
                </a:solidFill>
              </a:rPr>
              <a:t>日</a:t>
            </a:r>
            <a:endParaRPr lang="en-US" altLang="ja-JP" dirty="0">
              <a:solidFill>
                <a:schemeClr val="tx1"/>
              </a:solidFill>
            </a:endParaRPr>
          </a:p>
          <a:p>
            <a:pPr marL="179388" lvl="1"/>
            <a:r>
              <a:rPr lang="ja-JP" altLang="en-US" dirty="0">
                <a:solidFill>
                  <a:srgbClr val="000000"/>
                </a:solidFill>
                <a:latin typeface="+mn-ea"/>
              </a:rPr>
              <a:t>データの流れフロー設計：</a:t>
            </a:r>
            <a:r>
              <a:rPr lang="en-US" altLang="ja-JP" dirty="0">
                <a:solidFill>
                  <a:schemeClr val="tx1"/>
                </a:solidFill>
              </a:rPr>
              <a:t> 2</a:t>
            </a:r>
            <a:r>
              <a:rPr lang="ja-JP" altLang="en-US" dirty="0">
                <a:solidFill>
                  <a:schemeClr val="tx1"/>
                </a:solidFill>
              </a:rPr>
              <a:t>日　</a:t>
            </a:r>
            <a:endParaRPr lang="en-US" altLang="ja-JP" dirty="0">
              <a:solidFill>
                <a:schemeClr val="tx1"/>
              </a:solidFill>
            </a:endParaRPr>
          </a:p>
          <a:p>
            <a:pPr marL="179388" lvl="1"/>
            <a:r>
              <a:rPr lang="ja-JP" altLang="en-US" dirty="0">
                <a:solidFill>
                  <a:schemeClr val="tx1"/>
                </a:solidFill>
              </a:rPr>
              <a:t>申請フォーマット見本作成： </a:t>
            </a:r>
            <a:r>
              <a:rPr lang="en-US" altLang="ja-JP" dirty="0">
                <a:solidFill>
                  <a:schemeClr val="tx1"/>
                </a:solidFill>
              </a:rPr>
              <a:t>1</a:t>
            </a:r>
            <a:r>
              <a:rPr lang="ja-JP" altLang="en-US" dirty="0">
                <a:solidFill>
                  <a:schemeClr val="tx1"/>
                </a:solidFill>
              </a:rPr>
              <a:t>日</a:t>
            </a:r>
            <a:endParaRPr lang="en-US" altLang="ja-JP" dirty="0">
              <a:solidFill>
                <a:schemeClr val="tx1"/>
              </a:solidFill>
            </a:endParaRPr>
          </a:p>
          <a:p>
            <a:pPr marL="179388" lvl="1"/>
            <a:r>
              <a:rPr lang="en-US" altLang="ja-JP" dirty="0">
                <a:solidFill>
                  <a:schemeClr val="tx1"/>
                </a:solidFill>
              </a:rPr>
              <a:t>WF</a:t>
            </a:r>
            <a:r>
              <a:rPr lang="ja-JP" altLang="en-US" dirty="0">
                <a:solidFill>
                  <a:schemeClr val="tx1"/>
                </a:solidFill>
              </a:rPr>
              <a:t>申請フォーマット作成：</a:t>
            </a:r>
            <a:r>
              <a:rPr lang="en-US" altLang="ja-JP" dirty="0">
                <a:solidFill>
                  <a:schemeClr val="tx1"/>
                </a:solidFill>
              </a:rPr>
              <a:t> 2</a:t>
            </a:r>
            <a:r>
              <a:rPr lang="ja-JP" altLang="en-US" dirty="0">
                <a:solidFill>
                  <a:schemeClr val="tx1"/>
                </a:solidFill>
              </a:rPr>
              <a:t>日 </a:t>
            </a:r>
            <a:endParaRPr lang="en-US" altLang="ja-JP" dirty="0">
              <a:solidFill>
                <a:schemeClr val="tx1"/>
              </a:solidFill>
            </a:endParaRPr>
          </a:p>
          <a:p>
            <a:pPr marL="179388" lvl="1"/>
            <a:r>
              <a:rPr lang="ja-JP" altLang="en-US" dirty="0">
                <a:solidFill>
                  <a:schemeClr val="tx1"/>
                </a:solidFill>
              </a:rPr>
              <a:t>試作版設計と作成： </a:t>
            </a:r>
            <a:r>
              <a:rPr lang="en-US" altLang="ja-JP" dirty="0">
                <a:solidFill>
                  <a:schemeClr val="tx1"/>
                </a:solidFill>
              </a:rPr>
              <a:t>1</a:t>
            </a:r>
            <a:r>
              <a:rPr lang="ja-JP" altLang="en-US" dirty="0">
                <a:solidFill>
                  <a:schemeClr val="tx1"/>
                </a:solidFill>
              </a:rPr>
              <a:t>日</a:t>
            </a:r>
            <a:endParaRPr lang="en-US" altLang="ja-JP" dirty="0">
              <a:solidFill>
                <a:schemeClr val="tx1"/>
              </a:solidFill>
            </a:endParaRPr>
          </a:p>
          <a:p>
            <a:pPr marL="179388" lvl="1"/>
            <a:r>
              <a:rPr lang="ja-JP" altLang="en-US" dirty="0">
                <a:solidFill>
                  <a:schemeClr val="tx1"/>
                </a:solidFill>
              </a:rPr>
              <a:t>検証： </a:t>
            </a:r>
            <a:r>
              <a:rPr lang="en-US" altLang="ja-JP" dirty="0">
                <a:solidFill>
                  <a:schemeClr val="tx1"/>
                </a:solidFill>
              </a:rPr>
              <a:t>1</a:t>
            </a:r>
            <a:r>
              <a:rPr lang="ja-JP" altLang="en-US" dirty="0">
                <a:solidFill>
                  <a:schemeClr val="tx1"/>
                </a:solidFill>
              </a:rPr>
              <a:t>日</a:t>
            </a:r>
            <a:endParaRPr lang="en-US" altLang="ja-JP" dirty="0">
              <a:solidFill>
                <a:schemeClr val="tx1"/>
              </a:solidFill>
            </a:endParaRPr>
          </a:p>
          <a:p>
            <a:pPr marL="179388" lvl="1"/>
            <a:r>
              <a:rPr lang="ja-JP" altLang="en-US" dirty="0">
                <a:solidFill>
                  <a:schemeClr val="tx1"/>
                </a:solidFill>
              </a:rPr>
              <a:t>ツールの</a:t>
            </a:r>
            <a:r>
              <a:rPr lang="ja-JP" altLang="ja-JP" dirty="0">
                <a:solidFill>
                  <a:schemeClr val="tx1"/>
                </a:solidFill>
              </a:rPr>
              <a:t>再設計と構築</a:t>
            </a:r>
            <a:r>
              <a:rPr lang="ja-JP" altLang="en-US" dirty="0">
                <a:solidFill>
                  <a:schemeClr val="tx1"/>
                </a:solidFill>
              </a:rPr>
              <a:t>： </a:t>
            </a:r>
            <a:r>
              <a:rPr lang="en-US" altLang="ja-JP" dirty="0">
                <a:solidFill>
                  <a:schemeClr val="tx1"/>
                </a:solidFill>
              </a:rPr>
              <a:t>4</a:t>
            </a:r>
            <a:r>
              <a:rPr lang="ja-JP" altLang="en-US" dirty="0">
                <a:solidFill>
                  <a:schemeClr val="tx1"/>
                </a:solidFill>
              </a:rPr>
              <a:t>日</a:t>
            </a:r>
            <a:endParaRPr lang="en-US" altLang="ja-JP" dirty="0">
              <a:solidFill>
                <a:schemeClr val="tx1"/>
              </a:solidFill>
            </a:endParaRPr>
          </a:p>
          <a:p>
            <a:pPr marL="179388" lvl="1"/>
            <a:r>
              <a:rPr lang="ja-JP" altLang="en-US" dirty="0">
                <a:solidFill>
                  <a:schemeClr val="tx1"/>
                </a:solidFill>
              </a:rPr>
              <a:t>スケジュールと進行管理：都度</a:t>
            </a:r>
            <a:endParaRPr lang="en-US" altLang="ja-JP" dirty="0">
              <a:solidFill>
                <a:schemeClr val="tx1"/>
              </a:solidFill>
            </a:endParaRPr>
          </a:p>
          <a:p>
            <a:pPr marL="179387"/>
            <a:endParaRPr lang="en-US" altLang="ja-JP" dirty="0">
              <a:solidFill>
                <a:schemeClr val="tx1"/>
              </a:solidFill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C73511FA-0FC5-4E81-B41C-6E72CA7F83FD}"/>
              </a:ext>
            </a:extLst>
          </p:cNvPr>
          <p:cNvSpPr/>
          <p:nvPr/>
        </p:nvSpPr>
        <p:spPr>
          <a:xfrm>
            <a:off x="6908802" y="2011364"/>
            <a:ext cx="4535055" cy="305013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  <a:scene3d>
            <a:camera prst="orthographicFront"/>
            <a:lightRig rig="contrasting" dir="t">
              <a:rot lat="0" lon="0" rev="2400000"/>
            </a:lightRig>
          </a:scene3d>
          <a:sp3d prstMaterial="powder">
            <a:bevelB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3600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600" b="1" dirty="0">
                <a:solidFill>
                  <a:schemeClr val="bg1"/>
                </a:solidFill>
              </a:rPr>
              <a:t>削減予定工数</a:t>
            </a:r>
            <a:endParaRPr kumimoji="1" lang="ja-JP" altLang="en-US" sz="1626" b="1" dirty="0">
              <a:solidFill>
                <a:schemeClr val="bg1"/>
              </a:solidFill>
              <a:latin typeface="+mn-ea"/>
              <a:cs typeface="Meiryo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BFB2BEAD-FB47-44AA-A754-928A4BC03B70}"/>
              </a:ext>
            </a:extLst>
          </p:cNvPr>
          <p:cNvSpPr/>
          <p:nvPr/>
        </p:nvSpPr>
        <p:spPr>
          <a:xfrm>
            <a:off x="6908802" y="2316376"/>
            <a:ext cx="4535055" cy="3521005"/>
          </a:xfrm>
          <a:prstGeom prst="rect">
            <a:avLst/>
          </a:prstGeom>
          <a:solidFill>
            <a:schemeClr val="bg1"/>
          </a:solidFill>
          <a:ln w="12700">
            <a:solidFill>
              <a:srgbClr val="00B0F0"/>
            </a:solidFill>
          </a:ln>
          <a:effectLst>
            <a:outerShdw dist="38100" sx="1000" sy="1000" algn="tl" rotWithShape="0">
              <a:prstClr val="black"/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prstMaterial="powder">
            <a:bevelB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216000" rIns="216000" bIns="21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r>
              <a:rPr lang="ja-JP" altLang="en-US" dirty="0">
                <a:solidFill>
                  <a:schemeClr val="tx1"/>
                </a:solidFill>
              </a:rPr>
              <a:t>リスク管理担当：</a:t>
            </a:r>
            <a:r>
              <a:rPr lang="en-US" altLang="ja-JP" dirty="0">
                <a:solidFill>
                  <a:schemeClr val="tx1"/>
                </a:solidFill>
              </a:rPr>
              <a:t>4H</a:t>
            </a:r>
            <a:r>
              <a:rPr lang="ja-JP" altLang="en-US" dirty="0">
                <a:solidFill>
                  <a:schemeClr val="tx1"/>
                </a:solidFill>
              </a:rPr>
              <a:t>／月</a:t>
            </a:r>
            <a:endParaRPr lang="en-US" altLang="ja-JP" dirty="0">
              <a:solidFill>
                <a:schemeClr val="tx1"/>
              </a:solidFill>
            </a:endParaRPr>
          </a:p>
          <a:p>
            <a:pPr algn="just"/>
            <a:r>
              <a:rPr lang="ja-JP" altLang="en-US" dirty="0">
                <a:solidFill>
                  <a:schemeClr val="tx1"/>
                </a:solidFill>
              </a:rPr>
              <a:t>　作業内容：エクセル作業</a:t>
            </a:r>
            <a:endParaRPr lang="en-US" altLang="ja-JP" dirty="0">
              <a:solidFill>
                <a:schemeClr val="tx1"/>
              </a:solidFill>
            </a:endParaRPr>
          </a:p>
          <a:p>
            <a:pPr algn="just"/>
            <a:endParaRPr lang="en-US" altLang="ja-JP" dirty="0">
              <a:solidFill>
                <a:schemeClr val="tx1"/>
              </a:solidFill>
            </a:endParaRPr>
          </a:p>
          <a:p>
            <a:pPr algn="just"/>
            <a:r>
              <a:rPr lang="ja-JP" altLang="en-US" dirty="0">
                <a:solidFill>
                  <a:schemeClr val="tx1"/>
                </a:solidFill>
              </a:rPr>
              <a:t>社員メンバー：</a:t>
            </a:r>
            <a:r>
              <a:rPr lang="en-US" altLang="ja-JP" dirty="0">
                <a:solidFill>
                  <a:schemeClr val="tx1"/>
                </a:solidFill>
              </a:rPr>
              <a:t>1H</a:t>
            </a:r>
            <a:r>
              <a:rPr lang="ja-JP" altLang="en-US" dirty="0">
                <a:solidFill>
                  <a:schemeClr val="tx1"/>
                </a:solidFill>
              </a:rPr>
              <a:t>／月</a:t>
            </a:r>
            <a:endParaRPr lang="en-US" altLang="ja-JP" dirty="0">
              <a:solidFill>
                <a:schemeClr val="tx1"/>
              </a:solidFill>
            </a:endParaRPr>
          </a:p>
          <a:p>
            <a:pPr algn="just"/>
            <a:r>
              <a:rPr lang="ja-JP" altLang="en-US" dirty="0">
                <a:solidFill>
                  <a:schemeClr val="tx1"/>
                </a:solidFill>
              </a:rPr>
              <a:t>　作業内容：掲示板コメント作業</a:t>
            </a:r>
            <a:endParaRPr lang="en-US" altLang="ja-JP" dirty="0">
              <a:solidFill>
                <a:schemeClr val="tx1"/>
              </a:solidFill>
            </a:endParaRPr>
          </a:p>
          <a:p>
            <a:pPr algn="just"/>
            <a:endParaRPr lang="en-US" altLang="ja-JP" dirty="0">
              <a:solidFill>
                <a:schemeClr val="tx1"/>
              </a:solidFill>
            </a:endParaRPr>
          </a:p>
          <a:p>
            <a:pPr algn="just"/>
            <a:r>
              <a:rPr lang="ja-JP" altLang="en-US" dirty="0">
                <a:solidFill>
                  <a:schemeClr val="tx1"/>
                </a:solidFill>
              </a:rPr>
              <a:t>アルバイトメンバー：</a:t>
            </a:r>
            <a:r>
              <a:rPr lang="en-US" altLang="ja-JP" dirty="0">
                <a:solidFill>
                  <a:schemeClr val="tx1"/>
                </a:solidFill>
              </a:rPr>
              <a:t>4H</a:t>
            </a:r>
            <a:r>
              <a:rPr lang="ja-JP" altLang="en-US" dirty="0">
                <a:solidFill>
                  <a:schemeClr val="tx1"/>
                </a:solidFill>
              </a:rPr>
              <a:t>／月</a:t>
            </a:r>
            <a:endParaRPr lang="en-US" altLang="ja-JP" dirty="0">
              <a:solidFill>
                <a:schemeClr val="tx1"/>
              </a:solidFill>
            </a:endParaRPr>
          </a:p>
          <a:p>
            <a:pPr algn="just"/>
            <a:r>
              <a:rPr lang="ja-JP" altLang="en-US" dirty="0">
                <a:solidFill>
                  <a:schemeClr val="tx1"/>
                </a:solidFill>
              </a:rPr>
              <a:t>　作業内容：エクセル作業</a:t>
            </a:r>
            <a:endParaRPr lang="en-US" altLang="ja-JP" dirty="0">
              <a:solidFill>
                <a:schemeClr val="tx1"/>
              </a:solidFill>
            </a:endParaRPr>
          </a:p>
          <a:p>
            <a:pPr marL="179388" algn="just"/>
            <a:endParaRPr lang="en-US" altLang="ja-JP" dirty="0">
              <a:solidFill>
                <a:schemeClr val="tx1"/>
              </a:solidFill>
            </a:endParaRPr>
          </a:p>
        </p:txBody>
      </p:sp>
      <p:sp>
        <p:nvSpPr>
          <p:cNvPr id="17" name="矢印: 五方向 16">
            <a:extLst>
              <a:ext uri="{FF2B5EF4-FFF2-40B4-BE49-F238E27FC236}">
                <a16:creationId xmlns:a16="http://schemas.microsoft.com/office/drawing/2014/main" id="{B7827389-F91D-4B78-8B33-953FD97B1329}"/>
              </a:ext>
            </a:extLst>
          </p:cNvPr>
          <p:cNvSpPr/>
          <p:nvPr/>
        </p:nvSpPr>
        <p:spPr>
          <a:xfrm>
            <a:off x="5902035" y="2783898"/>
            <a:ext cx="498765" cy="2379229"/>
          </a:xfrm>
          <a:prstGeom prst="homePlate">
            <a:avLst>
              <a:gd name="adj" fmla="val 100000"/>
            </a:avLst>
          </a:prstGeom>
          <a:solidFill>
            <a:schemeClr val="tx1">
              <a:lumMod val="50000"/>
              <a:lumOff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ja-JP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9423768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2503EB-158D-420D-926C-2D3336389206}"/>
              </a:ext>
            </a:extLst>
          </p:cNvPr>
          <p:cNvSpPr txBox="1">
            <a:spLocks/>
          </p:cNvSpPr>
          <p:nvPr/>
        </p:nvSpPr>
        <p:spPr>
          <a:xfrm>
            <a:off x="812799" y="685801"/>
            <a:ext cx="10631056" cy="1325563"/>
          </a:xfrm>
          <a:prstGeom prst="rect">
            <a:avLst/>
          </a:prstGeom>
        </p:spPr>
        <p:txBody>
          <a:bodyPr lIns="0" rIns="0" anchor="ctr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 b="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5pPr>
            <a:lvl6pPr marL="4363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6pPr>
            <a:lvl7pPr marL="872765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7pPr>
            <a:lvl8pPr marL="1309148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8pPr>
            <a:lvl9pPr marL="174553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ja-JP" altLang="en-US" b="1" kern="0" dirty="0">
                <a:latin typeface="+mn-ea"/>
                <a:ea typeface="+mn-ea"/>
              </a:rPr>
              <a:t>スケジュール：</a:t>
            </a:r>
          </a:p>
        </p:txBody>
      </p:sp>
      <p:sp>
        <p:nvSpPr>
          <p:cNvPr id="25" name="タイトル 1">
            <a:extLst>
              <a:ext uri="{FF2B5EF4-FFF2-40B4-BE49-F238E27FC236}">
                <a16:creationId xmlns:a16="http://schemas.microsoft.com/office/drawing/2014/main" id="{FBE99C8E-EA13-46BA-B9B0-40C5738A2966}"/>
              </a:ext>
            </a:extLst>
          </p:cNvPr>
          <p:cNvSpPr txBox="1">
            <a:spLocks/>
          </p:cNvSpPr>
          <p:nvPr/>
        </p:nvSpPr>
        <p:spPr>
          <a:xfrm>
            <a:off x="157945" y="33339"/>
            <a:ext cx="11285910" cy="652462"/>
          </a:xfrm>
          <a:prstGeom prst="rect">
            <a:avLst/>
          </a:prstGeom>
        </p:spPr>
        <p:txBody>
          <a:bodyPr anchor="ctr" anchorCtr="0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5pPr>
            <a:lvl6pPr marL="4363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6pPr>
            <a:lvl7pPr marL="872765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7pPr>
            <a:lvl8pPr marL="1309148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8pPr>
            <a:lvl9pPr marL="174553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ja-JP" altLang="en-US" sz="2400" b="1" kern="0" dirty="0"/>
              <a:t>商品統合管理室　リスク管理業務改善資料</a:t>
            </a:r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19439AF4-BAF6-4127-A922-15F3CA96E6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8066193"/>
              </p:ext>
            </p:extLst>
          </p:nvPr>
        </p:nvGraphicFramePr>
        <p:xfrm>
          <a:off x="812799" y="1654477"/>
          <a:ext cx="10631048" cy="43032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0360">
                  <a:extLst>
                    <a:ext uri="{9D8B030D-6E8A-4147-A177-3AD203B41FA5}">
                      <a16:colId xmlns:a16="http://schemas.microsoft.com/office/drawing/2014/main" val="1094240631"/>
                    </a:ext>
                  </a:extLst>
                </a:gridCol>
                <a:gridCol w="486918">
                  <a:extLst>
                    <a:ext uri="{9D8B030D-6E8A-4147-A177-3AD203B41FA5}">
                      <a16:colId xmlns:a16="http://schemas.microsoft.com/office/drawing/2014/main" val="91260369"/>
                    </a:ext>
                  </a:extLst>
                </a:gridCol>
                <a:gridCol w="486918">
                  <a:extLst>
                    <a:ext uri="{9D8B030D-6E8A-4147-A177-3AD203B41FA5}">
                      <a16:colId xmlns:a16="http://schemas.microsoft.com/office/drawing/2014/main" val="3280100769"/>
                    </a:ext>
                  </a:extLst>
                </a:gridCol>
                <a:gridCol w="486918">
                  <a:extLst>
                    <a:ext uri="{9D8B030D-6E8A-4147-A177-3AD203B41FA5}">
                      <a16:colId xmlns:a16="http://schemas.microsoft.com/office/drawing/2014/main" val="2740403993"/>
                    </a:ext>
                  </a:extLst>
                </a:gridCol>
                <a:gridCol w="486918">
                  <a:extLst>
                    <a:ext uri="{9D8B030D-6E8A-4147-A177-3AD203B41FA5}">
                      <a16:colId xmlns:a16="http://schemas.microsoft.com/office/drawing/2014/main" val="3169392085"/>
                    </a:ext>
                  </a:extLst>
                </a:gridCol>
                <a:gridCol w="486918">
                  <a:extLst>
                    <a:ext uri="{9D8B030D-6E8A-4147-A177-3AD203B41FA5}">
                      <a16:colId xmlns:a16="http://schemas.microsoft.com/office/drawing/2014/main" val="2687534715"/>
                    </a:ext>
                  </a:extLst>
                </a:gridCol>
                <a:gridCol w="486918">
                  <a:extLst>
                    <a:ext uri="{9D8B030D-6E8A-4147-A177-3AD203B41FA5}">
                      <a16:colId xmlns:a16="http://schemas.microsoft.com/office/drawing/2014/main" val="3915812882"/>
                    </a:ext>
                  </a:extLst>
                </a:gridCol>
                <a:gridCol w="486918">
                  <a:extLst>
                    <a:ext uri="{9D8B030D-6E8A-4147-A177-3AD203B41FA5}">
                      <a16:colId xmlns:a16="http://schemas.microsoft.com/office/drawing/2014/main" val="2242604260"/>
                    </a:ext>
                  </a:extLst>
                </a:gridCol>
                <a:gridCol w="486918">
                  <a:extLst>
                    <a:ext uri="{9D8B030D-6E8A-4147-A177-3AD203B41FA5}">
                      <a16:colId xmlns:a16="http://schemas.microsoft.com/office/drawing/2014/main" val="2308000764"/>
                    </a:ext>
                  </a:extLst>
                </a:gridCol>
                <a:gridCol w="486918">
                  <a:extLst>
                    <a:ext uri="{9D8B030D-6E8A-4147-A177-3AD203B41FA5}">
                      <a16:colId xmlns:a16="http://schemas.microsoft.com/office/drawing/2014/main" val="712144559"/>
                    </a:ext>
                  </a:extLst>
                </a:gridCol>
                <a:gridCol w="486918">
                  <a:extLst>
                    <a:ext uri="{9D8B030D-6E8A-4147-A177-3AD203B41FA5}">
                      <a16:colId xmlns:a16="http://schemas.microsoft.com/office/drawing/2014/main" val="3981383607"/>
                    </a:ext>
                  </a:extLst>
                </a:gridCol>
                <a:gridCol w="486918">
                  <a:extLst>
                    <a:ext uri="{9D8B030D-6E8A-4147-A177-3AD203B41FA5}">
                      <a16:colId xmlns:a16="http://schemas.microsoft.com/office/drawing/2014/main" val="277075500"/>
                    </a:ext>
                  </a:extLst>
                </a:gridCol>
                <a:gridCol w="486918">
                  <a:extLst>
                    <a:ext uri="{9D8B030D-6E8A-4147-A177-3AD203B41FA5}">
                      <a16:colId xmlns:a16="http://schemas.microsoft.com/office/drawing/2014/main" val="4058243257"/>
                    </a:ext>
                  </a:extLst>
                </a:gridCol>
                <a:gridCol w="486918">
                  <a:extLst>
                    <a:ext uri="{9D8B030D-6E8A-4147-A177-3AD203B41FA5}">
                      <a16:colId xmlns:a16="http://schemas.microsoft.com/office/drawing/2014/main" val="3824668894"/>
                    </a:ext>
                  </a:extLst>
                </a:gridCol>
                <a:gridCol w="486918">
                  <a:extLst>
                    <a:ext uri="{9D8B030D-6E8A-4147-A177-3AD203B41FA5}">
                      <a16:colId xmlns:a16="http://schemas.microsoft.com/office/drawing/2014/main" val="3355613285"/>
                    </a:ext>
                  </a:extLst>
                </a:gridCol>
                <a:gridCol w="486918">
                  <a:extLst>
                    <a:ext uri="{9D8B030D-6E8A-4147-A177-3AD203B41FA5}">
                      <a16:colId xmlns:a16="http://schemas.microsoft.com/office/drawing/2014/main" val="2355289608"/>
                    </a:ext>
                  </a:extLst>
                </a:gridCol>
                <a:gridCol w="486918">
                  <a:extLst>
                    <a:ext uri="{9D8B030D-6E8A-4147-A177-3AD203B41FA5}">
                      <a16:colId xmlns:a16="http://schemas.microsoft.com/office/drawing/2014/main" val="2437405296"/>
                    </a:ext>
                  </a:extLst>
                </a:gridCol>
              </a:tblGrid>
              <a:tr h="70371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solidFill>
                            <a:schemeClr val="tx1"/>
                          </a:solidFill>
                        </a:rPr>
                        <a:t>施策案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kumimoji="1" lang="ja-JP" altLang="en-US" dirty="0">
                          <a:solidFill>
                            <a:schemeClr val="tx1"/>
                          </a:solidFill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kumimoji="1" lang="ja-JP" altLang="en-US" dirty="0">
                          <a:solidFill>
                            <a:schemeClr val="tx1"/>
                          </a:solidFill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6</a:t>
                      </a:r>
                      <a:r>
                        <a:rPr kumimoji="1" lang="ja-JP" altLang="en-US" dirty="0">
                          <a:solidFill>
                            <a:schemeClr val="tx1"/>
                          </a:solidFill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7</a:t>
                      </a:r>
                      <a:r>
                        <a:rPr kumimoji="1" lang="ja-JP" altLang="en-US" dirty="0">
                          <a:solidFill>
                            <a:schemeClr val="tx1"/>
                          </a:solidFill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475699"/>
                  </a:ext>
                </a:extLst>
              </a:tr>
              <a:tr h="730711">
                <a:tc>
                  <a:txBody>
                    <a:bodyPr/>
                    <a:lstStyle/>
                    <a:p>
                      <a:pPr marL="0" marR="0" lvl="0" indent="0" algn="l" defTabSz="872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400" b="0" dirty="0">
                          <a:solidFill>
                            <a:schemeClr val="tx1"/>
                          </a:solidFill>
                        </a:rPr>
                        <a:t>改善計画と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872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400" b="0" dirty="0">
                          <a:solidFill>
                            <a:schemeClr val="tx1"/>
                          </a:solidFill>
                        </a:rPr>
                        <a:t>全体の業務フローを再構築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0467418"/>
                  </a:ext>
                </a:extLst>
              </a:tr>
              <a:tr h="730711">
                <a:tc>
                  <a:txBody>
                    <a:bodyPr/>
                    <a:lstStyle/>
                    <a:p>
                      <a:pPr marL="0" marR="0" lvl="0" indent="0" algn="l" defTabSz="872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400" dirty="0">
                          <a:solidFill>
                            <a:srgbClr val="000000"/>
                          </a:solidFill>
                          <a:latin typeface="+mn-ea"/>
                        </a:rPr>
                        <a:t>データの流れフローを設計</a:t>
                      </a:r>
                      <a:endParaRPr lang="ja-JP" altLang="en-US"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5430542"/>
                  </a:ext>
                </a:extLst>
              </a:tr>
              <a:tr h="730711">
                <a:tc>
                  <a:txBody>
                    <a:bodyPr/>
                    <a:lstStyle/>
                    <a:p>
                      <a:pPr marL="0" marR="0" lvl="0" indent="0" algn="l" defTabSz="872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 b="0" dirty="0">
                          <a:solidFill>
                            <a:schemeClr val="tx1"/>
                          </a:solidFill>
                        </a:rPr>
                        <a:t>WF</a:t>
                      </a:r>
                      <a:r>
                        <a:rPr lang="ja-JP" altLang="en-US" sz="1400" b="0" dirty="0">
                          <a:solidFill>
                            <a:schemeClr val="tx1"/>
                          </a:solidFill>
                        </a:rPr>
                        <a:t>へ統合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6200800"/>
                  </a:ext>
                </a:extLst>
              </a:tr>
              <a:tr h="703710">
                <a:tc>
                  <a:txBody>
                    <a:bodyPr/>
                    <a:lstStyle/>
                    <a:p>
                      <a:r>
                        <a:rPr lang="ja-JP" altLang="ja-JP" sz="1400" dirty="0">
                          <a:solidFill>
                            <a:schemeClr val="tx1"/>
                          </a:solidFill>
                        </a:rPr>
                        <a:t>ツールの再設計と構築</a:t>
                      </a:r>
                      <a:endParaRPr lang="ja-JP" altLang="ja-JP" sz="1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2450242"/>
                  </a:ext>
                </a:extLst>
              </a:tr>
              <a:tr h="703710">
                <a:tc>
                  <a:txBody>
                    <a:bodyPr/>
                    <a:lstStyle/>
                    <a:p>
                      <a:pPr marL="0" marR="0" lvl="0" indent="0" algn="l" defTabSz="872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400" b="0" dirty="0">
                          <a:solidFill>
                            <a:schemeClr val="tx1"/>
                          </a:solidFill>
                        </a:rPr>
                        <a:t>各工程フローやマニュアルを更新</a:t>
                      </a:r>
                      <a:endParaRPr lang="en-US" altLang="ja-JP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693380"/>
                  </a:ext>
                </a:extLst>
              </a:tr>
            </a:tbl>
          </a:graphicData>
        </a:graphic>
      </p:graphicFrame>
      <p:sp>
        <p:nvSpPr>
          <p:cNvPr id="13" name="矢印: 五方向 12">
            <a:extLst>
              <a:ext uri="{FF2B5EF4-FFF2-40B4-BE49-F238E27FC236}">
                <a16:creationId xmlns:a16="http://schemas.microsoft.com/office/drawing/2014/main" id="{EF44DDB6-534D-4D64-93A0-542FDFEF16DB}"/>
              </a:ext>
            </a:extLst>
          </p:cNvPr>
          <p:cNvSpPr/>
          <p:nvPr/>
        </p:nvSpPr>
        <p:spPr>
          <a:xfrm>
            <a:off x="6587051" y="3990108"/>
            <a:ext cx="1947341" cy="406400"/>
          </a:xfrm>
          <a:prstGeom prst="homePlate">
            <a:avLst/>
          </a:prstGeom>
          <a:solidFill>
            <a:schemeClr val="accent5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ja-JP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</p:txBody>
      </p:sp>
      <p:sp>
        <p:nvSpPr>
          <p:cNvPr id="14" name="矢印: 五方向 13">
            <a:extLst>
              <a:ext uri="{FF2B5EF4-FFF2-40B4-BE49-F238E27FC236}">
                <a16:creationId xmlns:a16="http://schemas.microsoft.com/office/drawing/2014/main" id="{074138BC-846C-4F81-91E6-AC89013E8F23}"/>
              </a:ext>
            </a:extLst>
          </p:cNvPr>
          <p:cNvSpPr/>
          <p:nvPr/>
        </p:nvSpPr>
        <p:spPr>
          <a:xfrm>
            <a:off x="3635345" y="2521526"/>
            <a:ext cx="2460655" cy="406400"/>
          </a:xfrm>
          <a:prstGeom prst="homePlate">
            <a:avLst/>
          </a:prstGeom>
          <a:solidFill>
            <a:schemeClr val="accent5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ja-JP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</p:txBody>
      </p:sp>
      <p:sp>
        <p:nvSpPr>
          <p:cNvPr id="15" name="矢印: 五方向 14">
            <a:extLst>
              <a:ext uri="{FF2B5EF4-FFF2-40B4-BE49-F238E27FC236}">
                <a16:creationId xmlns:a16="http://schemas.microsoft.com/office/drawing/2014/main" id="{A10B51CB-91B6-42E6-8F8F-FEFDEB3BF171}"/>
              </a:ext>
            </a:extLst>
          </p:cNvPr>
          <p:cNvSpPr/>
          <p:nvPr/>
        </p:nvSpPr>
        <p:spPr>
          <a:xfrm>
            <a:off x="6084868" y="3260435"/>
            <a:ext cx="502183" cy="406400"/>
          </a:xfrm>
          <a:prstGeom prst="homePlate">
            <a:avLst/>
          </a:prstGeom>
          <a:solidFill>
            <a:schemeClr val="accent5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ja-JP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</p:txBody>
      </p:sp>
      <p:sp>
        <p:nvSpPr>
          <p:cNvPr id="11" name="矢印: 五方向 10">
            <a:extLst>
              <a:ext uri="{FF2B5EF4-FFF2-40B4-BE49-F238E27FC236}">
                <a16:creationId xmlns:a16="http://schemas.microsoft.com/office/drawing/2014/main" id="{D515829A-ABAF-4A39-A7B8-E416C9AE4905}"/>
              </a:ext>
            </a:extLst>
          </p:cNvPr>
          <p:cNvSpPr/>
          <p:nvPr/>
        </p:nvSpPr>
        <p:spPr>
          <a:xfrm>
            <a:off x="8986982" y="5410054"/>
            <a:ext cx="498763" cy="406400"/>
          </a:xfrm>
          <a:prstGeom prst="homePlate">
            <a:avLst/>
          </a:prstGeom>
          <a:solidFill>
            <a:schemeClr val="accent5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説明会</a:t>
            </a:r>
          </a:p>
        </p:txBody>
      </p:sp>
      <p:sp>
        <p:nvSpPr>
          <p:cNvPr id="16" name="矢印: 五方向 15">
            <a:extLst>
              <a:ext uri="{FF2B5EF4-FFF2-40B4-BE49-F238E27FC236}">
                <a16:creationId xmlns:a16="http://schemas.microsoft.com/office/drawing/2014/main" id="{60EB2D3C-8286-4D30-B060-5B1C338B59E3}"/>
              </a:ext>
            </a:extLst>
          </p:cNvPr>
          <p:cNvSpPr/>
          <p:nvPr/>
        </p:nvSpPr>
        <p:spPr>
          <a:xfrm>
            <a:off x="9485745" y="3971636"/>
            <a:ext cx="1958102" cy="406400"/>
          </a:xfrm>
          <a:prstGeom prst="homePlate">
            <a:avLst/>
          </a:prstGeom>
          <a:solidFill>
            <a:schemeClr val="accent5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本運用</a:t>
            </a:r>
          </a:p>
        </p:txBody>
      </p:sp>
      <p:sp>
        <p:nvSpPr>
          <p:cNvPr id="17" name="矢印: 五方向 16">
            <a:extLst>
              <a:ext uri="{FF2B5EF4-FFF2-40B4-BE49-F238E27FC236}">
                <a16:creationId xmlns:a16="http://schemas.microsoft.com/office/drawing/2014/main" id="{88DF4DD9-E8BC-47D6-9E3B-8C6BBE4BBE8A}"/>
              </a:ext>
            </a:extLst>
          </p:cNvPr>
          <p:cNvSpPr/>
          <p:nvPr/>
        </p:nvSpPr>
        <p:spPr>
          <a:xfrm>
            <a:off x="8534392" y="3971636"/>
            <a:ext cx="498764" cy="406400"/>
          </a:xfrm>
          <a:prstGeom prst="homePlate">
            <a:avLst/>
          </a:prstGeom>
          <a:solidFill>
            <a:schemeClr val="accent5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テスト</a:t>
            </a:r>
          </a:p>
        </p:txBody>
      </p:sp>
      <p:sp>
        <p:nvSpPr>
          <p:cNvPr id="18" name="矢印: 五方向 17">
            <a:extLst>
              <a:ext uri="{FF2B5EF4-FFF2-40B4-BE49-F238E27FC236}">
                <a16:creationId xmlns:a16="http://schemas.microsoft.com/office/drawing/2014/main" id="{F2D63F27-ECB3-4618-9621-96E27FD0C12A}"/>
              </a:ext>
            </a:extLst>
          </p:cNvPr>
          <p:cNvSpPr/>
          <p:nvPr/>
        </p:nvSpPr>
        <p:spPr>
          <a:xfrm>
            <a:off x="7546109" y="5410054"/>
            <a:ext cx="1440865" cy="406400"/>
          </a:xfrm>
          <a:prstGeom prst="homePlate">
            <a:avLst/>
          </a:prstGeom>
          <a:solidFill>
            <a:schemeClr val="accent5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ja-JP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</p:txBody>
      </p:sp>
      <p:sp>
        <p:nvSpPr>
          <p:cNvPr id="26" name="矢印: 五方向 25">
            <a:extLst>
              <a:ext uri="{FF2B5EF4-FFF2-40B4-BE49-F238E27FC236}">
                <a16:creationId xmlns:a16="http://schemas.microsoft.com/office/drawing/2014/main" id="{F88CE491-D0FC-4BC4-8416-072B53906CCC}"/>
              </a:ext>
            </a:extLst>
          </p:cNvPr>
          <p:cNvSpPr/>
          <p:nvPr/>
        </p:nvSpPr>
        <p:spPr>
          <a:xfrm>
            <a:off x="6587052" y="4710544"/>
            <a:ext cx="1947340" cy="406400"/>
          </a:xfrm>
          <a:prstGeom prst="homePlate">
            <a:avLst/>
          </a:prstGeom>
          <a:solidFill>
            <a:schemeClr val="accent5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ja-JP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611856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119475C-2016-48FD-A0D5-9982734533DC}"/>
              </a:ext>
            </a:extLst>
          </p:cNvPr>
          <p:cNvSpPr/>
          <p:nvPr/>
        </p:nvSpPr>
        <p:spPr>
          <a:xfrm>
            <a:off x="748145" y="2316376"/>
            <a:ext cx="4535055" cy="3520989"/>
          </a:xfrm>
          <a:prstGeom prst="rect">
            <a:avLst/>
          </a:prstGeom>
          <a:solidFill>
            <a:schemeClr val="bg1"/>
          </a:solidFill>
          <a:ln w="12700">
            <a:solidFill>
              <a:srgbClr val="00B0F0"/>
            </a:solidFill>
          </a:ln>
          <a:effectLst>
            <a:outerShdw dist="38100" sx="1000" sy="1000" algn="tl" rotWithShape="0">
              <a:prstClr val="black"/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prstMaterial="powder">
            <a:bevelB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216000" rIns="216000" bIns="21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60363" indent="-184150"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rgbClr val="000000"/>
                </a:solidFill>
                <a:latin typeface="+mn-ea"/>
              </a:rPr>
              <a:t>データの更新差異の発生リスクが減る。</a:t>
            </a:r>
            <a:endParaRPr lang="en-US" altLang="ja-JP" dirty="0">
              <a:solidFill>
                <a:srgbClr val="000000"/>
              </a:solidFill>
              <a:latin typeface="+mn-ea"/>
            </a:endParaRPr>
          </a:p>
          <a:p>
            <a:pPr marL="360363" indent="-184150"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rgbClr val="000000"/>
                </a:solidFill>
                <a:latin typeface="+mn-ea"/>
              </a:rPr>
              <a:t>追加や更新の際の繁雑な作業がなくなる。</a:t>
            </a:r>
            <a:endParaRPr lang="en-US" altLang="ja-JP" dirty="0">
              <a:solidFill>
                <a:srgbClr val="000000"/>
              </a:solidFill>
              <a:latin typeface="+mn-ea"/>
            </a:endParaRPr>
          </a:p>
          <a:p>
            <a:pPr marL="360363" indent="-184150"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rgbClr val="000000"/>
                </a:solidFill>
                <a:latin typeface="+mn-ea"/>
              </a:rPr>
              <a:t>データの記入不備が削減される。</a:t>
            </a:r>
            <a:endParaRPr lang="en-US" altLang="ja-JP" dirty="0">
              <a:solidFill>
                <a:srgbClr val="000000"/>
              </a:solidFill>
              <a:latin typeface="+mn-ea"/>
            </a:endParaRPr>
          </a:p>
          <a:p>
            <a:pPr marL="360363" indent="-184150"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rgbClr val="000000"/>
                </a:solidFill>
                <a:latin typeface="+mn-ea"/>
              </a:rPr>
              <a:t>データの管理がシンプルになる。</a:t>
            </a:r>
            <a:endParaRPr lang="en-US" altLang="ja-JP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E089CBB-7134-4DC4-8F99-B7B5CBA7446D}"/>
              </a:ext>
            </a:extLst>
          </p:cNvPr>
          <p:cNvSpPr/>
          <p:nvPr/>
        </p:nvSpPr>
        <p:spPr>
          <a:xfrm>
            <a:off x="748145" y="2011364"/>
            <a:ext cx="4535055" cy="305013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  <a:scene3d>
            <a:camera prst="orthographicFront"/>
            <a:lightRig rig="contrasting" dir="t">
              <a:rot lat="0" lon="0" rev="2400000"/>
            </a:lightRig>
          </a:scene3d>
          <a:sp3d prstMaterial="powder">
            <a:bevelB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3600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600" b="1" kern="0" dirty="0">
                <a:latin typeface="+mn-ea"/>
              </a:rPr>
              <a:t>フロー変更とシステム統合による効果</a:t>
            </a:r>
            <a:endParaRPr lang="ja-JP" altLang="en-US" sz="1626" b="1" dirty="0">
              <a:solidFill>
                <a:schemeClr val="bg1"/>
              </a:solidFill>
              <a:latin typeface="+mn-ea"/>
              <a:cs typeface="Meiryo" charset="-128"/>
            </a:endParaRPr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D719D24B-810A-4505-A3BB-650108201197}"/>
              </a:ext>
            </a:extLst>
          </p:cNvPr>
          <p:cNvSpPr txBox="1">
            <a:spLocks/>
          </p:cNvSpPr>
          <p:nvPr/>
        </p:nvSpPr>
        <p:spPr>
          <a:xfrm>
            <a:off x="157945" y="33338"/>
            <a:ext cx="11285910" cy="652462"/>
          </a:xfrm>
          <a:prstGeom prst="rect">
            <a:avLst/>
          </a:prstGeom>
        </p:spPr>
        <p:txBody>
          <a:bodyPr anchor="ctr" anchorCtr="0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5pPr>
            <a:lvl6pPr marL="4363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6pPr>
            <a:lvl7pPr marL="872765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7pPr>
            <a:lvl8pPr marL="1309148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8pPr>
            <a:lvl9pPr marL="174553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ja-JP" altLang="en-US" sz="2400" b="1" kern="0" dirty="0"/>
              <a:t>商品統合管理室　リスク管理業務改善資料</a:t>
            </a:r>
          </a:p>
        </p:txBody>
      </p:sp>
      <p:sp>
        <p:nvSpPr>
          <p:cNvPr id="7" name="タイトル 1">
            <a:extLst>
              <a:ext uri="{FF2B5EF4-FFF2-40B4-BE49-F238E27FC236}">
                <a16:creationId xmlns:a16="http://schemas.microsoft.com/office/drawing/2014/main" id="{D42C57FF-6DE3-49BC-9271-22A6967D672F}"/>
              </a:ext>
            </a:extLst>
          </p:cNvPr>
          <p:cNvSpPr txBox="1">
            <a:spLocks/>
          </p:cNvSpPr>
          <p:nvPr/>
        </p:nvSpPr>
        <p:spPr>
          <a:xfrm>
            <a:off x="748145" y="685801"/>
            <a:ext cx="10695710" cy="1325563"/>
          </a:xfrm>
          <a:prstGeom prst="rect">
            <a:avLst/>
          </a:prstGeom>
        </p:spPr>
        <p:txBody>
          <a:bodyPr lIns="0" rIns="0" anchor="ctr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 b="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5pPr>
            <a:lvl6pPr marL="4363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6pPr>
            <a:lvl7pPr marL="872765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7pPr>
            <a:lvl8pPr marL="1309148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8pPr>
            <a:lvl9pPr marL="174553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spcBef>
                <a:spcPts val="1219"/>
              </a:spcBef>
              <a:buClrTx/>
            </a:pPr>
            <a:r>
              <a:rPr lang="ja-JP" altLang="en-US" b="1" kern="0" dirty="0">
                <a:latin typeface="+mn-ea"/>
              </a:rPr>
              <a:t>期待される効果について：</a:t>
            </a:r>
            <a:endParaRPr lang="en-US" altLang="ja-JP" b="1" kern="0" dirty="0">
              <a:latin typeface="+mn-ea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47A98508-85DF-4B43-B90F-7AD502FA7F11}"/>
              </a:ext>
            </a:extLst>
          </p:cNvPr>
          <p:cNvSpPr/>
          <p:nvPr/>
        </p:nvSpPr>
        <p:spPr>
          <a:xfrm>
            <a:off x="6908802" y="2011364"/>
            <a:ext cx="4535055" cy="305013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  <a:scene3d>
            <a:camera prst="orthographicFront"/>
            <a:lightRig rig="contrasting" dir="t">
              <a:rot lat="0" lon="0" rev="2400000"/>
            </a:lightRig>
          </a:scene3d>
          <a:sp3d prstMaterial="powder">
            <a:bevelB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3600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600" b="1" kern="0" dirty="0">
                <a:latin typeface="+mn-ea"/>
              </a:rPr>
              <a:t>つまり</a:t>
            </a:r>
            <a:endParaRPr lang="ja-JP" altLang="en-US" sz="1626" b="1" dirty="0">
              <a:solidFill>
                <a:schemeClr val="bg1"/>
              </a:solidFill>
              <a:latin typeface="+mn-ea"/>
              <a:cs typeface="Meiryo" charset="-128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792AD09C-A66D-4D79-9B8F-FFB7988D604E}"/>
              </a:ext>
            </a:extLst>
          </p:cNvPr>
          <p:cNvSpPr/>
          <p:nvPr/>
        </p:nvSpPr>
        <p:spPr>
          <a:xfrm>
            <a:off x="6908802" y="2316376"/>
            <a:ext cx="4535055" cy="3521005"/>
          </a:xfrm>
          <a:prstGeom prst="rect">
            <a:avLst/>
          </a:prstGeom>
          <a:solidFill>
            <a:schemeClr val="bg1"/>
          </a:solidFill>
          <a:ln w="12700">
            <a:solidFill>
              <a:srgbClr val="00B0F0"/>
            </a:solidFill>
          </a:ln>
          <a:effectLst>
            <a:outerShdw dist="38100" sx="1000" sy="1000" algn="tl" rotWithShape="0">
              <a:prstClr val="black"/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prstMaterial="powder">
            <a:bevelB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216000" rIns="216000" bIns="21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58775" indent="-179388"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chemeClr val="tx1"/>
                </a:solidFill>
              </a:rPr>
              <a:t>作成および管理工数の削減できる。</a:t>
            </a:r>
            <a:endParaRPr lang="en-US" altLang="ja-JP" dirty="0">
              <a:solidFill>
                <a:schemeClr val="tx1"/>
              </a:solidFill>
            </a:endParaRPr>
          </a:p>
          <a:p>
            <a:pPr marL="358775" indent="-179388"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chemeClr val="tx1"/>
                </a:solidFill>
              </a:rPr>
              <a:t>作業ミスが防止できる。</a:t>
            </a:r>
            <a:endParaRPr lang="en-US" altLang="ja-JP" dirty="0">
              <a:solidFill>
                <a:schemeClr val="tx1"/>
              </a:solidFill>
            </a:endParaRPr>
          </a:p>
          <a:p>
            <a:pPr marL="358775" indent="-179388"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chemeClr val="tx1"/>
                </a:solidFill>
              </a:rPr>
              <a:t>作業効率が</a:t>
            </a:r>
            <a:r>
              <a:rPr lang="en-US" altLang="ja-JP" dirty="0">
                <a:solidFill>
                  <a:schemeClr val="tx1"/>
                </a:solidFill>
              </a:rPr>
              <a:t>UP</a:t>
            </a:r>
            <a:r>
              <a:rPr lang="ja-JP" altLang="en-US" dirty="0">
                <a:solidFill>
                  <a:schemeClr val="tx1"/>
                </a:solidFill>
              </a:rPr>
              <a:t>する。</a:t>
            </a:r>
            <a:endParaRPr lang="en-US" altLang="ja-JP" dirty="0">
              <a:solidFill>
                <a:schemeClr val="tx1"/>
              </a:solidFill>
            </a:endParaRPr>
          </a:p>
        </p:txBody>
      </p:sp>
      <p:sp>
        <p:nvSpPr>
          <p:cNvPr id="15" name="矢印: 五方向 14">
            <a:extLst>
              <a:ext uri="{FF2B5EF4-FFF2-40B4-BE49-F238E27FC236}">
                <a16:creationId xmlns:a16="http://schemas.microsoft.com/office/drawing/2014/main" id="{EC3EC229-E19D-4784-B7DC-2FBF31B76775}"/>
              </a:ext>
            </a:extLst>
          </p:cNvPr>
          <p:cNvSpPr/>
          <p:nvPr/>
        </p:nvSpPr>
        <p:spPr>
          <a:xfrm>
            <a:off x="5902035" y="2783898"/>
            <a:ext cx="498765" cy="2379229"/>
          </a:xfrm>
          <a:prstGeom prst="homePlate">
            <a:avLst>
              <a:gd name="adj" fmla="val 100000"/>
            </a:avLst>
          </a:prstGeom>
          <a:solidFill>
            <a:schemeClr val="tx1">
              <a:lumMod val="50000"/>
              <a:lumOff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ja-JP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573461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119475C-2016-48FD-A0D5-9982734533DC}"/>
              </a:ext>
            </a:extLst>
          </p:cNvPr>
          <p:cNvSpPr/>
          <p:nvPr/>
        </p:nvSpPr>
        <p:spPr>
          <a:xfrm>
            <a:off x="748145" y="2316376"/>
            <a:ext cx="4535055" cy="3520989"/>
          </a:xfrm>
          <a:prstGeom prst="rect">
            <a:avLst/>
          </a:prstGeom>
          <a:solidFill>
            <a:schemeClr val="bg1"/>
          </a:solidFill>
          <a:ln w="12700">
            <a:solidFill>
              <a:srgbClr val="00B0F0"/>
            </a:solidFill>
          </a:ln>
          <a:effectLst>
            <a:outerShdw dist="38100" sx="1000" sy="1000" algn="tl" rotWithShape="0">
              <a:prstClr val="black"/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prstMaterial="powder">
            <a:bevelB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216000" rIns="216000" bIns="21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ja-JP" altLang="en-US" dirty="0">
                <a:solidFill>
                  <a:schemeClr val="tx1"/>
                </a:solidFill>
              </a:rPr>
              <a:t>システムを統合すると、業務フローや事務処理が効率化し、複数のシステムの維持コストの削減につながるため、合併・経営統合のメリットを最大化できる。  </a:t>
            </a:r>
            <a:endParaRPr lang="en-US" altLang="ja-JP" dirty="0">
              <a:solidFill>
                <a:schemeClr val="tx1"/>
              </a:solidFill>
            </a:endParaRPr>
          </a:p>
          <a:p>
            <a:endParaRPr lang="en-US" altLang="ja-JP" dirty="0">
              <a:solidFill>
                <a:schemeClr val="tx1"/>
              </a:solidFill>
            </a:endParaRPr>
          </a:p>
          <a:p>
            <a:r>
              <a:rPr lang="ja-JP" altLang="en-US" dirty="0">
                <a:solidFill>
                  <a:schemeClr val="tx1"/>
                </a:solidFill>
              </a:rPr>
              <a:t>一番多いのは、</a:t>
            </a:r>
            <a:r>
              <a:rPr lang="en-US" altLang="ja-JP" dirty="0">
                <a:solidFill>
                  <a:schemeClr val="tx1"/>
                </a:solidFill>
              </a:rPr>
              <a:t>1</a:t>
            </a:r>
            <a:r>
              <a:rPr lang="ja-JP" altLang="en-US" dirty="0" err="1">
                <a:solidFill>
                  <a:schemeClr val="tx1"/>
                </a:solidFill>
              </a:rPr>
              <a:t>つの</a:t>
            </a:r>
            <a:r>
              <a:rPr lang="ja-JP" altLang="en-US" dirty="0">
                <a:solidFill>
                  <a:schemeClr val="tx1"/>
                </a:solidFill>
              </a:rPr>
              <a:t>システムを残しながら、他のデータを変換・移行する「片寄せ」と呼ばれるもの。</a:t>
            </a:r>
            <a:r>
              <a:rPr lang="ja-JP" altLang="en-US" dirty="0">
                <a:solidFill>
                  <a:schemeClr val="tx1"/>
                </a:solidFill>
                <a:latin typeface="+mn-ea"/>
              </a:rPr>
              <a:t>（</a:t>
            </a:r>
            <a:r>
              <a:rPr lang="en-US" altLang="ja-JP" dirty="0">
                <a:solidFill>
                  <a:schemeClr val="tx1"/>
                </a:solidFill>
                <a:latin typeface="+mn-ea"/>
              </a:rPr>
              <a:t>Google</a:t>
            </a:r>
            <a:r>
              <a:rPr lang="ja-JP" altLang="en-US" dirty="0">
                <a:solidFill>
                  <a:schemeClr val="tx1"/>
                </a:solidFill>
                <a:latin typeface="+mn-ea"/>
              </a:rPr>
              <a:t>より）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E089CBB-7134-4DC4-8F99-B7B5CBA7446D}"/>
              </a:ext>
            </a:extLst>
          </p:cNvPr>
          <p:cNvSpPr/>
          <p:nvPr/>
        </p:nvSpPr>
        <p:spPr>
          <a:xfrm>
            <a:off x="748145" y="2011364"/>
            <a:ext cx="4535055" cy="305013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  <a:scene3d>
            <a:camera prst="orthographicFront"/>
            <a:lightRig rig="contrasting" dir="t">
              <a:rot lat="0" lon="0" rev="2400000"/>
            </a:lightRig>
          </a:scene3d>
          <a:sp3d prstMaterial="powder">
            <a:bevelB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3600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600" b="1" dirty="0">
                <a:solidFill>
                  <a:schemeClr val="bg1"/>
                </a:solidFill>
                <a:latin typeface="+mn-ea"/>
              </a:rPr>
              <a:t>システム統合に関して、</a:t>
            </a:r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D719D24B-810A-4505-A3BB-650108201197}"/>
              </a:ext>
            </a:extLst>
          </p:cNvPr>
          <p:cNvSpPr txBox="1">
            <a:spLocks/>
          </p:cNvSpPr>
          <p:nvPr/>
        </p:nvSpPr>
        <p:spPr>
          <a:xfrm>
            <a:off x="157945" y="33338"/>
            <a:ext cx="11285910" cy="652462"/>
          </a:xfrm>
          <a:prstGeom prst="rect">
            <a:avLst/>
          </a:prstGeom>
        </p:spPr>
        <p:txBody>
          <a:bodyPr anchor="ctr" anchorCtr="0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5pPr>
            <a:lvl6pPr marL="4363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6pPr>
            <a:lvl7pPr marL="872765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7pPr>
            <a:lvl8pPr marL="1309148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8pPr>
            <a:lvl9pPr marL="174553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ja-JP" altLang="en-US" sz="2400" b="1" kern="0" dirty="0"/>
              <a:t>商品統合管理室　リスク管理業務改善資料</a:t>
            </a:r>
          </a:p>
        </p:txBody>
      </p:sp>
      <p:sp>
        <p:nvSpPr>
          <p:cNvPr id="7" name="タイトル 1">
            <a:extLst>
              <a:ext uri="{FF2B5EF4-FFF2-40B4-BE49-F238E27FC236}">
                <a16:creationId xmlns:a16="http://schemas.microsoft.com/office/drawing/2014/main" id="{D42C57FF-6DE3-49BC-9271-22A6967D672F}"/>
              </a:ext>
            </a:extLst>
          </p:cNvPr>
          <p:cNvSpPr txBox="1">
            <a:spLocks/>
          </p:cNvSpPr>
          <p:nvPr/>
        </p:nvSpPr>
        <p:spPr>
          <a:xfrm>
            <a:off x="748145" y="685801"/>
            <a:ext cx="10695710" cy="1325563"/>
          </a:xfrm>
          <a:prstGeom prst="rect">
            <a:avLst/>
          </a:prstGeom>
        </p:spPr>
        <p:txBody>
          <a:bodyPr lIns="0" rIns="0" anchor="ctr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 b="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5pPr>
            <a:lvl6pPr marL="4363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6pPr>
            <a:lvl7pPr marL="872765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7pPr>
            <a:lvl8pPr marL="1309148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8pPr>
            <a:lvl9pPr marL="174553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ja-JP" altLang="en-US" b="1" dirty="0">
                <a:solidFill>
                  <a:srgbClr val="000000"/>
                </a:solidFill>
                <a:latin typeface="+mn-ea"/>
              </a:rPr>
              <a:t>ちなみに</a:t>
            </a:r>
            <a:endParaRPr lang="en-US" altLang="ja-JP" b="1" dirty="0">
              <a:solidFill>
                <a:srgbClr val="000000"/>
              </a:solidFill>
              <a:latin typeface="+mn-ea"/>
            </a:endParaRPr>
          </a:p>
          <a:p>
            <a:r>
              <a:rPr lang="ja-JP" altLang="en-US" b="1" dirty="0">
                <a:solidFill>
                  <a:srgbClr val="000000"/>
                </a:solidFill>
                <a:latin typeface="+mn-ea"/>
              </a:rPr>
              <a:t>今回の改善は、システムの統合</a:t>
            </a:r>
            <a:r>
              <a:rPr lang="ja-JP" altLang="en-US" b="1" dirty="0"/>
              <a:t>「片寄せ」</a:t>
            </a:r>
            <a:r>
              <a:rPr lang="ja-JP" altLang="en-US" b="1" dirty="0">
                <a:solidFill>
                  <a:srgbClr val="000000"/>
                </a:solidFill>
                <a:latin typeface="+mn-ea"/>
              </a:rPr>
              <a:t>にあたります。</a:t>
            </a:r>
          </a:p>
        </p:txBody>
      </p:sp>
      <p:sp>
        <p:nvSpPr>
          <p:cNvPr id="9" name="タイトル 1">
            <a:extLst>
              <a:ext uri="{FF2B5EF4-FFF2-40B4-BE49-F238E27FC236}">
                <a16:creationId xmlns:a16="http://schemas.microsoft.com/office/drawing/2014/main" id="{B47A136F-5BFA-4252-8890-BA2F46A5B595}"/>
              </a:ext>
            </a:extLst>
          </p:cNvPr>
          <p:cNvSpPr txBox="1">
            <a:spLocks/>
          </p:cNvSpPr>
          <p:nvPr/>
        </p:nvSpPr>
        <p:spPr>
          <a:xfrm>
            <a:off x="6797963" y="4511802"/>
            <a:ext cx="4645891" cy="1325563"/>
          </a:xfrm>
          <a:prstGeom prst="rect">
            <a:avLst/>
          </a:prstGeom>
        </p:spPr>
        <p:txBody>
          <a:bodyPr lIns="0" rIns="0" anchor="b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 b="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9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</a:defRPr>
            </a:lvl5pPr>
            <a:lvl6pPr marL="4363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6pPr>
            <a:lvl7pPr marL="872765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7pPr>
            <a:lvl8pPr marL="1309148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8pPr>
            <a:lvl9pPr marL="174553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3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 algn="just"/>
            <a:r>
              <a:rPr lang="ja-JP" altLang="en-US" b="1" dirty="0">
                <a:solidFill>
                  <a:srgbClr val="000000"/>
                </a:solidFill>
                <a:latin typeface="+mn-ea"/>
                <a:ea typeface="+mn-ea"/>
              </a:rPr>
              <a:t>最後に</a:t>
            </a:r>
            <a:endParaRPr lang="en-US" altLang="ja-JP" b="1" dirty="0">
              <a:solidFill>
                <a:srgbClr val="000000"/>
              </a:solidFill>
              <a:latin typeface="+mn-ea"/>
              <a:ea typeface="+mn-ea"/>
            </a:endParaRPr>
          </a:p>
          <a:p>
            <a:pPr algn="just"/>
            <a:r>
              <a:rPr lang="ja-JP" altLang="en-US" sz="1800" dirty="0"/>
              <a:t>システム統合のタイミングの判断と施策案の承認をお願いします。</a:t>
            </a:r>
          </a:p>
        </p:txBody>
      </p:sp>
    </p:spTree>
    <p:extLst>
      <p:ext uri="{BB962C8B-B14F-4D97-AF65-F5344CB8AC3E}">
        <p14:creationId xmlns:p14="http://schemas.microsoft.com/office/powerpoint/2010/main" val="1544155869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テーマ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3">
      <a:majorFont>
        <a:latin typeface="Meiryo UI"/>
        <a:ea typeface="メイリオ"/>
        <a:cs typeface=""/>
      </a:majorFont>
      <a:minorFont>
        <a:latin typeface="Meiryo U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ysClr val="window" lastClr="FFFFFF">
            <a:lumMod val="95000"/>
          </a:sysClr>
        </a:solidFill>
        <a:ln w="12700" cap="flat" cmpd="sng" algn="ctr">
          <a:noFill/>
          <a:prstDash val="solid"/>
          <a:miter lim="800000"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marL="171450" marR="0" indent="-171450" algn="l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 typeface="Arial" panose="020B0604020202020204" pitchFamily="34" charset="0"/>
          <a:buChar char="•"/>
          <a:tabLst/>
          <a:defRPr kumimoji="0" sz="1200" b="0" i="0" u="none" strike="noStrike" kern="0" cap="none" spc="0" normalizeH="0" baseline="0" noProof="0" dirty="0">
            <a:ln>
              <a:noFill/>
            </a:ln>
            <a:solidFill>
              <a:prstClr val="black"/>
            </a:solidFill>
            <a:effectLst/>
            <a:uLnTx/>
            <a:uFillTx/>
            <a:latin typeface="Meiryo UI"/>
            <a:ea typeface="Meiryo UI"/>
            <a:cs typeface="+mn-cs"/>
          </a:defRPr>
        </a:defPPr>
      </a:lstStyle>
    </a:spDef>
    <a:lnDef>
      <a:spPr bwMode="auto">
        <a:solidFill>
          <a:srgbClr val="FFFFFF"/>
        </a:solidFill>
        <a:ln w="9525" cap="flat" cmpd="sng" algn="ctr">
          <a:solidFill>
            <a:schemeClr val="bg1">
              <a:lumMod val="50000"/>
            </a:schemeClr>
          </a:solidFill>
          <a:prstDash val="solid"/>
          <a:round/>
          <a:headEnd type="none" w="med" len="med"/>
          <a:tailEnd type="none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none" rtlCol="0">
        <a:spAutoFit/>
      </a:bodyPr>
      <a:lstStyle>
        <a:defPPr algn="ctr">
          <a:defRPr sz="1600" dirty="0" smtClean="0"/>
        </a:defPPr>
      </a:lstStyle>
    </a:txDef>
  </a:objectDefaults>
  <a:extraClrSchemeLst>
    <a:extraClrScheme>
      <a:clrScheme name="A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5F5F5F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 2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006699"/>
        </a:accent1>
        <a:accent2>
          <a:srgbClr val="FF6600"/>
        </a:accent2>
        <a:accent3>
          <a:srgbClr val="FFFFFF"/>
        </a:accent3>
        <a:accent4>
          <a:srgbClr val="000000"/>
        </a:accent4>
        <a:accent5>
          <a:srgbClr val="AAB8CA"/>
        </a:accent5>
        <a:accent6>
          <a:srgbClr val="E75C00"/>
        </a:accent6>
        <a:hlink>
          <a:srgbClr val="663399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 3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336633"/>
        </a:accent1>
        <a:accent2>
          <a:srgbClr val="336666"/>
        </a:accent2>
        <a:accent3>
          <a:srgbClr val="FFFFFF"/>
        </a:accent3>
        <a:accent4>
          <a:srgbClr val="000000"/>
        </a:accent4>
        <a:accent5>
          <a:srgbClr val="ADB8AD"/>
        </a:accent5>
        <a:accent6>
          <a:srgbClr val="2D5C5C"/>
        </a:accent6>
        <a:hlink>
          <a:srgbClr val="990033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 4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CCCC33"/>
        </a:accent1>
        <a:accent2>
          <a:srgbClr val="66CC00"/>
        </a:accent2>
        <a:accent3>
          <a:srgbClr val="FFFFFF"/>
        </a:accent3>
        <a:accent4>
          <a:srgbClr val="000000"/>
        </a:accent4>
        <a:accent5>
          <a:srgbClr val="E2E2AD"/>
        </a:accent5>
        <a:accent6>
          <a:srgbClr val="5CB900"/>
        </a:accent6>
        <a:hlink>
          <a:srgbClr val="0099CC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 5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FF6600"/>
        </a:accent1>
        <a:accent2>
          <a:srgbClr val="003333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002D2D"/>
        </a:accent6>
        <a:hlink>
          <a:srgbClr val="666699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 6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FF6600"/>
        </a:accent1>
        <a:accent2>
          <a:srgbClr val="003333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002D2D"/>
        </a:accent6>
        <a:hlink>
          <a:srgbClr val="669999"/>
        </a:hlink>
        <a:folHlink>
          <a:srgbClr val="3300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 7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FF6600"/>
        </a:accent1>
        <a:accent2>
          <a:srgbClr val="003333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002D2D"/>
        </a:accent6>
        <a:hlink>
          <a:srgbClr val="3366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 8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FF6600"/>
        </a:accent1>
        <a:accent2>
          <a:srgbClr val="003333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002D2D"/>
        </a:accent6>
        <a:hlink>
          <a:srgbClr val="336666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 9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FF6600"/>
        </a:accent1>
        <a:accent2>
          <a:srgbClr val="003333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002D2D"/>
        </a:accent6>
        <a:hlink>
          <a:srgbClr val="0066CC"/>
        </a:hlink>
        <a:folHlink>
          <a:srgbClr val="CCCC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 10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FF6600"/>
        </a:accent1>
        <a:accent2>
          <a:srgbClr val="003333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002D2D"/>
        </a:accent6>
        <a:hlink>
          <a:srgbClr val="999999"/>
        </a:hlink>
        <a:folHlink>
          <a:srgbClr val="00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 11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008000"/>
        </a:accent1>
        <a:accent2>
          <a:srgbClr val="003333"/>
        </a:accent2>
        <a:accent3>
          <a:srgbClr val="FFFFFF"/>
        </a:accent3>
        <a:accent4>
          <a:srgbClr val="000000"/>
        </a:accent4>
        <a:accent5>
          <a:srgbClr val="AAC0AA"/>
        </a:accent5>
        <a:accent6>
          <a:srgbClr val="002D2D"/>
        </a:accent6>
        <a:hlink>
          <a:srgbClr val="0066CC"/>
        </a:hlink>
        <a:folHlink>
          <a:srgbClr val="CCCC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 12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FF3300"/>
        </a:accent1>
        <a:accent2>
          <a:srgbClr val="003333"/>
        </a:accent2>
        <a:accent3>
          <a:srgbClr val="FFFFFF"/>
        </a:accent3>
        <a:accent4>
          <a:srgbClr val="000000"/>
        </a:accent4>
        <a:accent5>
          <a:srgbClr val="FFADAA"/>
        </a:accent5>
        <a:accent6>
          <a:srgbClr val="002D2D"/>
        </a:accent6>
        <a:hlink>
          <a:srgbClr val="0066CC"/>
        </a:hlink>
        <a:folHlink>
          <a:srgbClr val="CCCC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ビックカメラ.potx" id="{863C7610-D6E9-4C3D-9B53-3923A252BC56}" vid="{A9D3D4FB-C2E3-4803-B881-A5F8ABB1D9C1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Psas改修_0727</Template>
  <TotalTime>40760</TotalTime>
  <Words>841</Words>
  <Application>Microsoft Office PowerPoint</Application>
  <PresentationFormat>ワイド画面</PresentationFormat>
  <Paragraphs>142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20" baseType="lpstr">
      <vt:lpstr>HGP創英角ｺﾞｼｯｸUB</vt:lpstr>
      <vt:lpstr>Meiryo UI</vt:lpstr>
      <vt:lpstr>ＭＳ Ｐゴシック</vt:lpstr>
      <vt:lpstr>メイリオ</vt:lpstr>
      <vt:lpstr>メイリオ</vt:lpstr>
      <vt:lpstr>Arial</vt:lpstr>
      <vt:lpstr>Calibri</vt:lpstr>
      <vt:lpstr>Wingdings</vt:lpstr>
      <vt:lpstr>テーマ3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hosoda</dc:creator>
  <cp:lastModifiedBy>11201062　吉橋　章</cp:lastModifiedBy>
  <cp:revision>2173</cp:revision>
  <cp:lastPrinted>2017-09-11T09:20:52Z</cp:lastPrinted>
  <dcterms:created xsi:type="dcterms:W3CDTF">2017-07-29T09:39:54Z</dcterms:created>
  <dcterms:modified xsi:type="dcterms:W3CDTF">2021-05-07T04:15:44Z</dcterms:modified>
</cp:coreProperties>
</file>