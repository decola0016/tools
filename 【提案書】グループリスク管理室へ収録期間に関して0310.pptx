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1"/>
  </p:sldMasterIdLst>
  <p:notesMasterIdLst>
    <p:notesMasterId r:id="rId7"/>
  </p:notesMasterIdLst>
  <p:handoutMasterIdLst>
    <p:handoutMasterId r:id="rId8"/>
  </p:handoutMasterIdLst>
  <p:sldIdLst>
    <p:sldId id="686" r:id="rId2"/>
    <p:sldId id="689" r:id="rId3"/>
    <p:sldId id="690" r:id="rId4"/>
    <p:sldId id="688" r:id="rId5"/>
    <p:sldId id="687" r:id="rId6"/>
  </p:sldIdLst>
  <p:sldSz cx="12192000" cy="6858000"/>
  <p:notesSz cx="6735763" cy="987266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1109068　松尾　健司" initials="1" lastIdx="3" clrIdx="0">
    <p:extLst>
      <p:ext uri="{19B8F6BF-5375-455C-9EA6-DF929625EA0E}">
        <p15:presenceInfo xmlns:p15="http://schemas.microsoft.com/office/powerpoint/2012/main" userId="S-1-5-21-4172189229-2787287235-243375271-6735" providerId="AD"/>
      </p:ext>
    </p:extLst>
  </p:cmAuthor>
  <p:cmAuthor id="2" name="智晴 東野" initials="智晴" lastIdx="2" clrIdx="1">
    <p:extLst>
      <p:ext uri="{19B8F6BF-5375-455C-9EA6-DF929625EA0E}">
        <p15:presenceInfo xmlns:p15="http://schemas.microsoft.com/office/powerpoint/2012/main" userId="2b4cbf9fc6f8841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FFCC00"/>
    <a:srgbClr val="FFFFCC"/>
    <a:srgbClr val="8E0000"/>
    <a:srgbClr val="DEE22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202B0CA-FC54-4496-8BCA-5EF66A818D29}" styleName="スタイル (濃色)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8603FDC-E32A-4AB5-989C-0864C3EAD2B8}" styleName="テーマ スタイル 2 - アクセント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29" autoAdjust="0"/>
    <p:restoredTop sz="91197" autoAdjust="0"/>
  </p:normalViewPr>
  <p:slideViewPr>
    <p:cSldViewPr snapToGrid="0">
      <p:cViewPr varScale="1">
        <p:scale>
          <a:sx n="83" d="100"/>
          <a:sy n="83" d="100"/>
        </p:scale>
        <p:origin x="883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050"/>
    </p:cViewPr>
  </p:sorterViewPr>
  <p:notesViewPr>
    <p:cSldViewPr snapToGrid="0">
      <p:cViewPr varScale="1">
        <p:scale>
          <a:sx n="69" d="100"/>
          <a:sy n="69" d="100"/>
        </p:scale>
        <p:origin x="3512" y="208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9413" cy="494030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14763" y="1"/>
            <a:ext cx="2919412" cy="494030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r">
              <a:defRPr sz="1200"/>
            </a:lvl1pPr>
          </a:lstStyle>
          <a:p>
            <a:fld id="{8728F2C9-6A85-4A53-9C26-77215B7BA093}" type="datetimeFigureOut">
              <a:rPr kumimoji="1" lang="ja-JP" altLang="en-US" smtClean="0"/>
              <a:pPr/>
              <a:t>2021/3/17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1" y="9377046"/>
            <a:ext cx="2919413" cy="494029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l">
              <a:defRPr sz="1200"/>
            </a:lvl1pPr>
          </a:lstStyle>
          <a:p>
            <a:r>
              <a:rPr kumimoji="1" lang="en-US" altLang="ja-JP"/>
              <a:t>Copyright</a:t>
            </a:r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14763" y="9377046"/>
            <a:ext cx="2919412" cy="494029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r">
              <a:defRPr sz="1200"/>
            </a:lvl1pPr>
          </a:lstStyle>
          <a:p>
            <a:fld id="{17C02088-5C5A-4A84-B9FF-52F59138A60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823395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1" cy="495348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1" cy="495348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r">
              <a:defRPr sz="1200"/>
            </a:lvl1pPr>
          </a:lstStyle>
          <a:p>
            <a:fld id="{26A4112D-3992-4EA1-8AD8-804232A30FE1}" type="datetimeFigureOut">
              <a:rPr kumimoji="1" lang="ja-JP" altLang="en-US" smtClean="0"/>
              <a:pPr/>
              <a:t>2021/3/17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3488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67" tIns="45734" rIns="91467" bIns="45734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51219"/>
            <a:ext cx="5388610" cy="3887361"/>
          </a:xfrm>
          <a:prstGeom prst="rect">
            <a:avLst/>
          </a:prstGeom>
        </p:spPr>
        <p:txBody>
          <a:bodyPr vert="horz" lIns="91467" tIns="45734" rIns="91467" bIns="45734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377317"/>
            <a:ext cx="2918831" cy="495347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l">
              <a:defRPr sz="1200"/>
            </a:lvl1pPr>
          </a:lstStyle>
          <a:p>
            <a:r>
              <a:rPr kumimoji="1" lang="en-US" altLang="ja-JP"/>
              <a:t>Copyright</a:t>
            </a:r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4" y="9377317"/>
            <a:ext cx="2918831" cy="495347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r">
              <a:defRPr sz="1200"/>
            </a:lvl1pPr>
          </a:lstStyle>
          <a:p>
            <a:fld id="{A22D667A-AAE3-42D2-A3D4-CC96BBA9ADDD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408370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5" name="Rectangle 95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2373745" y="3885363"/>
            <a:ext cx="7935179" cy="839787"/>
          </a:xfrm>
          <a:prstGeom prst="rect">
            <a:avLst/>
          </a:prstGeom>
        </p:spPr>
        <p:txBody>
          <a:bodyPr lIns="0" rIns="87277" anchor="ctr"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ja-JP" altLang="en-US" noProof="0"/>
              <a:t>マスター タイトルの書式設定</a:t>
            </a:r>
            <a:endParaRPr lang="en-US" altLang="ja-JP" noProof="0"/>
          </a:p>
        </p:txBody>
      </p:sp>
      <p:sp>
        <p:nvSpPr>
          <p:cNvPr id="10336" name="Rectangle 9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55574" y="5589240"/>
            <a:ext cx="7917187" cy="704850"/>
          </a:xfrm>
          <a:prstGeom prst="rect">
            <a:avLst/>
          </a:prstGeom>
        </p:spPr>
        <p:txBody>
          <a:bodyPr lIns="0" tIns="43638" rIns="87277" bIns="43638" anchor="ctr"/>
          <a:lstStyle>
            <a:lvl1pPr algn="ctr">
              <a:defRPr sz="13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pPr lvl="0"/>
            <a:r>
              <a:rPr lang="ja-JP" altLang="en-US" noProof="0"/>
              <a:t>マスター サブタイトルの書式設定</a:t>
            </a:r>
            <a:endParaRPr lang="en-US" altLang="ja-JP" noProof="0"/>
          </a:p>
        </p:txBody>
      </p:sp>
      <p:sp>
        <p:nvSpPr>
          <p:cNvPr id="2" name="正方形/長方形 1"/>
          <p:cNvSpPr/>
          <p:nvPr/>
        </p:nvSpPr>
        <p:spPr>
          <a:xfrm>
            <a:off x="513841" y="3453317"/>
            <a:ext cx="11076923" cy="72000"/>
          </a:xfrm>
          <a:prstGeom prst="rect">
            <a:avLst/>
          </a:prstGeom>
          <a:solidFill>
            <a:srgbClr val="D60000"/>
          </a:solidFill>
          <a:ln w="15875" algn="ctr">
            <a:noFill/>
            <a:miter lim="800000"/>
            <a:headEnd/>
            <a:tailEnd/>
          </a:ln>
        </p:spPr>
        <p:txBody>
          <a:bodyPr wrap="square" lIns="36000" tIns="36000" rIns="36000" bIns="36000" rtlCol="0" anchor="ctr"/>
          <a:lstStyle/>
          <a:p>
            <a:pPr algn="ctr"/>
            <a:endParaRPr kumimoji="1" lang="ja-JP" altLang="en-US" sz="1800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78294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  <a:prstGeom prst="rect">
            <a:avLst/>
          </a:prstGeom>
        </p:spPr>
        <p:txBody>
          <a:bodyPr anchor="ctr"/>
          <a:lstStyle>
            <a:lvl1pPr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AutoShape 128">
            <a:extLst>
              <a:ext uri="{FF2B5EF4-FFF2-40B4-BE49-F238E27FC236}">
                <a16:creationId xmlns:a16="http://schemas.microsoft.com/office/drawing/2014/main" id="{0DBE7314-6AED-4138-9956-DB8139973634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25402" y="548680"/>
            <a:ext cx="12121661" cy="46038"/>
          </a:xfrm>
          <a:prstGeom prst="rect">
            <a:avLst/>
          </a:prstGeom>
          <a:solidFill>
            <a:srgbClr val="CC00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rot="10800000" wrap="none" lIns="87277" tIns="43638" rIns="87277" bIns="43638" anchor="ctr"/>
          <a:lstStyle/>
          <a:p>
            <a:pPr eaLnBrk="0" hangingPunct="0">
              <a:spcBef>
                <a:spcPct val="10000"/>
              </a:spcBef>
              <a:buClr>
                <a:srgbClr val="000000"/>
              </a:buClr>
              <a:buSzPct val="100000"/>
              <a:buFont typeface="Wingdings" pitchFamily="2" charset="2"/>
              <a:buNone/>
              <a:defRPr/>
            </a:pPr>
            <a:endParaRPr kumimoji="0" lang="ja-JP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880051"/>
      </p:ext>
    </p:extLst>
  </p:cSld>
  <p:clrMapOvr>
    <a:masterClrMapping/>
  </p:clrMapOvr>
  <p:transition/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ボックス 10"/>
          <p:cNvSpPr txBox="1"/>
          <p:nvPr/>
        </p:nvSpPr>
        <p:spPr>
          <a:xfrm>
            <a:off x="11733968" y="6690271"/>
            <a:ext cx="391454" cy="123111"/>
          </a:xfrm>
          <a:prstGeom prst="rect">
            <a:avLst/>
          </a:prstGeom>
          <a:noFill/>
        </p:spPr>
        <p:txBody>
          <a:bodyPr wrap="none" t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431E2E-0283-47E6-88AC-614E15CB9FE9}" type="slidenum">
              <a:rPr kumimoji="1" lang="ja-JP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endParaRPr kumimoji="1" lang="ja-JP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11733968" y="6690271"/>
            <a:ext cx="391454" cy="123111"/>
          </a:xfrm>
          <a:prstGeom prst="rect">
            <a:avLst/>
          </a:prstGeom>
          <a:noFill/>
        </p:spPr>
        <p:txBody>
          <a:bodyPr wrap="none" t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431E2E-0283-47E6-88AC-614E15CB9FE9}" type="slidenum">
              <a:rPr kumimoji="1" lang="ja-JP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endParaRPr kumimoji="1" lang="ja-JP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980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+mj-ea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5pPr>
      <a:lvl6pPr marL="436383" algn="l" rtl="0" eaLnBrk="1" fontAlgn="base" hangingPunct="1">
        <a:spcBef>
          <a:spcPct val="0"/>
        </a:spcBef>
        <a:spcAft>
          <a:spcPct val="0"/>
        </a:spcAft>
        <a:defRPr kumimoji="1" sz="2300" b="1">
          <a:solidFill>
            <a:schemeClr val="bg1"/>
          </a:solidFill>
          <a:latin typeface="Arial" charset="0"/>
        </a:defRPr>
      </a:lvl6pPr>
      <a:lvl7pPr marL="872765" algn="l" rtl="0" eaLnBrk="1" fontAlgn="base" hangingPunct="1">
        <a:spcBef>
          <a:spcPct val="0"/>
        </a:spcBef>
        <a:spcAft>
          <a:spcPct val="0"/>
        </a:spcAft>
        <a:defRPr kumimoji="1" sz="2300" b="1">
          <a:solidFill>
            <a:schemeClr val="bg1"/>
          </a:solidFill>
          <a:latin typeface="Arial" charset="0"/>
        </a:defRPr>
      </a:lvl7pPr>
      <a:lvl8pPr marL="1309148" algn="l" rtl="0" eaLnBrk="1" fontAlgn="base" hangingPunct="1">
        <a:spcBef>
          <a:spcPct val="0"/>
        </a:spcBef>
        <a:spcAft>
          <a:spcPct val="0"/>
        </a:spcAft>
        <a:defRPr kumimoji="1" sz="2300" b="1">
          <a:solidFill>
            <a:schemeClr val="bg1"/>
          </a:solidFill>
          <a:latin typeface="Arial" charset="0"/>
        </a:defRPr>
      </a:lvl8pPr>
      <a:lvl9pPr marL="1745530" algn="l" rtl="0" eaLnBrk="1" fontAlgn="base" hangingPunct="1">
        <a:spcBef>
          <a:spcPct val="0"/>
        </a:spcBef>
        <a:spcAft>
          <a:spcPct val="0"/>
        </a:spcAft>
        <a:defRPr kumimoji="1" sz="2300" b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•"/>
        <a:defRPr kumimoji="1" sz="17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1588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–"/>
        <a:defRPr kumimoji="1" sz="1300">
          <a:solidFill>
            <a:schemeClr val="tx1"/>
          </a:solidFill>
          <a:latin typeface="+mn-lt"/>
        </a:defRPr>
      </a:lvl2pPr>
      <a:lvl3pPr marL="946150" indent="-215900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</a:defRPr>
      </a:lvl3pPr>
      <a:lvl4pPr marL="1333500" indent="-215900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22438" indent="-215900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</a:defRPr>
      </a:lvl5pPr>
      <a:lvl6pPr marL="2159186" indent="-216677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>
          <a:solidFill>
            <a:schemeClr val="tx1"/>
          </a:solidFill>
          <a:latin typeface="+mn-lt"/>
        </a:defRPr>
      </a:lvl6pPr>
      <a:lvl7pPr marL="2595568" indent="-216677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>
          <a:solidFill>
            <a:schemeClr val="tx1"/>
          </a:solidFill>
          <a:latin typeface="+mn-lt"/>
        </a:defRPr>
      </a:lvl7pPr>
      <a:lvl8pPr marL="3031951" indent="-216677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>
          <a:solidFill>
            <a:schemeClr val="tx1"/>
          </a:solidFill>
          <a:latin typeface="+mn-lt"/>
        </a:defRPr>
      </a:lvl8pPr>
      <a:lvl9pPr marL="3468334" indent="-216677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>
          <a:solidFill>
            <a:schemeClr val="tx1"/>
          </a:solidFill>
          <a:latin typeface="+mn-lt"/>
        </a:defRPr>
      </a:lvl9pPr>
    </p:bodyStyle>
    <p:otherStyle>
      <a:defPPr>
        <a:defRPr lang="ja-JP"/>
      </a:defPPr>
      <a:lvl1pPr marL="0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6383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2765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9148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45530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81913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18296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54678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91061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EDDD414E-B8B3-4B9B-A64F-07562455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</p:spPr>
        <p:txBody>
          <a:bodyPr/>
          <a:lstStyle/>
          <a:p>
            <a:r>
              <a:rPr lang="ja-JP" altLang="ja-JP" b="1" dirty="0"/>
              <a:t>商品統合管理室</a:t>
            </a:r>
            <a:r>
              <a:rPr lang="ja-JP" altLang="en-US" b="1" dirty="0"/>
              <a:t>からリスク管理報告書を期限内に提出する。</a:t>
            </a:r>
            <a:endParaRPr lang="ja-JP" altLang="en-US" b="1" dirty="0">
              <a:latin typeface="+mn-ea"/>
            </a:endParaRPr>
          </a:p>
        </p:txBody>
      </p:sp>
      <p:sp>
        <p:nvSpPr>
          <p:cNvPr id="18" name="タイトル 1">
            <a:extLst>
              <a:ext uri="{FF2B5EF4-FFF2-40B4-BE49-F238E27FC236}">
                <a16:creationId xmlns:a16="http://schemas.microsoft.com/office/drawing/2014/main" id="{71202863-38C0-4748-B065-46225E9318D4}"/>
              </a:ext>
            </a:extLst>
          </p:cNvPr>
          <p:cNvSpPr txBox="1">
            <a:spLocks/>
          </p:cNvSpPr>
          <p:nvPr/>
        </p:nvSpPr>
        <p:spPr>
          <a:xfrm>
            <a:off x="681038" y="1146466"/>
            <a:ext cx="10651980" cy="652462"/>
          </a:xfrm>
          <a:prstGeom prst="rect">
            <a:avLst/>
          </a:prstGeom>
        </p:spPr>
        <p:txBody>
          <a:bodyPr anchor="ctr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ja-JP" altLang="en-US" kern="0" dirty="0">
                <a:latin typeface="+mn-ea"/>
                <a:ea typeface="+mn-ea"/>
              </a:rPr>
              <a:t>目次</a:t>
            </a:r>
          </a:p>
        </p:txBody>
      </p:sp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61D97B14-2D10-4E17-82FC-D48D6AD1CA83}"/>
              </a:ext>
            </a:extLst>
          </p:cNvPr>
          <p:cNvSpPr txBox="1">
            <a:spLocks/>
          </p:cNvSpPr>
          <p:nvPr/>
        </p:nvSpPr>
        <p:spPr>
          <a:xfrm>
            <a:off x="4442693" y="1981483"/>
            <a:ext cx="4886036" cy="353638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1588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Char char="–"/>
              <a:defRPr kumimoji="1" sz="1300">
                <a:solidFill>
                  <a:schemeClr val="tx1"/>
                </a:solidFill>
                <a:latin typeface="+mn-lt"/>
              </a:defRPr>
            </a:lvl2pPr>
            <a:lvl3pPr marL="946150" indent="-215900" algn="l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+mn-lt"/>
              </a:defRPr>
            </a:lvl3pPr>
            <a:lvl4pPr marL="1333500" indent="-215900" algn="l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Char char="–"/>
              <a:defRPr kumimoji="1" sz="2000">
                <a:solidFill>
                  <a:schemeClr val="tx1"/>
                </a:solidFill>
                <a:latin typeface="+mn-lt"/>
              </a:defRPr>
            </a:lvl4pPr>
            <a:lvl5pPr marL="1722438" indent="-215900" algn="l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</a:defRPr>
            </a:lvl5pPr>
            <a:lvl6pPr marL="2159186" indent="-216677" algn="l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Char char="•"/>
              <a:defRPr kumimoji="1">
                <a:solidFill>
                  <a:schemeClr val="tx1"/>
                </a:solidFill>
                <a:latin typeface="+mn-lt"/>
              </a:defRPr>
            </a:lvl6pPr>
            <a:lvl7pPr marL="2595568" indent="-216677" algn="l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Char char="•"/>
              <a:defRPr kumimoji="1">
                <a:solidFill>
                  <a:schemeClr val="tx1"/>
                </a:solidFill>
                <a:latin typeface="+mn-lt"/>
              </a:defRPr>
            </a:lvl7pPr>
            <a:lvl8pPr marL="3031951" indent="-216677" algn="l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Char char="•"/>
              <a:defRPr kumimoji="1">
                <a:solidFill>
                  <a:schemeClr val="tx1"/>
                </a:solidFill>
                <a:latin typeface="+mn-lt"/>
              </a:defRPr>
            </a:lvl8pPr>
            <a:lvl9pPr marL="3468334" indent="-216677" algn="l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Char char="•"/>
              <a:defRPr kumimoji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  <a:spcBef>
                <a:spcPts val="1219"/>
              </a:spcBef>
              <a:buClrTx/>
              <a:buFont typeface="+mj-lt"/>
              <a:buAutoNum type="arabicPeriod"/>
            </a:pPr>
            <a:r>
              <a:rPr lang="ja-JP" altLang="en-US" kern="0" dirty="0">
                <a:latin typeface="+mn-ea"/>
              </a:rPr>
              <a:t>ご提案の背景：現状について</a:t>
            </a:r>
            <a:endParaRPr lang="en-US" altLang="ja-JP" kern="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1219"/>
              </a:spcBef>
              <a:buClrTx/>
              <a:buFont typeface="+mj-lt"/>
              <a:buAutoNum type="arabicPeriod"/>
            </a:pPr>
            <a:r>
              <a:rPr lang="ja-JP" altLang="en-US" kern="0" dirty="0">
                <a:latin typeface="+mn-ea"/>
              </a:rPr>
              <a:t>ご提案のテーマ</a:t>
            </a:r>
            <a:endParaRPr lang="en-US" altLang="ja-JP" kern="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1219"/>
              </a:spcBef>
              <a:buClrTx/>
              <a:buFont typeface="+mj-lt"/>
              <a:buAutoNum type="arabicPeriod"/>
            </a:pPr>
            <a:r>
              <a:rPr lang="ja-JP" altLang="en-US" kern="0" dirty="0">
                <a:latin typeface="+mn-ea"/>
              </a:rPr>
              <a:t>現状と今後の流れ</a:t>
            </a:r>
            <a:endParaRPr lang="en-US" altLang="ja-JP" kern="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1219"/>
              </a:spcBef>
              <a:buClrTx/>
              <a:buFont typeface="+mj-lt"/>
              <a:buAutoNum type="arabicPeriod"/>
            </a:pPr>
            <a:r>
              <a:rPr lang="ja-JP" altLang="en-US" kern="0" dirty="0">
                <a:latin typeface="+mn-ea"/>
              </a:rPr>
              <a:t>期待される効果について</a:t>
            </a:r>
            <a:endParaRPr lang="en-US" altLang="ja-JP" kern="0" dirty="0">
              <a:latin typeface="+mn-ea"/>
            </a:endParaRPr>
          </a:p>
          <a:p>
            <a:pPr marL="0" indent="0">
              <a:spcBef>
                <a:spcPts val="1219"/>
              </a:spcBef>
              <a:buClrTx/>
              <a:buNone/>
            </a:pPr>
            <a:endParaRPr lang="ja-JP" altLang="en-US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4147719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EDDD414E-B8B3-4B9B-A64F-07562455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</p:spPr>
        <p:txBody>
          <a:bodyPr/>
          <a:lstStyle/>
          <a:p>
            <a:r>
              <a:rPr lang="ja-JP" altLang="ja-JP" b="1" dirty="0"/>
              <a:t>商品統合管理室</a:t>
            </a:r>
            <a:r>
              <a:rPr lang="ja-JP" altLang="en-US" b="1" dirty="0"/>
              <a:t>からリスク管理報告書を期限内に提出する。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074F214B-87E5-41B8-A51A-64727FF5D5AD}"/>
              </a:ext>
            </a:extLst>
          </p:cNvPr>
          <p:cNvSpPr txBox="1">
            <a:spLocks/>
          </p:cNvSpPr>
          <p:nvPr/>
        </p:nvSpPr>
        <p:spPr>
          <a:xfrm>
            <a:off x="1964893" y="685801"/>
            <a:ext cx="8543925" cy="1325563"/>
          </a:xfrm>
          <a:prstGeom prst="rect">
            <a:avLst/>
          </a:prstGeom>
        </p:spPr>
        <p:txBody>
          <a:bodyPr anchor="ctr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ja-JP" altLang="en-US" b="1" kern="0" dirty="0">
                <a:latin typeface="+mn-ea"/>
                <a:ea typeface="+mn-ea"/>
              </a:rPr>
              <a:t>ご提案の背景：</a:t>
            </a:r>
            <a:r>
              <a:rPr lang="ja-JP" altLang="en-US" b="1" kern="0" dirty="0">
                <a:latin typeface="+mn-ea"/>
              </a:rPr>
              <a:t>現状について</a:t>
            </a:r>
            <a:endParaRPr lang="en-US" altLang="ja-JP" b="1" kern="0" dirty="0">
              <a:latin typeface="+mn-ea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D0E83D0C-68A5-42A6-AF67-BF4FE181A2BE}"/>
              </a:ext>
            </a:extLst>
          </p:cNvPr>
          <p:cNvSpPr txBox="1">
            <a:spLocks/>
          </p:cNvSpPr>
          <p:nvPr/>
        </p:nvSpPr>
        <p:spPr>
          <a:xfrm>
            <a:off x="2039695" y="1722328"/>
            <a:ext cx="8394321" cy="642181"/>
          </a:xfrm>
          <a:prstGeom prst="rect">
            <a:avLst/>
          </a:prstGeom>
        </p:spPr>
        <p:txBody>
          <a:bodyPr/>
          <a:lstStyle>
            <a:lvl1pPr algn="l" defTabSz="18283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798" kern="1200">
                <a:solidFill>
                  <a:schemeClr val="accent5">
                    <a:lumMod val="60000"/>
                    <a:lumOff val="40000"/>
                  </a:schemeClr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+mj-cs"/>
              </a:defRPr>
            </a:lvl1pPr>
          </a:lstStyle>
          <a:p>
            <a:r>
              <a:rPr lang="ja-JP" altLang="en-US" sz="2000" kern="0" dirty="0">
                <a:solidFill>
                  <a:schemeClr val="tx1"/>
                </a:solidFill>
                <a:latin typeface="+mn-ea"/>
                <a:ea typeface="+mn-ea"/>
              </a:rPr>
              <a:t>商品統合管理室において、月初～提出期限まで約</a:t>
            </a:r>
            <a:r>
              <a:rPr lang="en-US" altLang="ja-JP" sz="2000" kern="0" dirty="0">
                <a:solidFill>
                  <a:schemeClr val="tx1"/>
                </a:solidFill>
                <a:latin typeface="+mn-ea"/>
                <a:ea typeface="+mn-ea"/>
              </a:rPr>
              <a:t>5</a:t>
            </a:r>
            <a:r>
              <a:rPr lang="ja-JP" altLang="en-US" sz="2000" kern="0" dirty="0">
                <a:solidFill>
                  <a:schemeClr val="tx1"/>
                </a:solidFill>
                <a:latin typeface="+mn-ea"/>
                <a:ea typeface="+mn-ea"/>
              </a:rPr>
              <a:t>営業日、工程一覧の作業を行っています。</a:t>
            </a:r>
            <a:endParaRPr kumimoji="1" lang="ja-JP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4B521C92-C18D-41BD-A3F6-1BD4DA18DFC4}"/>
              </a:ext>
            </a:extLst>
          </p:cNvPr>
          <p:cNvGrpSpPr/>
          <p:nvPr/>
        </p:nvGrpSpPr>
        <p:grpSpPr>
          <a:xfrm>
            <a:off x="2039695" y="2425763"/>
            <a:ext cx="8394321" cy="2647310"/>
            <a:chOff x="1860043" y="3638002"/>
            <a:chExt cx="20657564" cy="2629799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A0B8AFCD-AF3C-4078-9EF2-AC3F25FA96AB}"/>
                </a:ext>
              </a:extLst>
            </p:cNvPr>
            <p:cNvSpPr/>
            <p:nvPr/>
          </p:nvSpPr>
          <p:spPr>
            <a:xfrm>
              <a:off x="1860043" y="3638002"/>
              <a:ext cx="20657564" cy="531333"/>
            </a:xfrm>
            <a:prstGeom prst="rect">
              <a:avLst/>
            </a:prstGeom>
            <a:solidFill>
              <a:srgbClr val="00B0F0"/>
            </a:solidFill>
            <a:ln w="12700">
              <a:solidFill>
                <a:srgbClr val="00B0F0"/>
              </a:solidFill>
            </a:ln>
            <a:scene3d>
              <a:camera prst="orthographicFront"/>
              <a:lightRig rig="contrasting" dir="t">
                <a:rot lat="0" lon="0" rev="2400000"/>
              </a:lightRig>
            </a:scene3d>
            <a:sp3d prstMaterial="powder">
              <a:bevelB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7" tIns="18579" rIns="37157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b="1" kern="0" dirty="0">
                  <a:solidFill>
                    <a:schemeClr val="bg1"/>
                  </a:solidFill>
                  <a:latin typeface="+mn-ea"/>
                </a:rPr>
                <a:t>工程一覧</a:t>
              </a:r>
              <a:endParaRPr lang="en-US" altLang="ja-JP" b="1" kern="0" dirty="0">
                <a:solidFill>
                  <a:schemeClr val="bg1"/>
                </a:solidFill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0A7B11ED-29DB-4B98-9BB2-4F9FA8883C29}"/>
                </a:ext>
              </a:extLst>
            </p:cNvPr>
            <p:cNvSpPr/>
            <p:nvPr/>
          </p:nvSpPr>
          <p:spPr>
            <a:xfrm>
              <a:off x="1860043" y="4169336"/>
              <a:ext cx="20657564" cy="209846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B0F0"/>
              </a:solidFill>
            </a:ln>
            <a:effectLst>
              <a:outerShdw dist="38100" sx="1000" sy="1000" algn="tl" rotWithShape="0">
                <a:prstClr val="black"/>
              </a:outerShdw>
            </a:effectLst>
            <a:scene3d>
              <a:camera prst="orthographicFront"/>
              <a:lightRig rig="contrasting" dir="t">
                <a:rot lat="0" lon="0" rev="2400000"/>
              </a:lightRig>
            </a:scene3d>
            <a:sp3d prstMaterial="powder">
              <a:bevelB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7" tIns="18579" rIns="37157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193675">
                <a:buFont typeface="Arial" panose="020B0604020202020204" pitchFamily="34" charset="0"/>
                <a:buChar char="•"/>
              </a:pPr>
              <a:r>
                <a:rPr lang="ja-JP" altLang="en-US" kern="0" dirty="0">
                  <a:solidFill>
                    <a:schemeClr val="tx1"/>
                  </a:solidFill>
                </a:rPr>
                <a:t>インシデント対応の進捗に関するメンバーへの回答要請～回答まとめ、報告書への記載。</a:t>
              </a:r>
              <a:endParaRPr lang="en-US" altLang="ja-JP" kern="0" dirty="0">
                <a:solidFill>
                  <a:schemeClr val="tx1"/>
                </a:solidFill>
              </a:endParaRPr>
            </a:p>
            <a:p>
              <a:pPr marL="285750" indent="-193675">
                <a:buFont typeface="Arial" panose="020B0604020202020204" pitchFamily="34" charset="0"/>
                <a:buChar char="•"/>
              </a:pPr>
              <a:r>
                <a:rPr lang="ja-JP" altLang="en-US" kern="0" dirty="0">
                  <a:solidFill>
                    <a:schemeClr val="tx1"/>
                  </a:solidFill>
                </a:rPr>
                <a:t>報告内容精査、内容追記作業。月間報告平均件数　約</a:t>
              </a:r>
              <a:r>
                <a:rPr lang="en-US" altLang="ja-JP" kern="0" dirty="0">
                  <a:solidFill>
                    <a:schemeClr val="tx1"/>
                  </a:solidFill>
                </a:rPr>
                <a:t>60</a:t>
              </a:r>
              <a:r>
                <a:rPr lang="ja-JP" altLang="en-US" kern="0" dirty="0">
                  <a:solidFill>
                    <a:schemeClr val="tx1"/>
                  </a:solidFill>
                </a:rPr>
                <a:t>件</a:t>
              </a:r>
              <a:endParaRPr lang="en-US" altLang="ja-JP" kern="0" dirty="0">
                <a:solidFill>
                  <a:schemeClr val="tx1"/>
                </a:solidFill>
              </a:endParaRPr>
            </a:p>
            <a:p>
              <a:pPr marL="285750" indent="-193675">
                <a:buFont typeface="Arial" panose="020B0604020202020204" pitchFamily="34" charset="0"/>
                <a:buChar char="•"/>
              </a:pPr>
              <a:r>
                <a:rPr lang="ja-JP" altLang="en-US" kern="0" dirty="0">
                  <a:solidFill>
                    <a:schemeClr val="tx1"/>
                  </a:solidFill>
                </a:rPr>
                <a:t>グルーリスク管理室からの質問事項への回答作業。</a:t>
              </a:r>
              <a:endParaRPr lang="en-US" altLang="ja-JP" kern="0" dirty="0">
                <a:solidFill>
                  <a:schemeClr val="tx1"/>
                </a:solidFill>
              </a:endParaRPr>
            </a:p>
            <a:p>
              <a:pPr marL="285750" indent="-193675">
                <a:buFont typeface="Arial" panose="020B0604020202020204" pitchFamily="34" charset="0"/>
                <a:buChar char="•"/>
              </a:pPr>
              <a:r>
                <a:rPr lang="ja-JP" altLang="en-US" kern="0" dirty="0">
                  <a:solidFill>
                    <a:schemeClr val="tx1"/>
                  </a:solidFill>
                </a:rPr>
                <a:t>商品統合管理室　室長承認</a:t>
              </a:r>
              <a:endParaRPr lang="en-US" altLang="ja-JP" kern="0" dirty="0">
                <a:solidFill>
                  <a:schemeClr val="tx1"/>
                </a:solidFill>
              </a:endParaRPr>
            </a:p>
            <a:p>
              <a:pPr marL="285750" indent="-193675">
                <a:buFont typeface="Arial" panose="020B0604020202020204" pitchFamily="34" charset="0"/>
                <a:buChar char="•"/>
              </a:pPr>
              <a:r>
                <a:rPr lang="ja-JP" altLang="en-US" kern="0" dirty="0">
                  <a:solidFill>
                    <a:schemeClr val="tx1"/>
                  </a:solidFill>
                </a:rPr>
                <a:t>商品部　部長承認</a:t>
              </a:r>
              <a:endParaRPr lang="en-US" altLang="ja-JP" kern="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吹き出し: 四角形 13">
            <a:extLst>
              <a:ext uri="{FF2B5EF4-FFF2-40B4-BE49-F238E27FC236}">
                <a16:creationId xmlns:a16="http://schemas.microsoft.com/office/drawing/2014/main" id="{0846A649-5FF4-4399-99D4-4EBEDB7C9B1B}"/>
              </a:ext>
            </a:extLst>
          </p:cNvPr>
          <p:cNvSpPr/>
          <p:nvPr/>
        </p:nvSpPr>
        <p:spPr>
          <a:xfrm>
            <a:off x="5114638" y="5283054"/>
            <a:ext cx="5319378" cy="889145"/>
          </a:xfrm>
          <a:prstGeom prst="wedgeRectCallout">
            <a:avLst>
              <a:gd name="adj1" fmla="val -28181"/>
              <a:gd name="adj2" fmla="val -20935"/>
            </a:avLst>
          </a:prstGeom>
          <a:solidFill>
            <a:schemeClr val="bg1"/>
          </a:solidFill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16000" tIns="7200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92075"/>
            <a:r>
              <a:rPr lang="ja-JP" altLang="en-US" b="1" kern="0" dirty="0">
                <a:solidFill>
                  <a:schemeClr val="tx1"/>
                </a:solidFill>
              </a:rPr>
              <a:t>リスク管理報告書以外の業務</a:t>
            </a:r>
            <a:endParaRPr lang="en-US" altLang="ja-JP" b="1" kern="0" dirty="0">
              <a:solidFill>
                <a:schemeClr val="tx1"/>
              </a:solidFill>
            </a:endParaRPr>
          </a:p>
          <a:p>
            <a:pPr marL="285750" indent="-193675">
              <a:buFont typeface="Arial" panose="020B0604020202020204" pitchFamily="34" charset="0"/>
              <a:buChar char="•"/>
            </a:pPr>
            <a:r>
              <a:rPr lang="ja-JP" altLang="en-US" kern="0" dirty="0">
                <a:solidFill>
                  <a:schemeClr val="tx1"/>
                </a:solidFill>
              </a:rPr>
              <a:t>月初から締め日までリベート計上の決算対応</a:t>
            </a:r>
            <a:endParaRPr lang="en-US" altLang="ja-JP" kern="0" dirty="0">
              <a:solidFill>
                <a:schemeClr val="tx1"/>
              </a:solidFill>
            </a:endParaRPr>
          </a:p>
          <a:p>
            <a:pPr marL="285750" indent="-193675">
              <a:buFont typeface="Arial" panose="020B0604020202020204" pitchFamily="34" charset="0"/>
              <a:buChar char="•"/>
            </a:pPr>
            <a:r>
              <a:rPr lang="ja-JP" altLang="en-US" kern="0" dirty="0">
                <a:solidFill>
                  <a:schemeClr val="tx1"/>
                </a:solidFill>
              </a:rPr>
              <a:t>緊急のインシデント対応</a:t>
            </a:r>
          </a:p>
        </p:txBody>
      </p:sp>
      <p:sp>
        <p:nvSpPr>
          <p:cNvPr id="2" name="加算記号 1">
            <a:extLst>
              <a:ext uri="{FF2B5EF4-FFF2-40B4-BE49-F238E27FC236}">
                <a16:creationId xmlns:a16="http://schemas.microsoft.com/office/drawing/2014/main" id="{7402D6A2-06EE-4D10-98F4-688ED3B3FA3F}"/>
              </a:ext>
            </a:extLst>
          </p:cNvPr>
          <p:cNvSpPr/>
          <p:nvPr/>
        </p:nvSpPr>
        <p:spPr>
          <a:xfrm>
            <a:off x="4160983" y="5283054"/>
            <a:ext cx="877454" cy="889145"/>
          </a:xfrm>
          <a:prstGeom prst="mathPlus">
            <a:avLst/>
          </a:prstGeom>
          <a:solidFill>
            <a:srgbClr val="00B0F0"/>
          </a:solidFill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88815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EDDD414E-B8B3-4B9B-A64F-07562455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</p:spPr>
        <p:txBody>
          <a:bodyPr/>
          <a:lstStyle/>
          <a:p>
            <a:r>
              <a:rPr lang="ja-JP" altLang="ja-JP" b="1" dirty="0"/>
              <a:t>商品統合管理室</a:t>
            </a:r>
            <a:r>
              <a:rPr lang="ja-JP" altLang="en-US" b="1" dirty="0"/>
              <a:t>からリスク管理報告書を期限内に提出する。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074F214B-87E5-41B8-A51A-64727FF5D5AD}"/>
              </a:ext>
            </a:extLst>
          </p:cNvPr>
          <p:cNvSpPr txBox="1">
            <a:spLocks/>
          </p:cNvSpPr>
          <p:nvPr/>
        </p:nvSpPr>
        <p:spPr>
          <a:xfrm>
            <a:off x="1964893" y="685801"/>
            <a:ext cx="8543925" cy="1325563"/>
          </a:xfrm>
          <a:prstGeom prst="rect">
            <a:avLst/>
          </a:prstGeom>
        </p:spPr>
        <p:txBody>
          <a:bodyPr anchor="ctr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ja-JP" altLang="en-US" b="1" dirty="0">
                <a:latin typeface="+mn-ea"/>
                <a:cs typeface="Meiryo" charset="-128"/>
              </a:rPr>
              <a:t>ご提案のテーマ</a:t>
            </a: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4B521C92-C18D-41BD-A3F6-1BD4DA18DFC4}"/>
              </a:ext>
            </a:extLst>
          </p:cNvPr>
          <p:cNvGrpSpPr/>
          <p:nvPr/>
        </p:nvGrpSpPr>
        <p:grpSpPr>
          <a:xfrm>
            <a:off x="2039695" y="1674859"/>
            <a:ext cx="8394321" cy="1143713"/>
            <a:chOff x="1860043" y="3638002"/>
            <a:chExt cx="20657564" cy="113614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A0B8AFCD-AF3C-4078-9EF2-AC3F25FA96AB}"/>
                </a:ext>
              </a:extLst>
            </p:cNvPr>
            <p:cNvSpPr/>
            <p:nvPr/>
          </p:nvSpPr>
          <p:spPr>
            <a:xfrm>
              <a:off x="1860043" y="3638002"/>
              <a:ext cx="20657564" cy="531333"/>
            </a:xfrm>
            <a:prstGeom prst="rect">
              <a:avLst/>
            </a:prstGeom>
            <a:solidFill>
              <a:srgbClr val="00B0F0"/>
            </a:solidFill>
            <a:ln w="12700">
              <a:solidFill>
                <a:srgbClr val="00B0F0"/>
              </a:solidFill>
            </a:ln>
            <a:scene3d>
              <a:camera prst="orthographicFront"/>
              <a:lightRig rig="contrasting" dir="t">
                <a:rot lat="0" lon="0" rev="2400000"/>
              </a:lightRig>
            </a:scene3d>
            <a:sp3d prstMaterial="powder">
              <a:bevelB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7" tIns="18579" rIns="37157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b="1" dirty="0">
                  <a:solidFill>
                    <a:schemeClr val="bg1"/>
                  </a:solidFill>
                  <a:latin typeface="+mn-ea"/>
                  <a:cs typeface="Meiryo" charset="-128"/>
                </a:rPr>
                <a:t>ご提案のテーマ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0A7B11ED-29DB-4B98-9BB2-4F9FA8883C29}"/>
                </a:ext>
              </a:extLst>
            </p:cNvPr>
            <p:cNvSpPr/>
            <p:nvPr/>
          </p:nvSpPr>
          <p:spPr>
            <a:xfrm>
              <a:off x="1860043" y="4169337"/>
              <a:ext cx="20657564" cy="60481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B0F0"/>
              </a:solidFill>
            </a:ln>
            <a:effectLst>
              <a:outerShdw dist="38100" sx="1000" sy="1000" algn="tl" rotWithShape="0">
                <a:prstClr val="black"/>
              </a:outerShdw>
            </a:effectLst>
            <a:scene3d>
              <a:camera prst="orthographicFront"/>
              <a:lightRig rig="contrasting" dir="t">
                <a:rot lat="0" lon="0" rev="2400000"/>
              </a:lightRig>
            </a:scene3d>
            <a:sp3d prstMaterial="powder">
              <a:bevelB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7" tIns="18579" rIns="37157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193675">
                <a:buFont typeface="Arial" panose="020B0604020202020204" pitchFamily="34" charset="0"/>
                <a:buChar char="•"/>
              </a:pPr>
              <a:r>
                <a:rPr lang="ja-JP" altLang="en-US" kern="0" dirty="0">
                  <a:solidFill>
                    <a:schemeClr val="tx1"/>
                  </a:solidFill>
                </a:rPr>
                <a:t>グループリスク管理室へ期限内にリスク管理報告書を提出する。</a:t>
              </a:r>
              <a:endParaRPr lang="ja-JP" altLang="en-US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0" name="三角形 10">
            <a:extLst>
              <a:ext uri="{FF2B5EF4-FFF2-40B4-BE49-F238E27FC236}">
                <a16:creationId xmlns:a16="http://schemas.microsoft.com/office/drawing/2014/main" id="{0F20A36C-E6C3-4CD2-B440-EAC16A02157B}"/>
              </a:ext>
            </a:extLst>
          </p:cNvPr>
          <p:cNvSpPr/>
          <p:nvPr/>
        </p:nvSpPr>
        <p:spPr>
          <a:xfrm rot="10800000">
            <a:off x="5702749" y="4591692"/>
            <a:ext cx="1068211" cy="19500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7157" tIns="18579" rIns="37157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322" dirty="0">
              <a:solidFill>
                <a:schemeClr val="accent1"/>
              </a:solidFill>
              <a:latin typeface="+mn-ea"/>
              <a:cs typeface="Meiryo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0118B119-B96F-4156-B260-D762B558F2C9}"/>
              </a:ext>
            </a:extLst>
          </p:cNvPr>
          <p:cNvGrpSpPr/>
          <p:nvPr/>
        </p:nvGrpSpPr>
        <p:grpSpPr>
          <a:xfrm>
            <a:off x="2039695" y="4954222"/>
            <a:ext cx="8394321" cy="1372689"/>
            <a:chOff x="1860043" y="3638002"/>
            <a:chExt cx="20657564" cy="1363608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A42B88B-BF40-4F0C-A886-F33626B67AAA}"/>
                </a:ext>
              </a:extLst>
            </p:cNvPr>
            <p:cNvSpPr/>
            <p:nvPr/>
          </p:nvSpPr>
          <p:spPr>
            <a:xfrm>
              <a:off x="1860043" y="3638002"/>
              <a:ext cx="20657564" cy="531333"/>
            </a:xfrm>
            <a:prstGeom prst="rect">
              <a:avLst/>
            </a:prstGeom>
            <a:solidFill>
              <a:srgbClr val="00B0F0"/>
            </a:solidFill>
            <a:ln w="12700">
              <a:solidFill>
                <a:srgbClr val="00B0F0"/>
              </a:solidFill>
            </a:ln>
            <a:scene3d>
              <a:camera prst="orthographicFront"/>
              <a:lightRig rig="contrasting" dir="t">
                <a:rot lat="0" lon="0" rev="2400000"/>
              </a:lightRig>
            </a:scene3d>
            <a:sp3d prstMaterial="powder">
              <a:bevelB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7" tIns="18579" rIns="37157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b="1" dirty="0">
                  <a:solidFill>
                    <a:schemeClr val="bg1"/>
                  </a:solidFill>
                  <a:latin typeface="+mn-ea"/>
                  <a:cs typeface="Meiryo" charset="-128"/>
                </a:rPr>
                <a:t>施策案</a:t>
              </a: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95DBA67-17B7-4D24-B4A4-6BB5733735F0}"/>
                </a:ext>
              </a:extLst>
            </p:cNvPr>
            <p:cNvSpPr/>
            <p:nvPr/>
          </p:nvSpPr>
          <p:spPr>
            <a:xfrm>
              <a:off x="1860043" y="4169335"/>
              <a:ext cx="20657564" cy="8322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B0F0"/>
              </a:solidFill>
            </a:ln>
            <a:effectLst>
              <a:outerShdw dist="38100" sx="1000" sy="1000" algn="tl" rotWithShape="0">
                <a:prstClr val="black"/>
              </a:outerShdw>
            </a:effectLst>
            <a:scene3d>
              <a:camera prst="orthographicFront"/>
              <a:lightRig rig="contrasting" dir="t">
                <a:rot lat="0" lon="0" rev="2400000"/>
              </a:lightRig>
            </a:scene3d>
            <a:sp3d prstMaterial="powder">
              <a:bevelB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7" tIns="18579" rIns="37157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193675">
                <a:buFont typeface="Arial" panose="020B0604020202020204" pitchFamily="34" charset="0"/>
                <a:buChar char="•"/>
              </a:pPr>
              <a:r>
                <a:rPr lang="ja-JP" altLang="en-US" b="1" kern="0" dirty="0">
                  <a:solidFill>
                    <a:schemeClr val="tx1"/>
                  </a:solidFill>
                </a:rPr>
                <a:t>収録対象期間を</a:t>
              </a:r>
              <a:r>
                <a:rPr lang="ja-JP" altLang="en-US" sz="2800" b="1" kern="0" dirty="0">
                  <a:solidFill>
                    <a:schemeClr val="tx1"/>
                  </a:solidFill>
                </a:rPr>
                <a:t>月末</a:t>
              </a:r>
              <a:r>
                <a:rPr lang="ja-JP" altLang="en-US" b="1" kern="0" dirty="0">
                  <a:solidFill>
                    <a:schemeClr val="tx1"/>
                  </a:solidFill>
                </a:rPr>
                <a:t>締め→</a:t>
              </a:r>
              <a:r>
                <a:rPr lang="en-US" altLang="ja-JP" sz="2800" b="1" kern="0" dirty="0">
                  <a:solidFill>
                    <a:schemeClr val="tx1"/>
                  </a:solidFill>
                </a:rPr>
                <a:t>20</a:t>
              </a:r>
              <a:r>
                <a:rPr lang="ja-JP" altLang="en-US" sz="2800" b="1" kern="0" dirty="0">
                  <a:solidFill>
                    <a:schemeClr val="tx1"/>
                  </a:solidFill>
                </a:rPr>
                <a:t>日</a:t>
              </a:r>
              <a:r>
                <a:rPr lang="ja-JP" altLang="en-US" b="1" kern="0" dirty="0">
                  <a:solidFill>
                    <a:schemeClr val="tx1"/>
                  </a:solidFill>
                </a:rPr>
                <a:t>締めへ変更する。</a:t>
              </a:r>
              <a:endParaRPr lang="ja-JP" altLang="en-US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92656967-2256-4D7B-A706-89DFAF5EF46B}"/>
              </a:ext>
            </a:extLst>
          </p:cNvPr>
          <p:cNvGrpSpPr/>
          <p:nvPr/>
        </p:nvGrpSpPr>
        <p:grpSpPr>
          <a:xfrm>
            <a:off x="2039695" y="3280453"/>
            <a:ext cx="8394321" cy="1143713"/>
            <a:chOff x="1860043" y="3638002"/>
            <a:chExt cx="20657564" cy="1136148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FC8300F4-38FD-49CF-B51D-3CF88D95616A}"/>
                </a:ext>
              </a:extLst>
            </p:cNvPr>
            <p:cNvSpPr/>
            <p:nvPr/>
          </p:nvSpPr>
          <p:spPr>
            <a:xfrm>
              <a:off x="1860043" y="3638002"/>
              <a:ext cx="20657564" cy="531333"/>
            </a:xfrm>
            <a:prstGeom prst="rect">
              <a:avLst/>
            </a:prstGeom>
            <a:solidFill>
              <a:srgbClr val="00B0F0"/>
            </a:solidFill>
            <a:ln w="12700">
              <a:solidFill>
                <a:srgbClr val="00B0F0"/>
              </a:solidFill>
            </a:ln>
            <a:scene3d>
              <a:camera prst="orthographicFront"/>
              <a:lightRig rig="contrasting" dir="t">
                <a:rot lat="0" lon="0" rev="2400000"/>
              </a:lightRig>
            </a:scene3d>
            <a:sp3d prstMaterial="powder">
              <a:bevelB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7" tIns="18579" rIns="37157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b="1" dirty="0">
                  <a:solidFill>
                    <a:schemeClr val="bg1"/>
                  </a:solidFill>
                  <a:latin typeface="+mn-ea"/>
                  <a:cs typeface="Meiryo" charset="-128"/>
                </a:rPr>
                <a:t>問題</a:t>
              </a: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80AEEC3F-BD0C-4262-995B-446523ADA787}"/>
                </a:ext>
              </a:extLst>
            </p:cNvPr>
            <p:cNvSpPr/>
            <p:nvPr/>
          </p:nvSpPr>
          <p:spPr>
            <a:xfrm>
              <a:off x="1860043" y="4169337"/>
              <a:ext cx="20657564" cy="60481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B0F0"/>
              </a:solidFill>
            </a:ln>
            <a:effectLst>
              <a:outerShdw dist="38100" sx="1000" sy="1000" algn="tl" rotWithShape="0">
                <a:prstClr val="black"/>
              </a:outerShdw>
            </a:effectLst>
            <a:scene3d>
              <a:camera prst="orthographicFront"/>
              <a:lightRig rig="contrasting" dir="t">
                <a:rot lat="0" lon="0" rev="2400000"/>
              </a:lightRig>
            </a:scene3d>
            <a:sp3d prstMaterial="powder">
              <a:bevelB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7" tIns="18579" rIns="37157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193675">
                <a:buFont typeface="Arial" panose="020B0604020202020204" pitchFamily="34" charset="0"/>
                <a:buChar char="•"/>
              </a:pPr>
              <a:r>
                <a:rPr lang="ja-JP" altLang="en-US" dirty="0">
                  <a:solidFill>
                    <a:schemeClr val="tx1"/>
                  </a:solidFill>
                  <a:latin typeface="+mn-ea"/>
                </a:rPr>
                <a:t>商品統合管理室において、月初から提出期限まで複数業務が現状重なっており、作業工数が足りていない。</a:t>
              </a:r>
            </a:p>
          </p:txBody>
        </p:sp>
      </p:grpSp>
      <p:sp>
        <p:nvSpPr>
          <p:cNvPr id="18" name="三角形 10">
            <a:extLst>
              <a:ext uri="{FF2B5EF4-FFF2-40B4-BE49-F238E27FC236}">
                <a16:creationId xmlns:a16="http://schemas.microsoft.com/office/drawing/2014/main" id="{CCA256DA-E059-420D-BA1F-4DB4B1352F6B}"/>
              </a:ext>
            </a:extLst>
          </p:cNvPr>
          <p:cNvSpPr/>
          <p:nvPr/>
        </p:nvSpPr>
        <p:spPr>
          <a:xfrm rot="10800000">
            <a:off x="5702749" y="2968897"/>
            <a:ext cx="1068211" cy="19500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7157" tIns="18579" rIns="37157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322" dirty="0">
              <a:solidFill>
                <a:schemeClr val="accent1"/>
              </a:solidFill>
              <a:latin typeface="+mn-ea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259143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矢印: 左右 8">
            <a:extLst>
              <a:ext uri="{FF2B5EF4-FFF2-40B4-BE49-F238E27FC236}">
                <a16:creationId xmlns:a16="http://schemas.microsoft.com/office/drawing/2014/main" id="{4DA7BCD0-DA58-4523-8EA5-6DE7AC274858}"/>
              </a:ext>
            </a:extLst>
          </p:cNvPr>
          <p:cNvSpPr/>
          <p:nvPr/>
        </p:nvSpPr>
        <p:spPr>
          <a:xfrm>
            <a:off x="2013517" y="1795720"/>
            <a:ext cx="5135421" cy="638554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EDDD414E-B8B3-4B9B-A64F-07562455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</p:spPr>
        <p:txBody>
          <a:bodyPr/>
          <a:lstStyle/>
          <a:p>
            <a:r>
              <a:rPr lang="ja-JP" altLang="en-US" b="1" dirty="0"/>
              <a:t>リスク管理報告書の収録対象期間に関して</a:t>
            </a:r>
            <a:endParaRPr kumimoji="1" lang="ja-JP" altLang="en-US" b="1" dirty="0"/>
          </a:p>
        </p:txBody>
      </p:sp>
      <p:sp>
        <p:nvSpPr>
          <p:cNvPr id="3" name="矢印: 五方向 2">
            <a:extLst>
              <a:ext uri="{FF2B5EF4-FFF2-40B4-BE49-F238E27FC236}">
                <a16:creationId xmlns:a16="http://schemas.microsoft.com/office/drawing/2014/main" id="{10BAAF34-42CC-4E79-8A5C-631ED69CB919}"/>
              </a:ext>
            </a:extLst>
          </p:cNvPr>
          <p:cNvSpPr/>
          <p:nvPr/>
        </p:nvSpPr>
        <p:spPr>
          <a:xfrm>
            <a:off x="7148946" y="1831629"/>
            <a:ext cx="3205007" cy="566737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1" name="タイトル 1">
            <a:extLst>
              <a:ext uri="{FF2B5EF4-FFF2-40B4-BE49-F238E27FC236}">
                <a16:creationId xmlns:a16="http://schemas.microsoft.com/office/drawing/2014/main" id="{C75B70EB-14E0-4C87-A1A4-D3A17E992FEF}"/>
              </a:ext>
            </a:extLst>
          </p:cNvPr>
          <p:cNvSpPr txBox="1">
            <a:spLocks/>
          </p:cNvSpPr>
          <p:nvPr/>
        </p:nvSpPr>
        <p:spPr bwMode="gray">
          <a:xfrm>
            <a:off x="1570180" y="2517708"/>
            <a:ext cx="868219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638" tIns="43638" rIns="43638" bIns="43638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en-US" altLang="ja-JP" sz="2800" kern="0" dirty="0"/>
              <a:t>2/1</a:t>
            </a:r>
            <a:endParaRPr lang="ja-JP" altLang="en-US" sz="2800" kern="0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644F2DBA-03E6-4D83-90AA-F273BC198E1F}"/>
              </a:ext>
            </a:extLst>
          </p:cNvPr>
          <p:cNvSpPr txBox="1">
            <a:spLocks/>
          </p:cNvSpPr>
          <p:nvPr/>
        </p:nvSpPr>
        <p:spPr bwMode="gray">
          <a:xfrm>
            <a:off x="9919850" y="2517708"/>
            <a:ext cx="868219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638" tIns="43638" rIns="43638" bIns="43638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en-US" altLang="ja-JP" sz="2800" kern="0" dirty="0"/>
              <a:t>3/5</a:t>
            </a:r>
            <a:endParaRPr lang="ja-JP" altLang="en-US" sz="2800" kern="0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43D61FD-237C-4FBB-B299-CD8D758D6A3C}"/>
              </a:ext>
            </a:extLst>
          </p:cNvPr>
          <p:cNvCxnSpPr/>
          <p:nvPr/>
        </p:nvCxnSpPr>
        <p:spPr bwMode="auto">
          <a:xfrm>
            <a:off x="2013526" y="1565019"/>
            <a:ext cx="0" cy="833347"/>
          </a:xfrm>
          <a:prstGeom prst="line">
            <a:avLst/>
          </a:prstGeom>
          <a:ln w="38100">
            <a:headEnd type="none" w="med" len="med"/>
            <a:tailEnd type="non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9AF2C12A-369C-45E8-92A8-C3FF11D98C20}"/>
              </a:ext>
            </a:extLst>
          </p:cNvPr>
          <p:cNvCxnSpPr/>
          <p:nvPr/>
        </p:nvCxnSpPr>
        <p:spPr bwMode="auto">
          <a:xfrm>
            <a:off x="7148946" y="1565019"/>
            <a:ext cx="0" cy="833347"/>
          </a:xfrm>
          <a:prstGeom prst="line">
            <a:avLst/>
          </a:prstGeom>
          <a:ln w="38100">
            <a:headEnd type="none" w="med" len="med"/>
            <a:tailEnd type="non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AA9C3BF1-4E7D-4303-B52E-ADEC98AD3F10}"/>
              </a:ext>
            </a:extLst>
          </p:cNvPr>
          <p:cNvCxnSpPr/>
          <p:nvPr/>
        </p:nvCxnSpPr>
        <p:spPr bwMode="auto">
          <a:xfrm>
            <a:off x="10353965" y="1565019"/>
            <a:ext cx="0" cy="833347"/>
          </a:xfrm>
          <a:prstGeom prst="line">
            <a:avLst/>
          </a:prstGeom>
          <a:ln w="38100">
            <a:headEnd type="none" w="med" len="med"/>
            <a:tailEnd type="non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タイトル 1">
            <a:extLst>
              <a:ext uri="{FF2B5EF4-FFF2-40B4-BE49-F238E27FC236}">
                <a16:creationId xmlns:a16="http://schemas.microsoft.com/office/drawing/2014/main" id="{BBC646F9-08BB-484D-AC9A-9183D0A1573A}"/>
              </a:ext>
            </a:extLst>
          </p:cNvPr>
          <p:cNvSpPr txBox="1">
            <a:spLocks/>
          </p:cNvSpPr>
          <p:nvPr/>
        </p:nvSpPr>
        <p:spPr bwMode="gray">
          <a:xfrm>
            <a:off x="3071086" y="1963220"/>
            <a:ext cx="2992582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638" tIns="43638" rIns="43638" bIns="43638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ja-JP" altLang="en-US" sz="1800" kern="0" dirty="0"/>
              <a:t>報告書への収録対象期間</a:t>
            </a:r>
          </a:p>
        </p:txBody>
      </p:sp>
      <p:sp>
        <p:nvSpPr>
          <p:cNvPr id="20" name="タイトル 1">
            <a:extLst>
              <a:ext uri="{FF2B5EF4-FFF2-40B4-BE49-F238E27FC236}">
                <a16:creationId xmlns:a16="http://schemas.microsoft.com/office/drawing/2014/main" id="{95040CB0-5EA2-4235-8259-5B9896500A83}"/>
              </a:ext>
            </a:extLst>
          </p:cNvPr>
          <p:cNvSpPr txBox="1">
            <a:spLocks/>
          </p:cNvSpPr>
          <p:nvPr/>
        </p:nvSpPr>
        <p:spPr bwMode="gray">
          <a:xfrm>
            <a:off x="673945" y="1831629"/>
            <a:ext cx="2299865" cy="370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638" tIns="43638" rIns="43638" bIns="43638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ja-JP" altLang="en-US" sz="1800" b="1" kern="0" dirty="0"/>
              <a:t>現在：</a:t>
            </a:r>
          </a:p>
        </p:txBody>
      </p:sp>
      <p:pic>
        <p:nvPicPr>
          <p:cNvPr id="1034" name="Picture 10" descr="å°ãå¥³æ§ã®ã¤ã©ã¹ã | ããããããªã¼ç´ æé ãããã¨ã">
            <a:extLst>
              <a:ext uri="{FF2B5EF4-FFF2-40B4-BE49-F238E27FC236}">
                <a16:creationId xmlns:a16="http://schemas.microsoft.com/office/drawing/2014/main" id="{2A710EF1-0A1E-4B8F-838E-6156D32EA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877" y="854821"/>
            <a:ext cx="1966115" cy="2187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タイトル 1">
            <a:extLst>
              <a:ext uri="{FF2B5EF4-FFF2-40B4-BE49-F238E27FC236}">
                <a16:creationId xmlns:a16="http://schemas.microsoft.com/office/drawing/2014/main" id="{1A0FB813-63D8-41E4-852B-7E646FCD0209}"/>
              </a:ext>
            </a:extLst>
          </p:cNvPr>
          <p:cNvSpPr txBox="1">
            <a:spLocks/>
          </p:cNvSpPr>
          <p:nvPr/>
        </p:nvSpPr>
        <p:spPr bwMode="gray">
          <a:xfrm>
            <a:off x="6438992" y="1963220"/>
            <a:ext cx="2992582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638" tIns="43638" rIns="43638" bIns="43638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ja-JP" altLang="en-US" sz="1800" kern="0" dirty="0"/>
              <a:t>作業期間</a:t>
            </a:r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189103F9-062B-481D-A3B5-BF8E927A54FD}"/>
              </a:ext>
            </a:extLst>
          </p:cNvPr>
          <p:cNvSpPr txBox="1">
            <a:spLocks/>
          </p:cNvSpPr>
          <p:nvPr/>
        </p:nvSpPr>
        <p:spPr bwMode="gray">
          <a:xfrm>
            <a:off x="6622469" y="2502194"/>
            <a:ext cx="1070172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638" tIns="43638" rIns="43638" bIns="43638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en-US" altLang="ja-JP" sz="2800" kern="0" dirty="0"/>
              <a:t>2/28</a:t>
            </a:r>
            <a:endParaRPr lang="ja-JP" altLang="en-US" sz="2800" kern="0" dirty="0"/>
          </a:p>
        </p:txBody>
      </p:sp>
      <p:pic>
        <p:nvPicPr>
          <p:cNvPr id="34" name="Picture 8" descr="ã´ã¼ã«ãã¤ã©ã¹ãç¡æ">
            <a:extLst>
              <a:ext uri="{FF2B5EF4-FFF2-40B4-BE49-F238E27FC236}">
                <a16:creationId xmlns:a16="http://schemas.microsoft.com/office/drawing/2014/main" id="{3806A6B4-4DA0-467F-897A-6E374ACDA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0000">
            <a:off x="9674215" y="4295634"/>
            <a:ext cx="1396423" cy="77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矢印: 左右 34">
            <a:extLst>
              <a:ext uri="{FF2B5EF4-FFF2-40B4-BE49-F238E27FC236}">
                <a16:creationId xmlns:a16="http://schemas.microsoft.com/office/drawing/2014/main" id="{8999AB03-4B2F-4ABE-A6FB-D1C883A0F20B}"/>
              </a:ext>
            </a:extLst>
          </p:cNvPr>
          <p:cNvSpPr/>
          <p:nvPr/>
        </p:nvSpPr>
        <p:spPr>
          <a:xfrm>
            <a:off x="2031989" y="5015328"/>
            <a:ext cx="5135421" cy="638554"/>
          </a:xfrm>
          <a:prstGeom prst="leftRightArrow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36" name="矢印: 五方向 35">
            <a:extLst>
              <a:ext uri="{FF2B5EF4-FFF2-40B4-BE49-F238E27FC236}">
                <a16:creationId xmlns:a16="http://schemas.microsoft.com/office/drawing/2014/main" id="{4DF5A6C5-0CF1-4E7B-9C11-4004F95A6911}"/>
              </a:ext>
            </a:extLst>
          </p:cNvPr>
          <p:cNvSpPr/>
          <p:nvPr/>
        </p:nvSpPr>
        <p:spPr>
          <a:xfrm>
            <a:off x="7167418" y="5051237"/>
            <a:ext cx="3205007" cy="566737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37" name="タイトル 1">
            <a:extLst>
              <a:ext uri="{FF2B5EF4-FFF2-40B4-BE49-F238E27FC236}">
                <a16:creationId xmlns:a16="http://schemas.microsoft.com/office/drawing/2014/main" id="{EDB85051-A1F6-43AD-A4BE-F7CCFA33D2B9}"/>
              </a:ext>
            </a:extLst>
          </p:cNvPr>
          <p:cNvSpPr txBox="1">
            <a:spLocks/>
          </p:cNvSpPr>
          <p:nvPr/>
        </p:nvSpPr>
        <p:spPr bwMode="gray">
          <a:xfrm>
            <a:off x="6622469" y="5721802"/>
            <a:ext cx="1095940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638" tIns="43638" rIns="43638" bIns="43638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en-US" altLang="ja-JP" sz="2800" b="1" kern="0" dirty="0">
                <a:solidFill>
                  <a:srgbClr val="FF0000"/>
                </a:solidFill>
              </a:rPr>
              <a:t>2/20</a:t>
            </a:r>
            <a:endParaRPr lang="ja-JP" altLang="en-US" sz="2800" b="1" kern="0" dirty="0">
              <a:solidFill>
                <a:srgbClr val="FF0000"/>
              </a:solidFill>
            </a:endParaRPr>
          </a:p>
        </p:txBody>
      </p:sp>
      <p:sp>
        <p:nvSpPr>
          <p:cNvPr id="38" name="タイトル 1">
            <a:extLst>
              <a:ext uri="{FF2B5EF4-FFF2-40B4-BE49-F238E27FC236}">
                <a16:creationId xmlns:a16="http://schemas.microsoft.com/office/drawing/2014/main" id="{98A7DA3C-ABBE-44CE-B93A-4F6CFF4144CA}"/>
              </a:ext>
            </a:extLst>
          </p:cNvPr>
          <p:cNvSpPr txBox="1">
            <a:spLocks/>
          </p:cNvSpPr>
          <p:nvPr/>
        </p:nvSpPr>
        <p:spPr bwMode="gray">
          <a:xfrm>
            <a:off x="9938322" y="5737316"/>
            <a:ext cx="868219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638" tIns="43638" rIns="43638" bIns="43638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en-US" altLang="ja-JP" sz="2800" kern="0" dirty="0"/>
              <a:t>3/5</a:t>
            </a:r>
            <a:endParaRPr lang="ja-JP" altLang="en-US" sz="2800" kern="0" dirty="0"/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283B58F4-6BF9-44B0-AE42-FCA6D4CB0C31}"/>
              </a:ext>
            </a:extLst>
          </p:cNvPr>
          <p:cNvCxnSpPr/>
          <p:nvPr/>
        </p:nvCxnSpPr>
        <p:spPr bwMode="auto">
          <a:xfrm>
            <a:off x="2031998" y="4784627"/>
            <a:ext cx="0" cy="833347"/>
          </a:xfrm>
          <a:prstGeom prst="line">
            <a:avLst/>
          </a:prstGeom>
          <a:ln w="38100">
            <a:headEnd type="none" w="med" len="med"/>
            <a:tailEnd type="non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730DE9A7-6C8D-4D5C-B637-BC5B4878132F}"/>
              </a:ext>
            </a:extLst>
          </p:cNvPr>
          <p:cNvCxnSpPr/>
          <p:nvPr/>
        </p:nvCxnSpPr>
        <p:spPr bwMode="auto">
          <a:xfrm>
            <a:off x="7167418" y="4784627"/>
            <a:ext cx="0" cy="833347"/>
          </a:xfrm>
          <a:prstGeom prst="line">
            <a:avLst/>
          </a:prstGeom>
          <a:ln w="38100">
            <a:headEnd type="none" w="med" len="med"/>
            <a:tailEnd type="non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689EA1C-0850-4900-AFF7-808D11CF96C8}"/>
              </a:ext>
            </a:extLst>
          </p:cNvPr>
          <p:cNvCxnSpPr/>
          <p:nvPr/>
        </p:nvCxnSpPr>
        <p:spPr bwMode="auto">
          <a:xfrm>
            <a:off x="10372437" y="4784627"/>
            <a:ext cx="0" cy="833347"/>
          </a:xfrm>
          <a:prstGeom prst="line">
            <a:avLst/>
          </a:prstGeom>
          <a:ln w="38100">
            <a:headEnd type="none" w="med" len="med"/>
            <a:tailEnd type="non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タイトル 1">
            <a:extLst>
              <a:ext uri="{FF2B5EF4-FFF2-40B4-BE49-F238E27FC236}">
                <a16:creationId xmlns:a16="http://schemas.microsoft.com/office/drawing/2014/main" id="{AA314CBD-E2C4-4855-B2CB-A4DEB6587EFF}"/>
              </a:ext>
            </a:extLst>
          </p:cNvPr>
          <p:cNvSpPr txBox="1">
            <a:spLocks/>
          </p:cNvSpPr>
          <p:nvPr/>
        </p:nvSpPr>
        <p:spPr bwMode="gray">
          <a:xfrm>
            <a:off x="683457" y="5149493"/>
            <a:ext cx="1348520" cy="370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638" tIns="43638" rIns="43638" bIns="43638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ja-JP" altLang="en-US" sz="1800" b="1" kern="0" dirty="0"/>
              <a:t>今後の案：</a:t>
            </a:r>
          </a:p>
        </p:txBody>
      </p:sp>
      <p:sp>
        <p:nvSpPr>
          <p:cNvPr id="43" name="タイトル 1">
            <a:extLst>
              <a:ext uri="{FF2B5EF4-FFF2-40B4-BE49-F238E27FC236}">
                <a16:creationId xmlns:a16="http://schemas.microsoft.com/office/drawing/2014/main" id="{39C2637E-FC75-4C1C-B531-30D16AC769A8}"/>
              </a:ext>
            </a:extLst>
          </p:cNvPr>
          <p:cNvSpPr txBox="1">
            <a:spLocks/>
          </p:cNvSpPr>
          <p:nvPr/>
        </p:nvSpPr>
        <p:spPr bwMode="gray">
          <a:xfrm>
            <a:off x="1488442" y="5737316"/>
            <a:ext cx="1094478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638" tIns="43638" rIns="43638" bIns="43638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en-US" altLang="ja-JP" sz="2800" b="1" kern="0" dirty="0">
                <a:solidFill>
                  <a:srgbClr val="FF0000"/>
                </a:solidFill>
              </a:rPr>
              <a:t>1/21</a:t>
            </a:r>
            <a:endParaRPr lang="ja-JP" altLang="en-US" sz="2800" b="1" kern="0" dirty="0">
              <a:solidFill>
                <a:srgbClr val="FF0000"/>
              </a:solidFill>
            </a:endParaRPr>
          </a:p>
        </p:txBody>
      </p:sp>
      <p:pic>
        <p:nvPicPr>
          <p:cNvPr id="44" name="Picture 2" descr="æ±äº¬ãã©ã½ã³ã®ä¸è¬åå ä¸­æ­¢ã¨ãåå è²»ã®åé¡ã«ã¤ãã¦ | ãããä¸¦ã¼ãï¼ã¸ã£ãã©ãï¼">
            <a:extLst>
              <a:ext uri="{FF2B5EF4-FFF2-40B4-BE49-F238E27FC236}">
                <a16:creationId xmlns:a16="http://schemas.microsoft.com/office/drawing/2014/main" id="{566E8960-D024-411B-90AD-3B4E201F7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07215" y="4282697"/>
            <a:ext cx="1643474" cy="20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タイトル 1">
            <a:extLst>
              <a:ext uri="{FF2B5EF4-FFF2-40B4-BE49-F238E27FC236}">
                <a16:creationId xmlns:a16="http://schemas.microsoft.com/office/drawing/2014/main" id="{1290FF36-EEC2-412D-9FB1-3ECD20BA9217}"/>
              </a:ext>
            </a:extLst>
          </p:cNvPr>
          <p:cNvSpPr txBox="1">
            <a:spLocks/>
          </p:cNvSpPr>
          <p:nvPr/>
        </p:nvSpPr>
        <p:spPr bwMode="gray">
          <a:xfrm>
            <a:off x="3089558" y="5187370"/>
            <a:ext cx="2992582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638" tIns="43638" rIns="43638" bIns="43638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ja-JP" altLang="en-US" sz="1800" kern="0" dirty="0"/>
              <a:t>報告書への収録対象期間</a:t>
            </a:r>
          </a:p>
        </p:txBody>
      </p:sp>
      <p:sp>
        <p:nvSpPr>
          <p:cNvPr id="46" name="タイトル 1">
            <a:extLst>
              <a:ext uri="{FF2B5EF4-FFF2-40B4-BE49-F238E27FC236}">
                <a16:creationId xmlns:a16="http://schemas.microsoft.com/office/drawing/2014/main" id="{1648D1BD-ACC5-49A6-AAFF-C86E02926836}"/>
              </a:ext>
            </a:extLst>
          </p:cNvPr>
          <p:cNvSpPr txBox="1">
            <a:spLocks/>
          </p:cNvSpPr>
          <p:nvPr/>
        </p:nvSpPr>
        <p:spPr bwMode="gray">
          <a:xfrm>
            <a:off x="6270946" y="5187370"/>
            <a:ext cx="2992582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638" tIns="43638" rIns="43638" bIns="43638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ja-JP" altLang="en-US" sz="1800" kern="0" dirty="0"/>
              <a:t>作業期間</a:t>
            </a:r>
          </a:p>
        </p:txBody>
      </p:sp>
      <p:sp>
        <p:nvSpPr>
          <p:cNvPr id="48" name="下矢印 7">
            <a:extLst>
              <a:ext uri="{FF2B5EF4-FFF2-40B4-BE49-F238E27FC236}">
                <a16:creationId xmlns:a16="http://schemas.microsoft.com/office/drawing/2014/main" id="{0407C26E-A2EF-4609-BDF2-DEBFED4BA373}"/>
              </a:ext>
            </a:extLst>
          </p:cNvPr>
          <p:cNvSpPr/>
          <p:nvPr/>
        </p:nvSpPr>
        <p:spPr>
          <a:xfrm rot="16200000">
            <a:off x="5588694" y="-651850"/>
            <a:ext cx="1062312" cy="8497666"/>
          </a:xfrm>
          <a:prstGeom prst="downArrow">
            <a:avLst>
              <a:gd name="adj1" fmla="val 50000"/>
              <a:gd name="adj2" fmla="val 67021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2000" b="1" kern="0" dirty="0"/>
              <a:t>収録対象期間を</a:t>
            </a:r>
            <a:r>
              <a:rPr lang="ja-JP" altLang="en-US" sz="3200" b="1" kern="0" dirty="0"/>
              <a:t>月末</a:t>
            </a:r>
            <a:r>
              <a:rPr lang="ja-JP" altLang="en-US" sz="2000" b="1" kern="0" dirty="0"/>
              <a:t>締め→</a:t>
            </a:r>
            <a:r>
              <a:rPr lang="en-US" altLang="ja-JP" sz="3200" b="1" kern="0" dirty="0"/>
              <a:t>20</a:t>
            </a:r>
            <a:r>
              <a:rPr lang="ja-JP" altLang="en-US" sz="3200" b="1" kern="0" dirty="0"/>
              <a:t>日</a:t>
            </a:r>
            <a:r>
              <a:rPr lang="ja-JP" altLang="en-US" sz="2000" b="1" kern="0" dirty="0"/>
              <a:t>締めへ</a:t>
            </a:r>
            <a:endParaRPr kumimoji="1" lang="ja-JP" altLang="en-US" sz="1951" b="1" dirty="0">
              <a:latin typeface="+mn-ea"/>
            </a:endParaRPr>
          </a:p>
        </p:txBody>
      </p:sp>
      <p:sp>
        <p:nvSpPr>
          <p:cNvPr id="63" name="タイトル 1">
            <a:extLst>
              <a:ext uri="{FF2B5EF4-FFF2-40B4-BE49-F238E27FC236}">
                <a16:creationId xmlns:a16="http://schemas.microsoft.com/office/drawing/2014/main" id="{7FC1576C-D28B-4DD8-91E7-C29EA00D3992}"/>
              </a:ext>
            </a:extLst>
          </p:cNvPr>
          <p:cNvSpPr txBox="1">
            <a:spLocks/>
          </p:cNvSpPr>
          <p:nvPr/>
        </p:nvSpPr>
        <p:spPr>
          <a:xfrm>
            <a:off x="1902680" y="908180"/>
            <a:ext cx="8321976" cy="620931"/>
          </a:xfrm>
          <a:prstGeom prst="rect">
            <a:avLst/>
          </a:prstGeom>
        </p:spPr>
        <p:txBody>
          <a:bodyPr anchor="ctr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ts val="1219"/>
              </a:spcBef>
              <a:buClrTx/>
            </a:pPr>
            <a:r>
              <a:rPr lang="ja-JP" altLang="ja-JP" b="1" dirty="0"/>
              <a:t>商品統合管理室</a:t>
            </a:r>
            <a:r>
              <a:rPr lang="ja-JP" altLang="en-US" b="1" dirty="0"/>
              <a:t>の</a:t>
            </a:r>
            <a:r>
              <a:rPr lang="ja-JP" altLang="en-US" b="1" kern="0" dirty="0">
                <a:latin typeface="+mn-ea"/>
              </a:rPr>
              <a:t>現状と今後の流れ</a:t>
            </a:r>
            <a:endParaRPr lang="en-US" altLang="ja-JP" b="1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7623632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36ACFE2D-6826-43B2-9CB9-D08A59D08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</p:spPr>
        <p:txBody>
          <a:bodyPr/>
          <a:lstStyle/>
          <a:p>
            <a:r>
              <a:rPr lang="ja-JP" altLang="en-US" b="1" dirty="0"/>
              <a:t>リスク管理報告書の収録対象期間に関して</a:t>
            </a:r>
            <a:endParaRPr kumimoji="1" lang="ja-JP" altLang="en-US" b="1" dirty="0"/>
          </a:p>
        </p:txBody>
      </p:sp>
      <p:sp>
        <p:nvSpPr>
          <p:cNvPr id="26" name="タイトル 1">
            <a:extLst>
              <a:ext uri="{FF2B5EF4-FFF2-40B4-BE49-F238E27FC236}">
                <a16:creationId xmlns:a16="http://schemas.microsoft.com/office/drawing/2014/main" id="{2812819E-6778-4D83-BEDA-EDD0CE93362B}"/>
              </a:ext>
            </a:extLst>
          </p:cNvPr>
          <p:cNvSpPr txBox="1">
            <a:spLocks/>
          </p:cNvSpPr>
          <p:nvPr/>
        </p:nvSpPr>
        <p:spPr>
          <a:xfrm>
            <a:off x="1902680" y="908180"/>
            <a:ext cx="8321976" cy="620931"/>
          </a:xfrm>
          <a:prstGeom prst="rect">
            <a:avLst/>
          </a:prstGeom>
        </p:spPr>
        <p:txBody>
          <a:bodyPr anchor="ctr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ts val="1219"/>
              </a:spcBef>
              <a:buClrTx/>
            </a:pPr>
            <a:r>
              <a:rPr lang="ja-JP" altLang="en-US" b="1" kern="0" dirty="0">
                <a:latin typeface="+mn-ea"/>
              </a:rPr>
              <a:t>期待される効果について</a:t>
            </a:r>
            <a:endParaRPr lang="en-US" altLang="ja-JP" b="1" kern="0" dirty="0">
              <a:latin typeface="+mn-ea"/>
            </a:endParaRPr>
          </a:p>
        </p:txBody>
      </p:sp>
      <p:sp>
        <p:nvSpPr>
          <p:cNvPr id="28" name="上矢印 17">
            <a:extLst>
              <a:ext uri="{FF2B5EF4-FFF2-40B4-BE49-F238E27FC236}">
                <a16:creationId xmlns:a16="http://schemas.microsoft.com/office/drawing/2014/main" id="{2A297785-AE80-45BB-A23A-05AFB8809A0B}"/>
              </a:ext>
            </a:extLst>
          </p:cNvPr>
          <p:cNvSpPr/>
          <p:nvPr/>
        </p:nvSpPr>
        <p:spPr>
          <a:xfrm rot="4375492">
            <a:off x="5539443" y="-925409"/>
            <a:ext cx="1328085" cy="8140538"/>
          </a:xfrm>
          <a:prstGeom prst="upArrow">
            <a:avLst/>
          </a:prstGeom>
          <a:gradFill flip="none" rotWithShape="1">
            <a:gsLst>
              <a:gs pos="64000">
                <a:srgbClr val="00B0F0"/>
              </a:gs>
              <a:gs pos="0">
                <a:srgbClr val="0070C0"/>
              </a:gs>
              <a:gs pos="99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270000" dist="23000" rotWithShape="0">
              <a:srgbClr val="000000">
                <a:alpha val="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0" h="254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ja-JP" altLang="en-US" sz="322" dirty="0">
              <a:latin typeface="+mn-ea"/>
              <a:cs typeface="メイリオ" pitchFamily="50" charset="-128"/>
            </a:endParaRPr>
          </a:p>
        </p:txBody>
      </p:sp>
      <p:sp>
        <p:nvSpPr>
          <p:cNvPr id="20" name="タイトル 1">
            <a:extLst>
              <a:ext uri="{FF2B5EF4-FFF2-40B4-BE49-F238E27FC236}">
                <a16:creationId xmlns:a16="http://schemas.microsoft.com/office/drawing/2014/main" id="{AFA06529-B739-45CC-8814-70149FCFFB64}"/>
              </a:ext>
            </a:extLst>
          </p:cNvPr>
          <p:cNvSpPr txBox="1">
            <a:spLocks/>
          </p:cNvSpPr>
          <p:nvPr/>
        </p:nvSpPr>
        <p:spPr bwMode="gray">
          <a:xfrm>
            <a:off x="3852018" y="2745842"/>
            <a:ext cx="4784327" cy="1179852"/>
          </a:xfrm>
          <a:prstGeom prst="rect">
            <a:avLst/>
          </a:prstGeom>
          <a:solidFill>
            <a:schemeClr val="bg1"/>
          </a:solidFill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 vert="horz" wrap="square" lIns="144000" tIns="43638" rIns="144000" bIns="43638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ja-JP" altLang="en-US" sz="2000" b="1" kern="0" dirty="0"/>
              <a:t>収録対象期間を変更するメリット</a:t>
            </a:r>
            <a:endParaRPr lang="en-US" altLang="ja-JP" sz="2000" b="1" kern="0" dirty="0"/>
          </a:p>
          <a:p>
            <a:pPr marL="285750" indent="-193675" algn="just">
              <a:buFont typeface="Arial" panose="020B0604020202020204" pitchFamily="34" charset="0"/>
              <a:buChar char="•"/>
            </a:pPr>
            <a:r>
              <a:rPr lang="ja-JP" altLang="en-US" sz="1800" kern="0" dirty="0"/>
              <a:t>グルーリスク管理室で行っている作業への影響が少なくなります。</a:t>
            </a:r>
            <a:endParaRPr lang="en-US" altLang="ja-JP" sz="1800" kern="0" dirty="0"/>
          </a:p>
        </p:txBody>
      </p:sp>
      <p:pic>
        <p:nvPicPr>
          <p:cNvPr id="25" name="Picture 6" descr="ãè¾åã»æ¨æ¶ããã¦ããå¥³ã®å­ã®ã¤ã©ã¹ã | ããããããªã¼ç´ æé ãããã¨ã">
            <a:extLst>
              <a:ext uri="{FF2B5EF4-FFF2-40B4-BE49-F238E27FC236}">
                <a16:creationId xmlns:a16="http://schemas.microsoft.com/office/drawing/2014/main" id="{FDF60069-DF80-4B49-8A31-989D68E51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0120" y="4974767"/>
            <a:ext cx="1415804" cy="1575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吹き出し: 四角形 28">
            <a:extLst>
              <a:ext uri="{FF2B5EF4-FFF2-40B4-BE49-F238E27FC236}">
                <a16:creationId xmlns:a16="http://schemas.microsoft.com/office/drawing/2014/main" id="{EE3D18B1-5F50-4A71-8635-4BB32C9E0690}"/>
              </a:ext>
            </a:extLst>
          </p:cNvPr>
          <p:cNvSpPr/>
          <p:nvPr/>
        </p:nvSpPr>
        <p:spPr>
          <a:xfrm>
            <a:off x="7289512" y="4329714"/>
            <a:ext cx="3214779" cy="620931"/>
          </a:xfrm>
          <a:prstGeom prst="wedgeRectCallout">
            <a:avLst>
              <a:gd name="adj1" fmla="val 44301"/>
              <a:gd name="adj2" fmla="val 101047"/>
            </a:avLst>
          </a:prstGeom>
          <a:solidFill>
            <a:schemeClr val="bg1"/>
          </a:solidFill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16000" tIns="7200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kern="0" dirty="0"/>
              <a:t>よろしくお願いいたします</a:t>
            </a:r>
            <a:endParaRPr lang="en-US" altLang="ja-JP" kern="0" dirty="0"/>
          </a:p>
        </p:txBody>
      </p:sp>
    </p:spTree>
    <p:extLst>
      <p:ext uri="{BB962C8B-B14F-4D97-AF65-F5344CB8AC3E}">
        <p14:creationId xmlns:p14="http://schemas.microsoft.com/office/powerpoint/2010/main" val="108077332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テーマ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3">
      <a:majorFont>
        <a:latin typeface="Meiryo UI"/>
        <a:ea typeface="メイリオ"/>
        <a:cs typeface=""/>
      </a:majorFont>
      <a:minorFont>
        <a:latin typeface="Meiryo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ysClr val="window" lastClr="FFFFFF">
            <a:lumMod val="95000"/>
          </a:sysClr>
        </a:solidFill>
        <a:ln w="12700" cap="flat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171450" marR="0" indent="-17145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 typeface="Arial" panose="020B0604020202020204" pitchFamily="34" charset="0"/>
          <a:buChar char="•"/>
          <a:tabLst/>
          <a:defRPr kumimoji="0" sz="1200" b="0" i="0" u="none" strike="noStrike" kern="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Meiryo UI"/>
            <a:ea typeface="Meiryo UI"/>
            <a:cs typeface="+mn-cs"/>
          </a:defRPr>
        </a:defPPr>
      </a:lstStyle>
    </a:spDef>
    <a:lnDef>
      <a:spPr bwMode="auto">
        <a:solidFill>
          <a:srgbClr val="FFFFFF"/>
        </a:solidFill>
        <a:ln w="9525" cap="flat" cmpd="sng" algn="ctr">
          <a:solidFill>
            <a:schemeClr val="bg1">
              <a:lumMod val="50000"/>
            </a:schemeClr>
          </a:solidFill>
          <a:prstDash val="solid"/>
          <a:round/>
          <a:headEnd type="none" w="med" len="med"/>
          <a:tailEnd type="none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none" rtlCol="0">
        <a:spAutoFit/>
      </a:bodyPr>
      <a:lstStyle>
        <a:defPPr algn="ctr">
          <a:defRPr sz="1600" dirty="0" smtClean="0"/>
        </a:defPPr>
      </a:lstStyle>
    </a:txDef>
  </a:objectDefaults>
  <a:extraClrSchemeLst>
    <a:extraClrScheme>
      <a:clrScheme name="A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5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666699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6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669999"/>
        </a:hlink>
        <a:folHlink>
          <a:srgbClr val="3300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7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3366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8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336666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9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0066CC"/>
        </a:hlink>
        <a:folHlink>
          <a:srgbClr val="CC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10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999999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11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80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AAC0AA"/>
        </a:accent5>
        <a:accent6>
          <a:srgbClr val="002D2D"/>
        </a:accent6>
        <a:hlink>
          <a:srgbClr val="0066CC"/>
        </a:hlink>
        <a:folHlink>
          <a:srgbClr val="CC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1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33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ADAA"/>
        </a:accent5>
        <a:accent6>
          <a:srgbClr val="002D2D"/>
        </a:accent6>
        <a:hlink>
          <a:srgbClr val="0066CC"/>
        </a:hlink>
        <a:folHlink>
          <a:srgbClr val="CCCC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ビックカメラ.potx" id="{863C7610-D6E9-4C3D-9B53-3923A252BC56}" vid="{A9D3D4FB-C2E3-4803-B881-A5F8ABB1D9C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Psas改修_0727</Template>
  <TotalTime>39631</TotalTime>
  <Words>322</Words>
  <Application>Microsoft Office PowerPoint</Application>
  <PresentationFormat>ワイド画面</PresentationFormat>
  <Paragraphs>46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4" baseType="lpstr">
      <vt:lpstr>HGP創英角ｺﾞｼｯｸUB</vt:lpstr>
      <vt:lpstr>Meiryo UI</vt:lpstr>
      <vt:lpstr>ＭＳ Ｐゴシック</vt:lpstr>
      <vt:lpstr>メイリオ</vt:lpstr>
      <vt:lpstr>メイリオ</vt:lpstr>
      <vt:lpstr>Arial</vt:lpstr>
      <vt:lpstr>Calibri</vt:lpstr>
      <vt:lpstr>Wingdings</vt:lpstr>
      <vt:lpstr>テーマ3</vt:lpstr>
      <vt:lpstr>商品統合管理室からリスク管理報告書を期限内に提出する。</vt:lpstr>
      <vt:lpstr>商品統合管理室からリスク管理報告書を期限内に提出する。</vt:lpstr>
      <vt:lpstr>商品統合管理室からリスク管理報告書を期限内に提出する。</vt:lpstr>
      <vt:lpstr>リスク管理報告書の収録対象期間に関して</vt:lpstr>
      <vt:lpstr>リスク管理報告書の収録対象期間に関して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hosoda</dc:creator>
  <cp:lastModifiedBy>11201062　吉橋　章</cp:lastModifiedBy>
  <cp:revision>2086</cp:revision>
  <cp:lastPrinted>2017-09-11T09:20:52Z</cp:lastPrinted>
  <dcterms:created xsi:type="dcterms:W3CDTF">2017-07-29T09:39:54Z</dcterms:created>
  <dcterms:modified xsi:type="dcterms:W3CDTF">2021-03-17T08:46:33Z</dcterms:modified>
</cp:coreProperties>
</file>