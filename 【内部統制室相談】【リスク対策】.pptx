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10"/>
  </p:notesMasterIdLst>
  <p:handoutMasterIdLst>
    <p:handoutMasterId r:id="rId11"/>
  </p:handoutMasterIdLst>
  <p:sldIdLst>
    <p:sldId id="699" r:id="rId2"/>
    <p:sldId id="698" r:id="rId3"/>
    <p:sldId id="687" r:id="rId4"/>
    <p:sldId id="704" r:id="rId5"/>
    <p:sldId id="708" r:id="rId6"/>
    <p:sldId id="701" r:id="rId7"/>
    <p:sldId id="742" r:id="rId8"/>
    <p:sldId id="743" r:id="rId9"/>
  </p:sldIdLst>
  <p:sldSz cx="12192000" cy="6858000"/>
  <p:notesSz cx="673576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09068　松尾　健司" initials="1" lastIdx="3" clrIdx="0">
    <p:extLst>
      <p:ext uri="{19B8F6BF-5375-455C-9EA6-DF929625EA0E}">
        <p15:presenceInfo xmlns:p15="http://schemas.microsoft.com/office/powerpoint/2012/main" userId="S-1-5-21-4172189229-2787287235-243375271-6735" providerId="AD"/>
      </p:ext>
    </p:extLst>
  </p:cmAuthor>
  <p:cmAuthor id="2" name="智晴 東野" initials="智晴" lastIdx="2" clrIdx="1">
    <p:extLst>
      <p:ext uri="{19B8F6BF-5375-455C-9EA6-DF929625EA0E}">
        <p15:presenceInfo xmlns:p15="http://schemas.microsoft.com/office/powerpoint/2012/main" userId="2b4cbf9fc6f884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CCFF"/>
    <a:srgbClr val="FF0066"/>
    <a:srgbClr val="FFCC00"/>
    <a:srgbClr val="FFFFCC"/>
    <a:srgbClr val="8E0000"/>
    <a:srgbClr val="DEE22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9" autoAdjust="0"/>
    <p:restoredTop sz="91197" autoAdjust="0"/>
  </p:normalViewPr>
  <p:slideViewPr>
    <p:cSldViewPr snapToGrid="0">
      <p:cViewPr varScale="1">
        <p:scale>
          <a:sx n="83" d="100"/>
          <a:sy n="83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050"/>
    </p:cViewPr>
  </p:sorterViewPr>
  <p:notesViewPr>
    <p:cSldViewPr snapToGrid="0">
      <p:cViewPr varScale="1">
        <p:scale>
          <a:sx n="69" d="100"/>
          <a:sy n="69" d="100"/>
        </p:scale>
        <p:origin x="3512" y="208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8728F2C9-6A85-4A53-9C26-77215B7BA093}" type="datetimeFigureOut">
              <a:rPr kumimoji="1" lang="ja-JP" altLang="en-US" smtClean="0"/>
              <a:pPr/>
              <a:t>2022/7/19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377046"/>
            <a:ext cx="2919413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7046"/>
            <a:ext cx="2919412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17C02088-5C5A-4A84-B9FF-52F59138A6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339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26A4112D-3992-4EA1-8AD8-804232A30FE1}" type="datetimeFigureOut">
              <a:rPr kumimoji="1" lang="ja-JP" altLang="en-US" smtClean="0"/>
              <a:pPr/>
              <a:t>2022/7/19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51219"/>
            <a:ext cx="5388610" cy="3887361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A22D667A-AAE3-42D2-A3D4-CC96BBA9ADD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0837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373745" y="3885363"/>
            <a:ext cx="7935179" cy="839787"/>
          </a:xfrm>
          <a:prstGeom prst="rect">
            <a:avLst/>
          </a:prstGeom>
        </p:spPr>
        <p:txBody>
          <a:bodyPr lIns="0" rIns="87277"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  <p:sp>
        <p:nvSpPr>
          <p:cNvPr id="10336" name="Rectangle 9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55574" y="5589240"/>
            <a:ext cx="7917187" cy="704850"/>
          </a:xfrm>
          <a:prstGeom prst="rect">
            <a:avLst/>
          </a:prstGeom>
        </p:spPr>
        <p:txBody>
          <a:bodyPr lIns="0" tIns="43638" rIns="87277" bIns="43638" anchor="ctr"/>
          <a:lstStyle>
            <a:lvl1pPr algn="ctr">
              <a:defRPr sz="13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en-US" altLang="ja-JP" noProof="0"/>
          </a:p>
        </p:txBody>
      </p:sp>
      <p:sp>
        <p:nvSpPr>
          <p:cNvPr id="2" name="正方形/長方形 1"/>
          <p:cNvSpPr/>
          <p:nvPr/>
        </p:nvSpPr>
        <p:spPr>
          <a:xfrm>
            <a:off x="513841" y="3453317"/>
            <a:ext cx="11076923" cy="72000"/>
          </a:xfrm>
          <a:prstGeom prst="rect">
            <a:avLst/>
          </a:prstGeom>
          <a:solidFill>
            <a:srgbClr val="D60000"/>
          </a:solidFill>
          <a:ln w="15875" algn="ctr">
            <a:noFill/>
            <a:miter lim="800000"/>
            <a:headEnd/>
            <a:tailEnd/>
          </a:ln>
        </p:spPr>
        <p:txBody>
          <a:bodyPr wrap="square" lIns="36000" tIns="36000" rIns="36000" bIns="36000" rtlCol="0" anchor="ctr"/>
          <a:lstStyle/>
          <a:p>
            <a:pPr algn="ctr"/>
            <a:endParaRPr kumimoji="1" lang="ja-JP" altLang="en-US" sz="18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78294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  <a:prstGeom prst="rect">
            <a:avLst/>
          </a:prstGeom>
        </p:spPr>
        <p:txBody>
          <a:bodyPr anchor="ctr"/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AutoShape 128">
            <a:extLst>
              <a:ext uri="{FF2B5EF4-FFF2-40B4-BE49-F238E27FC236}">
                <a16:creationId xmlns:a16="http://schemas.microsoft.com/office/drawing/2014/main" id="{0DBE7314-6AED-4138-9956-DB8139973634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25402" y="548680"/>
            <a:ext cx="12121661" cy="46038"/>
          </a:xfrm>
          <a:prstGeom prst="rect">
            <a:avLst/>
          </a:prstGeom>
          <a:solidFill>
            <a:srgbClr val="CC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hangingPunct="0">
              <a:spcBef>
                <a:spcPct val="10000"/>
              </a:spcBef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880051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980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36383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6pPr>
      <a:lvl7pPr marL="872765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7pPr>
      <a:lvl8pPr marL="1309148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8pPr>
      <a:lvl9pPr marL="1745530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•"/>
        <a:defRPr kumimoji="1" sz="17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1588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kumimoji="1" sz="1300">
          <a:solidFill>
            <a:schemeClr val="tx1"/>
          </a:solidFill>
          <a:latin typeface="+mn-lt"/>
        </a:defRPr>
      </a:lvl2pPr>
      <a:lvl3pPr marL="94615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</a:defRPr>
      </a:lvl3pPr>
      <a:lvl4pPr marL="133350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22438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159186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6pPr>
      <a:lvl7pPr marL="2595568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7pPr>
      <a:lvl8pPr marL="3031951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8pPr>
      <a:lvl9pPr marL="3468334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ja-JP"/>
      </a:defPPr>
      <a:lvl1pPr marL="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38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765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914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553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91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8296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467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1061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4524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ja-JP" b="1" dirty="0"/>
              <a:t>42</a:t>
            </a:r>
            <a:r>
              <a:rPr lang="ja-JP" altLang="en-US" b="1" dirty="0"/>
              <a:t>期のリスク対策として、課題の洗い出しを実施した</a:t>
            </a:r>
            <a:endParaRPr lang="en-US" altLang="ja-JP" b="1" dirty="0"/>
          </a:p>
          <a:p>
            <a:r>
              <a:rPr lang="ja-JP" altLang="en-US" b="1" dirty="0"/>
              <a:t>洗い出しした課題は</a:t>
            </a:r>
            <a:r>
              <a:rPr lang="ja-JP" altLang="en-US" dirty="0"/>
              <a:t>、</a:t>
            </a:r>
            <a:endParaRPr lang="en-US" altLang="ja-JP" dirty="0"/>
          </a:p>
          <a:p>
            <a:pPr algn="just"/>
            <a:r>
              <a:rPr lang="ja-JP" altLang="en-US" dirty="0"/>
              <a:t>全</a:t>
            </a:r>
            <a:r>
              <a:rPr lang="en-US" altLang="ja-JP" dirty="0"/>
              <a:t>94</a:t>
            </a:r>
            <a:r>
              <a:rPr lang="ja-JP" altLang="en-US" dirty="0"/>
              <a:t>件。下記</a:t>
            </a:r>
            <a:r>
              <a:rPr lang="en-US" altLang="ja-JP" dirty="0"/>
              <a:t>5</a:t>
            </a:r>
            <a:r>
              <a:rPr lang="ja-JP" altLang="en-US" dirty="0"/>
              <a:t>項目を統合したデータ</a:t>
            </a:r>
            <a:endParaRPr lang="en-US" altLang="ja-JP" dirty="0"/>
          </a:p>
          <a:p>
            <a:pPr lvl="1" algn="just"/>
            <a:r>
              <a:rPr lang="ja-JP" altLang="en-US" dirty="0"/>
              <a:t>・部署課題</a:t>
            </a:r>
            <a:endParaRPr lang="en-US" altLang="ja-JP" dirty="0"/>
          </a:p>
          <a:p>
            <a:pPr lvl="1" algn="just"/>
            <a:r>
              <a:rPr lang="ja-JP" altLang="en-US" dirty="0"/>
              <a:t>・リベート事故調査からの課題</a:t>
            </a:r>
            <a:endParaRPr lang="en-US" altLang="ja-JP" dirty="0"/>
          </a:p>
          <a:p>
            <a:pPr lvl="1" algn="just"/>
            <a:r>
              <a:rPr lang="ja-JP" altLang="en-US" dirty="0"/>
              <a:t>・リスク管理報告書（事故報告等）から抽出した課題</a:t>
            </a:r>
            <a:endParaRPr lang="en-US" altLang="ja-JP" dirty="0"/>
          </a:p>
          <a:p>
            <a:pPr lvl="1" algn="just"/>
            <a:r>
              <a:rPr lang="ja-JP" altLang="en-US" dirty="0"/>
              <a:t>・グループ内部統制統括部（内部監査室および内部統制室）からの指摘課題 </a:t>
            </a:r>
            <a:endParaRPr lang="en-US" altLang="ja-JP" dirty="0"/>
          </a:p>
          <a:p>
            <a:pPr lvl="1" algn="just"/>
            <a:r>
              <a:rPr lang="ja-JP" altLang="en-US" dirty="0"/>
              <a:t>・監査人からの指摘課題</a:t>
            </a:r>
            <a:endParaRPr lang="en-US" altLang="ja-JP" dirty="0"/>
          </a:p>
          <a:p>
            <a:pPr algn="just"/>
            <a:endParaRPr lang="en-US" altLang="ja-JP" dirty="0"/>
          </a:p>
          <a:p>
            <a:pPr algn="just"/>
            <a:r>
              <a:rPr lang="ja-JP" altLang="en-US" b="1" dirty="0">
                <a:solidFill>
                  <a:srgbClr val="202124"/>
                </a:solidFill>
                <a:latin typeface="Roboto"/>
              </a:rPr>
              <a:t>重要課題とは、</a:t>
            </a:r>
            <a:endParaRPr lang="en-US" altLang="ja-JP" b="1" dirty="0">
              <a:solidFill>
                <a:srgbClr val="202124"/>
              </a:solidFill>
              <a:latin typeface="Roboto"/>
            </a:endParaRPr>
          </a:p>
          <a:p>
            <a:pPr algn="just"/>
            <a:r>
              <a:rPr lang="ja-JP" altLang="en-US" dirty="0"/>
              <a:t>全</a:t>
            </a:r>
            <a:r>
              <a:rPr lang="en-US" altLang="ja-JP" dirty="0"/>
              <a:t>20</a:t>
            </a:r>
            <a:r>
              <a:rPr lang="ja-JP" altLang="en-US" dirty="0"/>
              <a:t>件。</a:t>
            </a:r>
            <a:r>
              <a:rPr lang="ja-JP" altLang="ja-JP" dirty="0"/>
              <a:t>リスクレベル</a:t>
            </a:r>
            <a:r>
              <a:rPr lang="ja-JP" altLang="en-US" dirty="0"/>
              <a:t>「</a:t>
            </a:r>
            <a:r>
              <a:rPr lang="ja-JP" altLang="ja-JP" dirty="0"/>
              <a:t>重要</a:t>
            </a:r>
            <a:r>
              <a:rPr lang="ja-JP" altLang="en-US" dirty="0"/>
              <a:t>」より</a:t>
            </a:r>
            <a:r>
              <a:rPr lang="ja-JP" altLang="ja-JP" dirty="0"/>
              <a:t>選出</a:t>
            </a:r>
            <a:endParaRPr lang="en-US" altLang="ja-JP" dirty="0"/>
          </a:p>
          <a:p>
            <a:pPr algn="just"/>
            <a:r>
              <a:rPr lang="en-US" altLang="ja-JP" sz="1400" dirty="0"/>
              <a:t>※</a:t>
            </a:r>
            <a:r>
              <a:rPr lang="ja-JP" altLang="en-US" sz="1400" dirty="0"/>
              <a:t>リスクレベルとは、</a:t>
            </a:r>
            <a:r>
              <a:rPr lang="ja-JP" altLang="ja-JP" sz="1400" dirty="0"/>
              <a:t>グループリスク管理室作成</a:t>
            </a:r>
            <a:r>
              <a:rPr lang="ja-JP" altLang="en-US" sz="1400" dirty="0"/>
              <a:t>の参考</a:t>
            </a:r>
            <a:r>
              <a:rPr lang="en-US" altLang="ja-JP" sz="1400" dirty="0"/>
              <a:t>_</a:t>
            </a:r>
            <a:r>
              <a:rPr lang="ja-JP" altLang="en-US" sz="1400" dirty="0"/>
              <a:t>リスク評価基準を参照</a:t>
            </a:r>
            <a:endParaRPr lang="en-US" altLang="ja-JP" sz="1400" dirty="0"/>
          </a:p>
          <a:p>
            <a:pPr algn="just"/>
            <a:endParaRPr lang="en-US" altLang="ja-JP" sz="1400" dirty="0"/>
          </a:p>
          <a:p>
            <a:pPr algn="just"/>
            <a:endParaRPr lang="ja-JP" altLang="en-US" sz="1400" dirty="0"/>
          </a:p>
          <a:p>
            <a:pPr algn="just"/>
            <a:r>
              <a:rPr lang="ja-JP" altLang="en-US" b="1" dirty="0">
                <a:solidFill>
                  <a:srgbClr val="202124"/>
                </a:solidFill>
                <a:latin typeface="Roboto"/>
              </a:rPr>
              <a:t>７つの課題とは、</a:t>
            </a:r>
            <a:endParaRPr lang="ja-JP" altLang="en-US" b="1" dirty="0"/>
          </a:p>
          <a:p>
            <a:pPr algn="just"/>
            <a:r>
              <a:rPr lang="ja-JP" altLang="en-US" dirty="0"/>
              <a:t>全</a:t>
            </a:r>
            <a:r>
              <a:rPr lang="en-US" altLang="ja-JP" dirty="0">
                <a:solidFill>
                  <a:srgbClr val="202124"/>
                </a:solidFill>
                <a:latin typeface="Roboto"/>
              </a:rPr>
              <a:t>7</a:t>
            </a:r>
            <a:r>
              <a:rPr lang="ja-JP" altLang="en-US" dirty="0">
                <a:solidFill>
                  <a:srgbClr val="202124"/>
                </a:solidFill>
                <a:latin typeface="Roboto"/>
              </a:rPr>
              <a:t>件。リスク洗い出し、原因を分析した結果。エビデンスは別ファイル参照</a:t>
            </a:r>
            <a:endParaRPr lang="en-US" altLang="ja-JP" dirty="0">
              <a:solidFill>
                <a:srgbClr val="202124"/>
              </a:solidFill>
              <a:latin typeface="Roboto"/>
            </a:endParaRPr>
          </a:p>
          <a:p>
            <a:pPr algn="just"/>
            <a:endParaRPr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9EC9AC0-3686-48FA-AD35-C052B7E11527}"/>
              </a:ext>
            </a:extLst>
          </p:cNvPr>
          <p:cNvGrpSpPr/>
          <p:nvPr/>
        </p:nvGrpSpPr>
        <p:grpSpPr>
          <a:xfrm>
            <a:off x="9474402" y="1283440"/>
            <a:ext cx="2050080" cy="4129068"/>
            <a:chOff x="9474402" y="1283440"/>
            <a:chExt cx="2050080" cy="3674453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42A7F2E-9A3B-46F0-8E49-737E3E176582}"/>
                </a:ext>
              </a:extLst>
            </p:cNvPr>
            <p:cNvSpPr/>
            <p:nvPr/>
          </p:nvSpPr>
          <p:spPr>
            <a:xfrm>
              <a:off x="9474402" y="1283440"/>
              <a:ext cx="2050080" cy="155212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94</a:t>
              </a:r>
              <a:r>
                <a:rPr kumimoji="0" lang="ja-JP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件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1410682-B365-4C4A-BF97-557128E75950}"/>
                </a:ext>
              </a:extLst>
            </p:cNvPr>
            <p:cNvSpPr/>
            <p:nvPr/>
          </p:nvSpPr>
          <p:spPr>
            <a:xfrm>
              <a:off x="9808070" y="2838850"/>
              <a:ext cx="1432194" cy="12120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20</a:t>
              </a:r>
              <a:r>
                <a:rPr kumimoji="0" lang="ja-JP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件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353E232-71BF-4CFF-BDFF-CAFF44493421}"/>
                </a:ext>
              </a:extLst>
            </p:cNvPr>
            <p:cNvSpPr/>
            <p:nvPr/>
          </p:nvSpPr>
          <p:spPr>
            <a:xfrm>
              <a:off x="10090858" y="4052026"/>
              <a:ext cx="887724" cy="9058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7</a:t>
              </a:r>
              <a:r>
                <a:rPr kumimoji="0" lang="ja-JP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1769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446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ja-JP" sz="2000" b="1" dirty="0"/>
              <a:t>主題</a:t>
            </a:r>
            <a:r>
              <a:rPr lang="ja-JP" altLang="en-US" sz="2000" b="1" dirty="0"/>
              <a:t>：</a:t>
            </a:r>
            <a:r>
              <a:rPr lang="ja-JP" altLang="en-US" dirty="0"/>
              <a:t>リスク対策として</a:t>
            </a:r>
            <a:r>
              <a:rPr lang="en-US" altLang="ja-JP" dirty="0"/>
              <a:t>42</a:t>
            </a:r>
            <a:r>
              <a:rPr lang="ja-JP" altLang="ja-JP" dirty="0"/>
              <a:t>期</a:t>
            </a:r>
            <a:r>
              <a:rPr lang="ja-JP" altLang="en-US" dirty="0"/>
              <a:t>は７つの課題に着手する</a:t>
            </a:r>
            <a:endParaRPr lang="en-US" altLang="ja-JP" dirty="0"/>
          </a:p>
          <a:p>
            <a:pPr algn="just"/>
            <a:endParaRPr lang="en-US" altLang="ja-JP" dirty="0"/>
          </a:p>
          <a:p>
            <a:pPr algn="just"/>
            <a:r>
              <a:rPr lang="ja-JP" altLang="en-US" b="1" dirty="0"/>
              <a:t>リスク対策とは</a:t>
            </a:r>
            <a:endParaRPr lang="en-US" altLang="ja-JP" b="1" dirty="0"/>
          </a:p>
          <a:p>
            <a:pPr algn="just"/>
            <a:r>
              <a:rPr lang="ja-JP" altLang="en-US" dirty="0"/>
              <a:t>誤謬リスク・・・人為的なミスによる決算書修正リスク削減</a:t>
            </a:r>
          </a:p>
          <a:p>
            <a:pPr algn="just"/>
            <a:r>
              <a:rPr lang="ja-JP" altLang="en-US" dirty="0"/>
              <a:t>不正リスク・・・取引そのものをすべて正しく記録する。仕組みを作る</a:t>
            </a:r>
            <a:r>
              <a:rPr lang="en-US" altLang="ja-JP" dirty="0"/>
              <a:t>/</a:t>
            </a:r>
            <a:r>
              <a:rPr lang="ja-JP" altLang="en-US" dirty="0"/>
              <a:t>継続的に改善する</a:t>
            </a:r>
          </a:p>
          <a:p>
            <a:pPr algn="just"/>
            <a:endParaRPr lang="en-US" altLang="ja-JP" dirty="0"/>
          </a:p>
          <a:p>
            <a:pPr algn="just"/>
            <a:r>
              <a:rPr lang="ja-JP" altLang="en-US" b="1" dirty="0"/>
              <a:t>７つの課題概要：</a:t>
            </a:r>
            <a:r>
              <a:rPr lang="ja-JP" altLang="en-US" dirty="0"/>
              <a:t>課題の抽出定義を次ページを参照</a:t>
            </a:r>
            <a:endParaRPr lang="en-US" altLang="ja-JP" b="1" dirty="0"/>
          </a:p>
          <a:p>
            <a:pPr marL="88900" algn="just"/>
            <a:r>
              <a:rPr lang="en-US" altLang="ja-JP" dirty="0"/>
              <a:t>【1】</a:t>
            </a:r>
            <a:r>
              <a:rPr lang="ja-JP" altLang="en-US" dirty="0"/>
              <a:t>紙とエクセルによる複雑な業務による人為的な事故の発生</a:t>
            </a:r>
            <a:endParaRPr lang="ja-JP" altLang="ja-JP" dirty="0"/>
          </a:p>
          <a:p>
            <a:pPr marL="88900" algn="just"/>
            <a:r>
              <a:rPr lang="en-US" altLang="ja-JP" dirty="0"/>
              <a:t>【2】</a:t>
            </a:r>
            <a:r>
              <a:rPr lang="ja-JP" altLang="en-US" dirty="0"/>
              <a:t>商品マスタ維持管理の不足の課題</a:t>
            </a:r>
            <a:endParaRPr lang="en-US" altLang="ja-JP" dirty="0"/>
          </a:p>
          <a:p>
            <a:pPr marL="88900" algn="just"/>
            <a:r>
              <a:rPr lang="en-US" altLang="ja-JP" dirty="0"/>
              <a:t>【3】</a:t>
            </a:r>
            <a:r>
              <a:rPr lang="ja-JP" altLang="en-US" dirty="0"/>
              <a:t>仕入先とのリベート合意内容の不足の課題</a:t>
            </a:r>
            <a:endParaRPr lang="en-US" altLang="ja-JP" dirty="0"/>
          </a:p>
          <a:p>
            <a:pPr marL="88900" algn="just"/>
            <a:r>
              <a:rPr lang="en-US" altLang="ja-JP" dirty="0"/>
              <a:t>【4】</a:t>
            </a:r>
            <a:r>
              <a:rPr lang="ja-JP" altLang="en-US" dirty="0"/>
              <a:t>仕入先への債権管理不足の課題</a:t>
            </a:r>
            <a:endParaRPr lang="en-US" altLang="ja-JP" dirty="0"/>
          </a:p>
          <a:p>
            <a:pPr marL="88900" algn="just"/>
            <a:r>
              <a:rPr lang="en-US" altLang="ja-JP" dirty="0"/>
              <a:t>【5】</a:t>
            </a:r>
            <a:r>
              <a:rPr lang="ja-JP" altLang="en-US" dirty="0"/>
              <a:t>取次手数料の業務設計不足の課題</a:t>
            </a:r>
            <a:endParaRPr lang="en-US" altLang="ja-JP" dirty="0"/>
          </a:p>
          <a:p>
            <a:pPr marL="88900"/>
            <a:r>
              <a:rPr lang="en-US" altLang="ja-JP" dirty="0"/>
              <a:t>【6】</a:t>
            </a:r>
            <a:r>
              <a:rPr lang="ja-JP" altLang="ja-JP" dirty="0"/>
              <a:t>問い合わせ窓口</a:t>
            </a:r>
            <a:r>
              <a:rPr lang="ja-JP" altLang="en-US" dirty="0"/>
              <a:t>が</a:t>
            </a:r>
            <a:r>
              <a:rPr lang="ja-JP" altLang="ja-JP" dirty="0"/>
              <a:t>集約化</a:t>
            </a:r>
            <a:r>
              <a:rPr lang="ja-JP" altLang="en-US" dirty="0"/>
              <a:t>されていない多様な受付方法の課題</a:t>
            </a:r>
            <a:endParaRPr lang="ja-JP" altLang="ja-JP" dirty="0"/>
          </a:p>
          <a:p>
            <a:pPr marL="88900"/>
            <a:r>
              <a:rPr lang="en-US" altLang="ja-JP" dirty="0"/>
              <a:t>【7】</a:t>
            </a:r>
            <a:r>
              <a:rPr lang="ja-JP" altLang="en-US" dirty="0"/>
              <a:t>照合に必要な証憑収集不足とルールの整備不備の課題</a:t>
            </a:r>
            <a:endParaRPr lang="en-US" altLang="ja-JP" dirty="0"/>
          </a:p>
          <a:p>
            <a:pPr marL="285750" indent="-1968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algn="just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173397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７つの課題詳細：</a:t>
            </a:r>
            <a:endParaRPr lang="en-US" altLang="ja-JP" b="1" dirty="0"/>
          </a:p>
          <a:p>
            <a:pPr algn="just"/>
            <a:endParaRPr lang="en-US" altLang="ja-JP" b="1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DAA4F48-8FAB-44A9-A99F-E79C9ADBC09F}"/>
              </a:ext>
            </a:extLst>
          </p:cNvPr>
          <p:cNvGrpSpPr/>
          <p:nvPr/>
        </p:nvGrpSpPr>
        <p:grpSpPr>
          <a:xfrm>
            <a:off x="541863" y="1363185"/>
            <a:ext cx="10946665" cy="1290446"/>
            <a:chOff x="541863" y="1363185"/>
            <a:chExt cx="10946665" cy="1290446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3C34C01-60F2-4B4A-9873-CC1746BBD44F}"/>
                </a:ext>
              </a:extLst>
            </p:cNvPr>
            <p:cNvSpPr/>
            <p:nvPr/>
          </p:nvSpPr>
          <p:spPr>
            <a:xfrm>
              <a:off x="541863" y="1742061"/>
              <a:ext cx="3215945" cy="9115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just"/>
              <a:r>
                <a:rPr lang="en-US" altLang="ja-JP" sz="1400" b="1" dirty="0"/>
                <a:t>1.</a:t>
              </a:r>
              <a:r>
                <a:rPr lang="ja-JP" altLang="en-US" sz="1400" b="1" dirty="0"/>
                <a:t>紙とエクセルによる複雑な業務による人為的な事故の発生</a:t>
              </a:r>
              <a:endParaRPr lang="en-US" altLang="ja-JP" sz="1400" b="1" dirty="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DFE34F5A-0574-4184-9756-ADE07DE9F949}"/>
                </a:ext>
              </a:extLst>
            </p:cNvPr>
            <p:cNvSpPr/>
            <p:nvPr/>
          </p:nvSpPr>
          <p:spPr>
            <a:xfrm>
              <a:off x="4074203" y="1742061"/>
              <a:ext cx="6832696" cy="9115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r>
                <a:rPr lang="ja-JP" altLang="en-US" sz="1400" dirty="0"/>
                <a:t>人為的ミスによる誤計上や計上漏れがおきる可能性がある</a:t>
              </a:r>
              <a:endParaRPr lang="en-US" altLang="ja-JP" sz="1400" dirty="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F30C24F-38CB-4844-ACF6-24063C21D1A1}"/>
                </a:ext>
              </a:extLst>
            </p:cNvPr>
            <p:cNvSpPr/>
            <p:nvPr/>
          </p:nvSpPr>
          <p:spPr>
            <a:xfrm>
              <a:off x="541864" y="1363185"/>
              <a:ext cx="10946664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取締役会にて人為的事故防止策として説明を実施した</a:t>
              </a:r>
              <a:endParaRPr lang="en-US" altLang="ja-JP" b="1" dirty="0"/>
            </a:p>
          </p:txBody>
        </p:sp>
      </p:grp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F3746EA-299D-4235-8777-BD73995B5369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757808" y="2197846"/>
            <a:ext cx="3163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8" name="表 87">
            <a:extLst>
              <a:ext uri="{FF2B5EF4-FFF2-40B4-BE49-F238E27FC236}">
                <a16:creationId xmlns:a16="http://schemas.microsoft.com/office/drawing/2014/main" id="{0928AFC5-56B8-4E7B-B80E-1B0639EAB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20064"/>
              </p:ext>
            </p:extLst>
          </p:nvPr>
        </p:nvGraphicFramePr>
        <p:xfrm>
          <a:off x="541863" y="3211293"/>
          <a:ext cx="5660086" cy="300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695">
                  <a:extLst>
                    <a:ext uri="{9D8B030D-6E8A-4147-A177-3AD203B41FA5}">
                      <a16:colId xmlns:a16="http://schemas.microsoft.com/office/drawing/2014/main" val="1098998194"/>
                    </a:ext>
                  </a:extLst>
                </a:gridCol>
                <a:gridCol w="1886696">
                  <a:extLst>
                    <a:ext uri="{9D8B030D-6E8A-4147-A177-3AD203B41FA5}">
                      <a16:colId xmlns:a16="http://schemas.microsoft.com/office/drawing/2014/main" val="3958390743"/>
                    </a:ext>
                  </a:extLst>
                </a:gridCol>
                <a:gridCol w="1886695">
                  <a:extLst>
                    <a:ext uri="{9D8B030D-6E8A-4147-A177-3AD203B41FA5}">
                      <a16:colId xmlns:a16="http://schemas.microsoft.com/office/drawing/2014/main" val="19871183"/>
                    </a:ext>
                  </a:extLst>
                </a:gridCol>
              </a:tblGrid>
              <a:tr h="44957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エクセル* と 紙 管理</a:t>
                      </a:r>
                      <a:endParaRPr kumimoji="1" lang="en-US" altLang="ja-JP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61759"/>
                  </a:ext>
                </a:extLst>
              </a:tr>
              <a:tr h="248864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登録</a:t>
                      </a:r>
                      <a:endParaRPr kumimoji="1" lang="ja-JP" altLang="en-US" dirty="0"/>
                    </a:p>
                    <a:p>
                      <a:pPr algn="l"/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保管</a:t>
                      </a:r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連携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44954"/>
                  </a:ext>
                </a:extLst>
              </a:tr>
            </a:tbl>
          </a:graphicData>
        </a:graphic>
      </p:graphicFrame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1DB1020-BDBF-4FCD-8363-644ED5ABD7D7}"/>
              </a:ext>
            </a:extLst>
          </p:cNvPr>
          <p:cNvSpPr txBox="1"/>
          <p:nvPr/>
        </p:nvSpPr>
        <p:spPr>
          <a:xfrm>
            <a:off x="564117" y="5191232"/>
            <a:ext cx="5600540" cy="9763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合計</a:t>
            </a:r>
            <a:r>
              <a:rPr kumimoji="1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62</a:t>
            </a:r>
            <a:r>
              <a:rPr kumimoji="1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種類</a:t>
            </a:r>
          </a:p>
        </p:txBody>
      </p:sp>
      <p:pic>
        <p:nvPicPr>
          <p:cNvPr id="90" name="図 89">
            <a:extLst>
              <a:ext uri="{FF2B5EF4-FFF2-40B4-BE49-F238E27FC236}">
                <a16:creationId xmlns:a16="http://schemas.microsoft.com/office/drawing/2014/main" id="{7082A1B3-3C5F-402B-912B-38BDF31B70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37" y="4031335"/>
            <a:ext cx="450987" cy="450987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11D073EF-FFBD-468E-BEFE-F56A17193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699" y="4116936"/>
            <a:ext cx="331677" cy="380980"/>
          </a:xfrm>
          <a:prstGeom prst="rect">
            <a:avLst/>
          </a:prstGeom>
        </p:spPr>
      </p:pic>
      <p:pic>
        <p:nvPicPr>
          <p:cNvPr id="92" name="図 91">
            <a:extLst>
              <a:ext uri="{FF2B5EF4-FFF2-40B4-BE49-F238E27FC236}">
                <a16:creationId xmlns:a16="http://schemas.microsoft.com/office/drawing/2014/main" id="{4E07AF95-0BF4-4014-B7FD-54AE040373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387" y="4040035"/>
            <a:ext cx="474949" cy="474949"/>
          </a:xfrm>
          <a:prstGeom prst="rect">
            <a:avLst/>
          </a:prstGeom>
        </p:spPr>
      </p:pic>
      <p:sp>
        <p:nvSpPr>
          <p:cNvPr id="93" name="左右矢印 4">
            <a:extLst>
              <a:ext uri="{FF2B5EF4-FFF2-40B4-BE49-F238E27FC236}">
                <a16:creationId xmlns:a16="http://schemas.microsoft.com/office/drawing/2014/main" id="{0A066A14-A1B4-48B2-A67F-D83272036126}"/>
              </a:ext>
            </a:extLst>
          </p:cNvPr>
          <p:cNvSpPr/>
          <p:nvPr/>
        </p:nvSpPr>
        <p:spPr>
          <a:xfrm>
            <a:off x="2155971" y="4617935"/>
            <a:ext cx="2366618" cy="167081"/>
          </a:xfrm>
          <a:prstGeom prst="left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非同期</a:t>
            </a:r>
          </a:p>
        </p:txBody>
      </p:sp>
      <p:sp>
        <p:nvSpPr>
          <p:cNvPr id="94" name="爆発 1 47">
            <a:extLst>
              <a:ext uri="{FF2B5EF4-FFF2-40B4-BE49-F238E27FC236}">
                <a16:creationId xmlns:a16="http://schemas.microsoft.com/office/drawing/2014/main" id="{FEBEDAAF-0C0C-4067-937D-51ACB2190066}"/>
              </a:ext>
            </a:extLst>
          </p:cNvPr>
          <p:cNvSpPr/>
          <p:nvPr/>
        </p:nvSpPr>
        <p:spPr>
          <a:xfrm>
            <a:off x="4209764" y="4704563"/>
            <a:ext cx="1954894" cy="830074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更新モレ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48EAA3EB-7305-4815-9FC3-0F6BEE8F076B}"/>
              </a:ext>
            </a:extLst>
          </p:cNvPr>
          <p:cNvSpPr txBox="1"/>
          <p:nvPr/>
        </p:nvSpPr>
        <p:spPr>
          <a:xfrm rot="2483874">
            <a:off x="5444725" y="3146012"/>
            <a:ext cx="1042960" cy="37344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課題</a:t>
            </a:r>
          </a:p>
        </p:txBody>
      </p:sp>
      <p:sp>
        <p:nvSpPr>
          <p:cNvPr id="96" name="爆発 1 50">
            <a:extLst>
              <a:ext uri="{FF2B5EF4-FFF2-40B4-BE49-F238E27FC236}">
                <a16:creationId xmlns:a16="http://schemas.microsoft.com/office/drawing/2014/main" id="{18E3791A-6902-471D-8880-88F9CEA8CC57}"/>
              </a:ext>
            </a:extLst>
          </p:cNvPr>
          <p:cNvSpPr/>
          <p:nvPr/>
        </p:nvSpPr>
        <p:spPr>
          <a:xfrm>
            <a:off x="564117" y="4748751"/>
            <a:ext cx="2150875" cy="78588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重複</a:t>
            </a:r>
          </a:p>
        </p:txBody>
      </p:sp>
      <p:sp>
        <p:nvSpPr>
          <p:cNvPr id="97" name="爆発 1 48">
            <a:extLst>
              <a:ext uri="{FF2B5EF4-FFF2-40B4-BE49-F238E27FC236}">
                <a16:creationId xmlns:a16="http://schemas.microsoft.com/office/drawing/2014/main" id="{4DFBF792-0DCC-41F6-A0CB-20245AF08AF1}"/>
              </a:ext>
            </a:extLst>
          </p:cNvPr>
          <p:cNvSpPr/>
          <p:nvPr/>
        </p:nvSpPr>
        <p:spPr>
          <a:xfrm>
            <a:off x="2094653" y="4714694"/>
            <a:ext cx="2702171" cy="728457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入力ミス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53C8814D-33F9-4529-870E-DD7A225200ED}"/>
              </a:ext>
            </a:extLst>
          </p:cNvPr>
          <p:cNvSpPr txBox="1"/>
          <p:nvPr/>
        </p:nvSpPr>
        <p:spPr>
          <a:xfrm flipH="1">
            <a:off x="4796207" y="5994198"/>
            <a:ext cx="1449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*</a:t>
            </a: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PDF</a:t>
            </a: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などのファイルデータ含む</a:t>
            </a:r>
          </a:p>
        </p:txBody>
      </p:sp>
    </p:spTree>
    <p:extLst>
      <p:ext uri="{BB962C8B-B14F-4D97-AF65-F5344CB8AC3E}">
        <p14:creationId xmlns:p14="http://schemas.microsoft.com/office/powerpoint/2010/main" val="13298881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７つの課題詳細</a:t>
            </a:r>
            <a:r>
              <a:rPr lang="ja-JP" altLang="en-US" b="1" dirty="0"/>
              <a:t>：</a:t>
            </a:r>
            <a:r>
              <a:rPr lang="ja-JP" altLang="en-US" dirty="0"/>
              <a:t>トーマツ様への報告事案</a:t>
            </a:r>
            <a:endParaRPr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4F67DDB-903F-4C21-A1E7-EC62B66384D2}"/>
              </a:ext>
            </a:extLst>
          </p:cNvPr>
          <p:cNvGrpSpPr/>
          <p:nvPr/>
        </p:nvGrpSpPr>
        <p:grpSpPr>
          <a:xfrm>
            <a:off x="541863" y="1365336"/>
            <a:ext cx="10563121" cy="5228949"/>
            <a:chOff x="219711" y="735852"/>
            <a:chExt cx="11834758" cy="5858434"/>
          </a:xfrm>
        </p:grpSpPr>
        <p:sp>
          <p:nvSpPr>
            <p:cNvPr id="6" name="角丸四角形 66">
              <a:extLst>
                <a:ext uri="{FF2B5EF4-FFF2-40B4-BE49-F238E27FC236}">
                  <a16:creationId xmlns:a16="http://schemas.microsoft.com/office/drawing/2014/main" id="{97F68BD6-D156-405E-8207-DC003E3D3B28}"/>
                </a:ext>
              </a:extLst>
            </p:cNvPr>
            <p:cNvSpPr/>
            <p:nvPr/>
          </p:nvSpPr>
          <p:spPr>
            <a:xfrm>
              <a:off x="219711" y="3084519"/>
              <a:ext cx="2678654" cy="3509369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" name="角丸四角形 66">
              <a:extLst>
                <a:ext uri="{FF2B5EF4-FFF2-40B4-BE49-F238E27FC236}">
                  <a16:creationId xmlns:a16="http://schemas.microsoft.com/office/drawing/2014/main" id="{18EC2E37-31EB-4F29-B762-CD907260F394}"/>
                </a:ext>
              </a:extLst>
            </p:cNvPr>
            <p:cNvSpPr/>
            <p:nvPr/>
          </p:nvSpPr>
          <p:spPr>
            <a:xfrm>
              <a:off x="219712" y="1118008"/>
              <a:ext cx="2678654" cy="130346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905FD99-D3FB-47B7-A646-F0F8AE734D61}"/>
                </a:ext>
              </a:extLst>
            </p:cNvPr>
            <p:cNvSpPr/>
            <p:nvPr/>
          </p:nvSpPr>
          <p:spPr>
            <a:xfrm>
              <a:off x="5008209" y="735852"/>
              <a:ext cx="1045999" cy="37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課題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E7BF98C-6351-4377-8F15-1F06725427D8}"/>
                </a:ext>
              </a:extLst>
            </p:cNvPr>
            <p:cNvSpPr/>
            <p:nvPr/>
          </p:nvSpPr>
          <p:spPr>
            <a:xfrm>
              <a:off x="9239541" y="744674"/>
              <a:ext cx="877163" cy="6551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対策案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966E3DA-C6F1-464B-8135-F005222EA894}"/>
                </a:ext>
              </a:extLst>
            </p:cNvPr>
            <p:cNvSpPr txBox="1"/>
            <p:nvPr/>
          </p:nvSpPr>
          <p:spPr>
            <a:xfrm>
              <a:off x="1010483" y="747368"/>
              <a:ext cx="1282621" cy="379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事故事例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2422157-A79B-4C0F-8A9E-3653B58A5EF2}"/>
                </a:ext>
              </a:extLst>
            </p:cNvPr>
            <p:cNvSpPr/>
            <p:nvPr/>
          </p:nvSpPr>
          <p:spPr>
            <a:xfrm>
              <a:off x="3538022" y="1109463"/>
              <a:ext cx="3589855" cy="12589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【2】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商品マスタ維持管理の不足</a:t>
              </a: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1450" marR="0" lvl="0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当社の商品マスタと取引先管理マスタに差異があった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1450" marR="0" lvl="0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長期間マスタデータ</a:t>
              </a:r>
              <a:r>
                <a:rPr lang="ja-JP" altLang="en-US" sz="11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の確認がされていなかった</a:t>
              </a:r>
              <a:endPara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F73CBA9-4738-444C-8134-F55E3A8A6869}"/>
                </a:ext>
              </a:extLst>
            </p:cNvPr>
            <p:cNvSpPr/>
            <p:nvPr/>
          </p:nvSpPr>
          <p:spPr>
            <a:xfrm>
              <a:off x="3538022" y="5685580"/>
              <a:ext cx="3608695" cy="908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【5】</a:t>
              </a:r>
              <a:r>
                <a:rPr lang="ja-JP" altLang="en-US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取次手数料の業務設計不足</a:t>
              </a:r>
              <a:endParaRPr lang="en-US" altLang="ja-JP" sz="14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171450" indent="-17145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仮計上に利用する販促リベートの登録単価は、税率変更時に修正されていなかった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F7E3648-764F-4D90-8A30-05D31688C1ED}"/>
                </a:ext>
              </a:extLst>
            </p:cNvPr>
            <p:cNvSpPr/>
            <p:nvPr/>
          </p:nvSpPr>
          <p:spPr>
            <a:xfrm>
              <a:off x="3538022" y="2514981"/>
              <a:ext cx="3592122" cy="12589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【3】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仕入先とのリベート合意内容の不足</a:t>
              </a:r>
              <a:endPara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仕入先からのコメント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リベートシステム</a:t>
              </a:r>
              <a:r>
                <a:rPr lang="ja-JP" altLang="en-US" sz="9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や</a:t>
              </a: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運用を説明した文書は共有されていない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リベートの仕組みがわからない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977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リベートのシステムメールを確認していない</a:t>
              </a:r>
              <a:endPara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10E8AD7-0F26-4049-9B39-EB62B30AD4DF}"/>
                </a:ext>
              </a:extLst>
            </p:cNvPr>
            <p:cNvSpPr/>
            <p:nvPr/>
          </p:nvSpPr>
          <p:spPr>
            <a:xfrm>
              <a:off x="7531333" y="2514982"/>
              <a:ext cx="4523136" cy="12589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施策：リベート運用規約の締結と運用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※</a:t>
              </a: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リベートの運用ルール・説明含む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6816482-2116-4A47-944E-5F0753D0E5C0}"/>
                </a:ext>
              </a:extLst>
            </p:cNvPr>
            <p:cNvSpPr/>
            <p:nvPr/>
          </p:nvSpPr>
          <p:spPr>
            <a:xfrm>
              <a:off x="7531332" y="1094689"/>
              <a:ext cx="4523136" cy="1273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72000" rIns="60960" bIns="60960" numCol="1" spcCol="1270" anchor="t" anchorCtr="0">
              <a:noAutofit/>
            </a:bodyPr>
            <a:lstStyle/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0" algn="l"/>
                </a:tabLs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施策：商品マスタは、定期的な突合確認による誤データ修正をする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F300ADB-AEEA-4748-8E91-707E629781B3}"/>
                </a:ext>
              </a:extLst>
            </p:cNvPr>
            <p:cNvSpPr/>
            <p:nvPr/>
          </p:nvSpPr>
          <p:spPr>
            <a:xfrm>
              <a:off x="7531332" y="5685184"/>
              <a:ext cx="4523136" cy="9087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indent="92075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施策：取次手数料の業務設計を行い運用する</a:t>
              </a:r>
              <a:endParaRPr lang="en-US" altLang="ja-JP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lvl="0" indent="92075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商談、システム登録、手数料計算、計上（洗い替え）、支払入金</a:t>
              </a:r>
            </a:p>
            <a:p>
              <a:pPr lvl="0" indent="92075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各業務プロセスに必要な証憑類の定義や照合のルールを作成する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38183E63-C347-4452-A9A0-BA5C16A9EB47}"/>
                </a:ext>
              </a:extLst>
            </p:cNvPr>
            <p:cNvSpPr/>
            <p:nvPr/>
          </p:nvSpPr>
          <p:spPr>
            <a:xfrm>
              <a:off x="7531332" y="3936805"/>
              <a:ext cx="4523136" cy="15944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施策：商品以外の仕入先から発生する債権事項は、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商品統合管理室で管理する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※</a:t>
              </a: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通信費・送料助成費・工事助成費など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C3A58B5-DB51-4473-9D28-E42A07AC628A}"/>
                </a:ext>
              </a:extLst>
            </p:cNvPr>
            <p:cNvSpPr/>
            <p:nvPr/>
          </p:nvSpPr>
          <p:spPr>
            <a:xfrm>
              <a:off x="3538022" y="3937199"/>
              <a:ext cx="3592122" cy="159442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ja-JP" sz="14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【4】</a:t>
              </a: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仕入先への債権管理不足</a:t>
              </a:r>
              <a:endPara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通信費や送料など経費請求は、請求金額の算定や履行確認などの債権管理実務者が、不明瞭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628650" marR="0" lvl="1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工事・送料助成費は、仕入先別負担金管理表が更新されていなかった</a:t>
              </a:r>
              <a:endPara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872BFC4-1876-4354-AAC0-85D5AA95D5A2}"/>
                </a:ext>
              </a:extLst>
            </p:cNvPr>
            <p:cNvSpPr/>
            <p:nvPr/>
          </p:nvSpPr>
          <p:spPr>
            <a:xfrm>
              <a:off x="366453" y="1280093"/>
              <a:ext cx="2375737" cy="10213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日立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GLS</a:t>
              </a: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　工事助成費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三菱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LN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送料助成費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パナソニック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CM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送料助成費など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7BDB08C0-13F7-4336-8360-830CED3B8BB9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7130144" y="3144445"/>
              <a:ext cx="401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F17B3B22-B7C7-440C-9084-B5B17FFE77D8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 flipV="1">
              <a:off x="7130144" y="4734017"/>
              <a:ext cx="401188" cy="3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8057B599-724E-4D5B-8820-12D6BD1CE4D8}"/>
                </a:ext>
              </a:extLst>
            </p:cNvPr>
            <p:cNvSpPr/>
            <p:nvPr/>
          </p:nvSpPr>
          <p:spPr>
            <a:xfrm>
              <a:off x="371170" y="3258630"/>
              <a:ext cx="2375737" cy="1017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リベート条件調査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Step1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伝票単価と原価の不整合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263525"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15</a:t>
              </a: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社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E43ECCF-E89A-4A09-ADFF-879D2B7B117D}"/>
                </a:ext>
              </a:extLst>
            </p:cNvPr>
            <p:cNvSpPr/>
            <p:nvPr/>
          </p:nvSpPr>
          <p:spPr>
            <a:xfrm>
              <a:off x="371170" y="4332735"/>
              <a:ext cx="2375737" cy="1017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リベート条件調査</a:t>
              </a: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Step2</a:t>
              </a:r>
              <a:endParaRPr lang="en-US" altLang="ja-JP" sz="11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R="0" lvl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販促リベート等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442913" marR="0" lvl="0" indent="-179388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オークローンマーケティング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442913" marR="0" lvl="0" indent="-179388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ラネット　別途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9CAF07B-B8B7-48AA-864B-C48C6D84C43B}"/>
                </a:ext>
              </a:extLst>
            </p:cNvPr>
            <p:cNvSpPr/>
            <p:nvPr/>
          </p:nvSpPr>
          <p:spPr>
            <a:xfrm>
              <a:off x="7763441" y="1426898"/>
              <a:ext cx="4057389" cy="815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先行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3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社様にて月次、商品マスタ情報を送付し突合確認を依頼する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2478C3-C38A-458E-A857-D89DE7C209A3}"/>
                </a:ext>
              </a:extLst>
            </p:cNvPr>
            <p:cNvSpPr/>
            <p:nvPr/>
          </p:nvSpPr>
          <p:spPr>
            <a:xfrm>
              <a:off x="7763441" y="3036767"/>
              <a:ext cx="4057389" cy="622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先行</a:t>
              </a:r>
              <a:r>
                <a:rPr lang="en-US" altLang="ja-JP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54</a:t>
              </a: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社様にてリベート運用規約の説明会の実施および同意メールの回答を依頼する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FE93F86-8345-4BC4-8F6F-8ACADEBB334A}"/>
                </a:ext>
              </a:extLst>
            </p:cNvPr>
            <p:cNvSpPr/>
            <p:nvPr/>
          </p:nvSpPr>
          <p:spPr>
            <a:xfrm>
              <a:off x="7763441" y="4625168"/>
              <a:ext cx="4057389" cy="8002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暫定施策：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  <a:p>
              <a:pPr marL="176213" lvl="1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ja-JP" altLang="en-US" sz="11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工事助成費と送料助成費に関してマスターを作成し、月次にて追加変更等の更新を行う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4BB8B564-5750-41F3-9177-0C5CB1A15677}"/>
                </a:ext>
              </a:extLst>
            </p:cNvPr>
            <p:cNvCxnSpPr>
              <a:cxnSpLocks/>
              <a:stCxn id="12" idx="3"/>
              <a:endCxn id="18" idx="1"/>
            </p:cNvCxnSpPr>
            <p:nvPr/>
          </p:nvCxnSpPr>
          <p:spPr>
            <a:xfrm flipV="1">
              <a:off x="7146717" y="6139537"/>
              <a:ext cx="384615" cy="396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2A34CAAD-687A-4B0B-826F-0A1145F310BC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 flipV="1">
              <a:off x="2898365" y="3144445"/>
              <a:ext cx="639657" cy="169475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826021CE-8B53-4AA0-9407-C28847EF0FD6}"/>
                </a:ext>
              </a:extLst>
            </p:cNvPr>
            <p:cNvSpPr txBox="1"/>
            <p:nvPr/>
          </p:nvSpPr>
          <p:spPr>
            <a:xfrm>
              <a:off x="1235872" y="2713880"/>
              <a:ext cx="860757" cy="379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調査</a:t>
              </a:r>
            </a:p>
          </p:txBody>
        </p: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936436CE-A0DD-4BA8-A8E4-7426675D74D3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 flipV="1">
              <a:off x="2898365" y="4734412"/>
              <a:ext cx="639657" cy="104792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D23A6E14-C60E-43D0-ACC9-E4FD3E6B1137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 flipV="1">
              <a:off x="2898365" y="1738927"/>
              <a:ext cx="639657" cy="3100277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コネクタ: カギ線 33">
              <a:extLst>
                <a:ext uri="{FF2B5EF4-FFF2-40B4-BE49-F238E27FC236}">
                  <a16:creationId xmlns:a16="http://schemas.microsoft.com/office/drawing/2014/main" id="{4BC7E6DA-98BD-45B2-B9CC-F2FC1AE5D188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>
              <a:off x="2898365" y="4839204"/>
              <a:ext cx="639657" cy="130072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912C202D-F734-407C-8566-26C5AB0DF2A1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7127877" y="1731539"/>
              <a:ext cx="403455" cy="738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09629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７つの課題詳細</a:t>
            </a:r>
            <a:r>
              <a:rPr lang="ja-JP" altLang="en-US" b="1" dirty="0"/>
              <a:t>：</a:t>
            </a:r>
            <a:endParaRPr lang="en-US" altLang="ja-JP" b="1" dirty="0"/>
          </a:p>
          <a:p>
            <a:pPr algn="just"/>
            <a:endParaRPr lang="en-US" altLang="ja-JP" b="1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CFD1914-086A-4182-B70A-F597AF7D96C9}"/>
              </a:ext>
            </a:extLst>
          </p:cNvPr>
          <p:cNvGrpSpPr/>
          <p:nvPr/>
        </p:nvGrpSpPr>
        <p:grpSpPr>
          <a:xfrm>
            <a:off x="541863" y="1490930"/>
            <a:ext cx="10946665" cy="1314446"/>
            <a:chOff x="541863" y="2302394"/>
            <a:chExt cx="10946665" cy="1314446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7FD0A35-4000-4711-96F5-A946ADA86068}"/>
                </a:ext>
              </a:extLst>
            </p:cNvPr>
            <p:cNvSpPr/>
            <p:nvPr/>
          </p:nvSpPr>
          <p:spPr>
            <a:xfrm>
              <a:off x="541863" y="2705270"/>
              <a:ext cx="3215945" cy="9115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just"/>
              <a:r>
                <a:rPr lang="en-US" altLang="ja-JP" sz="1400" b="1" dirty="0"/>
                <a:t>【6】</a:t>
              </a:r>
              <a:r>
                <a:rPr lang="ja-JP" altLang="ja-JP" sz="1400" b="1" dirty="0"/>
                <a:t>問い合わせ窓口が集約化されていない多様な受付方法の課題</a:t>
              </a:r>
              <a:endParaRPr lang="en-US" altLang="ja-JP" sz="1400" b="1" dirty="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A86743C-A6CA-42D4-B74C-8902ADF620F6}"/>
                </a:ext>
              </a:extLst>
            </p:cNvPr>
            <p:cNvSpPr/>
            <p:nvPr/>
          </p:nvSpPr>
          <p:spPr>
            <a:xfrm>
              <a:off x="4074203" y="2705270"/>
              <a:ext cx="6832696" cy="9115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r>
                <a:rPr lang="ja-JP" altLang="en-US" sz="1400" dirty="0"/>
                <a:t>問い合わせ窓口が集約化されておらず、</a:t>
              </a:r>
              <a:r>
                <a:rPr lang="ja-JP" altLang="en-US" sz="1400" dirty="0" err="1"/>
                <a:t>誤ったたリベート</a:t>
              </a:r>
              <a:r>
                <a:rPr lang="ja-JP" altLang="en-US" sz="1400" dirty="0"/>
                <a:t>登録が行われるリスクがある。複数の手段で受付を行っている</a:t>
              </a: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8CE531A4-24F3-47BC-8304-C2553B5BD575}"/>
                </a:ext>
              </a:extLst>
            </p:cNvPr>
            <p:cNvCxnSpPr>
              <a:cxnSpLocks/>
              <a:stCxn id="15" idx="3"/>
              <a:endCxn id="16" idx="1"/>
            </p:cNvCxnSpPr>
            <p:nvPr/>
          </p:nvCxnSpPr>
          <p:spPr>
            <a:xfrm>
              <a:off x="3757808" y="3161055"/>
              <a:ext cx="3163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AD12866F-BD8F-460E-8BB2-CBB27A233170}"/>
                </a:ext>
              </a:extLst>
            </p:cNvPr>
            <p:cNvSpPr/>
            <p:nvPr/>
          </p:nvSpPr>
          <p:spPr>
            <a:xfrm>
              <a:off x="541864" y="2302394"/>
              <a:ext cx="10946664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ja-JP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41</a:t>
              </a:r>
              <a:r>
                <a:rPr lang="ja-JP" altLang="en-US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期決算に影響した事故対策として実施する</a:t>
              </a:r>
              <a:endParaRPr lang="en-US" altLang="ja-JP" b="1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4D9A15D-14CC-4B07-A432-7BA191C4648C}"/>
              </a:ext>
            </a:extLst>
          </p:cNvPr>
          <p:cNvGrpSpPr/>
          <p:nvPr/>
        </p:nvGrpSpPr>
        <p:grpSpPr>
          <a:xfrm>
            <a:off x="541863" y="3339889"/>
            <a:ext cx="10946665" cy="1314446"/>
            <a:chOff x="541863" y="3963798"/>
            <a:chExt cx="10946665" cy="1314446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D75C6F9-45F3-4B78-99CF-F40C27DCB41F}"/>
                </a:ext>
              </a:extLst>
            </p:cNvPr>
            <p:cNvSpPr/>
            <p:nvPr/>
          </p:nvSpPr>
          <p:spPr>
            <a:xfrm>
              <a:off x="541863" y="4366674"/>
              <a:ext cx="3215945" cy="9115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pPr algn="just"/>
              <a:r>
                <a:rPr lang="en-US" altLang="ja-JP" sz="1400" b="1" dirty="0"/>
                <a:t>【7】</a:t>
              </a:r>
              <a:r>
                <a:rPr lang="ja-JP" altLang="ja-JP" sz="1400" b="1" dirty="0"/>
                <a:t>照合に必要な証憑収集不足とルールの整備不備の課題</a:t>
              </a:r>
              <a:endParaRPr lang="ja-JP" altLang="en-US" sz="1400" b="1" dirty="0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7AE6652D-E7AA-4618-A896-16045C7F285B}"/>
                </a:ext>
              </a:extLst>
            </p:cNvPr>
            <p:cNvSpPr/>
            <p:nvPr/>
          </p:nvSpPr>
          <p:spPr>
            <a:xfrm>
              <a:off x="4074203" y="4366674"/>
              <a:ext cx="6832696" cy="9115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anchor="ctr">
              <a:noAutofit/>
            </a:bodyPr>
            <a:lstStyle/>
            <a:p>
              <a:r>
                <a:rPr lang="ja-JP" altLang="en-US" sz="1400" dirty="0"/>
                <a:t>取引開始時に伴う契約の締結や証憑管理の運用には、ルールの不備などがある</a:t>
              </a:r>
            </a:p>
            <a:p>
              <a:r>
                <a:rPr lang="ja-JP" altLang="en-US" sz="1400" dirty="0"/>
                <a:t>会計基準とは異なる計上を行うリスクがある</a:t>
              </a:r>
            </a:p>
          </p:txBody>
        </p: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2A3EF518-546C-4EFE-8DB7-6659DA614A15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3757808" y="4822459"/>
              <a:ext cx="3163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13A0592A-B671-4D35-9A49-2B8945AB9DD3}"/>
                </a:ext>
              </a:extLst>
            </p:cNvPr>
            <p:cNvSpPr/>
            <p:nvPr/>
          </p:nvSpPr>
          <p:spPr>
            <a:xfrm>
              <a:off x="541864" y="3963798"/>
              <a:ext cx="10946664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ja-JP" altLang="en-US" b="1" dirty="0"/>
                <a:t>以前からグループ内部統制統括部より指摘いただいた課題である</a:t>
              </a:r>
              <a:endParaRPr lang="en-US" altLang="ja-JP" b="1" dirty="0"/>
            </a:p>
          </p:txBody>
        </p:sp>
      </p:grp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8D24454-BE63-4093-A9FB-E3E9034A8DE8}"/>
              </a:ext>
            </a:extLst>
          </p:cNvPr>
          <p:cNvSpPr/>
          <p:nvPr/>
        </p:nvSpPr>
        <p:spPr>
          <a:xfrm>
            <a:off x="541864" y="4833121"/>
            <a:ext cx="1094666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altLang="ja-JP" sz="14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調査からスタート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0297119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608E58-F6FA-41E6-A9B3-32D1059CB83B}"/>
              </a:ext>
            </a:extLst>
          </p:cNvPr>
          <p:cNvSpPr/>
          <p:nvPr/>
        </p:nvSpPr>
        <p:spPr>
          <a:xfrm>
            <a:off x="541864" y="936932"/>
            <a:ext cx="10946664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ja-JP" altLang="en-US" b="1" dirty="0"/>
              <a:t>プロジェクト実施する上で生じるリスク：</a:t>
            </a:r>
            <a:endParaRPr lang="en-US" altLang="ja-JP" dirty="0"/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/>
              <a:t>リソースの不足により課題着手が直列進行になる</a:t>
            </a:r>
            <a:endParaRPr lang="en-US" altLang="ja-JP" dirty="0"/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/>
              <a:t>事故対策による遅延リスクがある</a:t>
            </a:r>
            <a:br>
              <a:rPr lang="ja-JP" altLang="en-US" dirty="0"/>
            </a:br>
            <a:endParaRPr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要因は、各施策のリーダーは別の施策のメンバーでもあり、定常業務を遂行している</a:t>
            </a:r>
            <a:endParaRPr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リスク対策は、週次報告会にてご相談</a:t>
            </a:r>
          </a:p>
        </p:txBody>
      </p:sp>
    </p:spTree>
    <p:extLst>
      <p:ext uri="{BB962C8B-B14F-4D97-AF65-F5344CB8AC3E}">
        <p14:creationId xmlns:p14="http://schemas.microsoft.com/office/powerpoint/2010/main" val="2399800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13BB09-AAD7-4451-8B4E-A184A8DE2108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ロードマップ</a:t>
            </a:r>
            <a:r>
              <a:rPr lang="ja-JP" altLang="en-US" b="1" dirty="0"/>
              <a:t>：</a:t>
            </a:r>
            <a:endParaRPr lang="en-US" altLang="ja-JP" b="1" dirty="0"/>
          </a:p>
          <a:p>
            <a:pPr algn="just"/>
            <a:endParaRPr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A373A1AE-1AE9-427D-B8D0-31DF75147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415223"/>
              </p:ext>
            </p:extLst>
          </p:nvPr>
        </p:nvGraphicFramePr>
        <p:xfrm>
          <a:off x="983677" y="1373504"/>
          <a:ext cx="10871262" cy="705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822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326273722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819835007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46590139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61923453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723087677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4042029908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38068233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4102847033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033000591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581139345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102604135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456375833"/>
                    </a:ext>
                  </a:extLst>
                </a:gridCol>
              </a:tblGrid>
              <a:tr h="3526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課題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2022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2023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2024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66829"/>
                  </a:ext>
                </a:extLst>
              </a:tr>
              <a:tr h="352674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10-12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10-12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2121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E6B6A4D-7FAA-44EC-A410-C479BF80A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550853"/>
              </p:ext>
            </p:extLst>
          </p:nvPr>
        </p:nvGraphicFramePr>
        <p:xfrm>
          <a:off x="983677" y="2125970"/>
          <a:ext cx="10865041" cy="433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904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9337137">
                  <a:extLst>
                    <a:ext uri="{9D8B030D-6E8A-4147-A177-3AD203B41FA5}">
                      <a16:colId xmlns:a16="http://schemas.microsoft.com/office/drawing/2014/main" val="1996198101"/>
                    </a:ext>
                  </a:extLst>
                </a:gridCol>
              </a:tblGrid>
              <a:tr h="1069200">
                <a:tc>
                  <a:txBody>
                    <a:bodyPr/>
                    <a:lstStyle/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【1】</a:t>
                      </a:r>
                      <a:r>
                        <a:rPr kumimoji="1" lang="ja-JP" altLang="en-US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紙とエクセルによる複雑な業務による人為的な事故の発生</a:t>
                      </a:r>
                      <a:endParaRPr lang="ja-JP" altLang="ja-JP" sz="1200" b="1" dirty="0">
                        <a:effectLst/>
                        <a:latin typeface="+mj-lt"/>
                      </a:endParaRPr>
                    </a:p>
                    <a:p>
                      <a:pPr algn="l" fontAlgn="t"/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90222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【2】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商品マスタ維持管理の不足</a:t>
                      </a:r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21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【3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仕入先とのリベート合意内容の不足</a:t>
                      </a:r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82832"/>
                  </a:ext>
                </a:extLst>
              </a:tr>
              <a:tr h="106920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【4】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仕入先への債権管理不足</a:t>
                      </a:r>
                      <a:endParaRPr kumimoji="1" lang="en-US" altLang="ja-JP" sz="1200" b="1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eiryo UI" panose="020B0604030504040204" pitchFamily="50" charset="-128"/>
                        </a:rPr>
                        <a:t>送料助成費・工事助成費</a:t>
                      </a: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02547"/>
                  </a:ext>
                </a:extLst>
              </a:tr>
            </a:tbl>
          </a:graphicData>
        </a:graphic>
      </p:graphicFrame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EB92BC30-A432-445B-A19D-9B2B143DB007}"/>
              </a:ext>
            </a:extLst>
          </p:cNvPr>
          <p:cNvSpPr/>
          <p:nvPr/>
        </p:nvSpPr>
        <p:spPr>
          <a:xfrm>
            <a:off x="2541765" y="2205388"/>
            <a:ext cx="749215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STEP1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A93EC899-9C9E-427C-84CB-2EC4EFB82534}"/>
              </a:ext>
            </a:extLst>
          </p:cNvPr>
          <p:cNvSpPr/>
          <p:nvPr/>
        </p:nvSpPr>
        <p:spPr>
          <a:xfrm>
            <a:off x="3290981" y="2205388"/>
            <a:ext cx="2130764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STEP2</a:t>
            </a:r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以降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BD0B4E26-FA10-4BF3-AC30-F93CC646A31A}"/>
              </a:ext>
            </a:extLst>
          </p:cNvPr>
          <p:cNvSpPr/>
          <p:nvPr/>
        </p:nvSpPr>
        <p:spPr>
          <a:xfrm>
            <a:off x="2541766" y="3302668"/>
            <a:ext cx="34768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暫定運用引継ぎ</a:t>
            </a: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3F1A9706-9C2C-4342-AC49-F90659D65ECE}"/>
              </a:ext>
            </a:extLst>
          </p:cNvPr>
          <p:cNvSpPr/>
          <p:nvPr/>
        </p:nvSpPr>
        <p:spPr>
          <a:xfrm>
            <a:off x="2541765" y="4369468"/>
            <a:ext cx="341045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暫定運用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9219DD67-E226-4B02-B131-7EFD19E8D395}"/>
              </a:ext>
            </a:extLst>
          </p:cNvPr>
          <p:cNvSpPr/>
          <p:nvPr/>
        </p:nvSpPr>
        <p:spPr>
          <a:xfrm>
            <a:off x="2544075" y="5443888"/>
            <a:ext cx="345375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暫定フロー作成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9501E79-C5F3-4B40-A6C7-3AC25335B862}"/>
              </a:ext>
            </a:extLst>
          </p:cNvPr>
          <p:cNvSpPr/>
          <p:nvPr/>
        </p:nvSpPr>
        <p:spPr>
          <a:xfrm>
            <a:off x="2897189" y="3302668"/>
            <a:ext cx="393791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暫定運用評価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BE17AA00-5304-4666-BF5D-240CE5A213A3}"/>
              </a:ext>
            </a:extLst>
          </p:cNvPr>
          <p:cNvSpPr/>
          <p:nvPr/>
        </p:nvSpPr>
        <p:spPr>
          <a:xfrm>
            <a:off x="4068173" y="3302668"/>
            <a:ext cx="769455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根本対策を検討と批評</a:t>
            </a: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D98F53D7-FA74-456F-BB30-C62F501757DA}"/>
              </a:ext>
            </a:extLst>
          </p:cNvPr>
          <p:cNvSpPr/>
          <p:nvPr/>
        </p:nvSpPr>
        <p:spPr>
          <a:xfrm>
            <a:off x="4832698" y="3302668"/>
            <a:ext cx="1550515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システム構築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F3DD235-D550-416A-B4AA-A3FFF6F7EEED}"/>
              </a:ext>
            </a:extLst>
          </p:cNvPr>
          <p:cNvSpPr/>
          <p:nvPr/>
        </p:nvSpPr>
        <p:spPr>
          <a:xfrm>
            <a:off x="541864" y="2135206"/>
            <a:ext cx="415174" cy="10882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ツール導入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CE31070-3CFF-4DFD-A54C-D46982B6412C}"/>
              </a:ext>
            </a:extLst>
          </p:cNvPr>
          <p:cNvSpPr/>
          <p:nvPr/>
        </p:nvSpPr>
        <p:spPr>
          <a:xfrm>
            <a:off x="541864" y="3274359"/>
            <a:ext cx="415174" cy="10207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2EDD144-F10B-4902-A330-859386B74C2C}"/>
              </a:ext>
            </a:extLst>
          </p:cNvPr>
          <p:cNvSpPr/>
          <p:nvPr/>
        </p:nvSpPr>
        <p:spPr>
          <a:xfrm>
            <a:off x="541864" y="4346077"/>
            <a:ext cx="415174" cy="10231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運用規約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合意書</a:t>
            </a:r>
            <a:endParaRPr lang="ja-JP" altLang="ja-JP" sz="1100" b="1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2A0C968-4541-45DD-B0BB-6A4B7B179899}"/>
              </a:ext>
            </a:extLst>
          </p:cNvPr>
          <p:cNvSpPr/>
          <p:nvPr/>
        </p:nvSpPr>
        <p:spPr>
          <a:xfrm>
            <a:off x="541864" y="5420197"/>
            <a:ext cx="415174" cy="10159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覚書</a:t>
            </a:r>
            <a:endParaRPr lang="ja-JP" altLang="ja-JP" sz="1100" b="1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33E4979-B531-46BD-8E46-484A68F27C0A}"/>
              </a:ext>
            </a:extLst>
          </p:cNvPr>
          <p:cNvSpPr/>
          <p:nvPr/>
        </p:nvSpPr>
        <p:spPr>
          <a:xfrm>
            <a:off x="541864" y="1387061"/>
            <a:ext cx="415174" cy="6703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成果物</a:t>
            </a:r>
            <a:endParaRPr lang="ja-JP" altLang="ja-JP" sz="1100" b="1" dirty="0"/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46101FDA-2191-48D4-A871-15D34EA7D3DD}"/>
              </a:ext>
            </a:extLst>
          </p:cNvPr>
          <p:cNvSpPr/>
          <p:nvPr/>
        </p:nvSpPr>
        <p:spPr>
          <a:xfrm>
            <a:off x="2882810" y="5443888"/>
            <a:ext cx="415908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送付データ設計</a:t>
            </a:r>
          </a:p>
        </p:txBody>
      </p:sp>
      <p:sp>
        <p:nvSpPr>
          <p:cNvPr id="39" name="矢印: 五方向 38">
            <a:extLst>
              <a:ext uri="{FF2B5EF4-FFF2-40B4-BE49-F238E27FC236}">
                <a16:creationId xmlns:a16="http://schemas.microsoft.com/office/drawing/2014/main" id="{8F0C4004-E25B-454D-8888-CBE30F165B82}"/>
              </a:ext>
            </a:extLst>
          </p:cNvPr>
          <p:cNvSpPr/>
          <p:nvPr/>
        </p:nvSpPr>
        <p:spPr>
          <a:xfrm>
            <a:off x="3317619" y="5443888"/>
            <a:ext cx="31983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テスト運用</a:t>
            </a:r>
          </a:p>
        </p:txBody>
      </p:sp>
      <p:sp>
        <p:nvSpPr>
          <p:cNvPr id="40" name="矢印: 五方向 39">
            <a:extLst>
              <a:ext uri="{FF2B5EF4-FFF2-40B4-BE49-F238E27FC236}">
                <a16:creationId xmlns:a16="http://schemas.microsoft.com/office/drawing/2014/main" id="{2C3FCFEE-C95C-401F-98BE-06B7C21C0688}"/>
              </a:ext>
            </a:extLst>
          </p:cNvPr>
          <p:cNvSpPr/>
          <p:nvPr/>
        </p:nvSpPr>
        <p:spPr>
          <a:xfrm>
            <a:off x="3631525" y="5443888"/>
            <a:ext cx="436648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暫定運用評価</a:t>
            </a:r>
          </a:p>
        </p:txBody>
      </p:sp>
      <p:sp>
        <p:nvSpPr>
          <p:cNvPr id="41" name="矢印: 五方向 40">
            <a:extLst>
              <a:ext uri="{FF2B5EF4-FFF2-40B4-BE49-F238E27FC236}">
                <a16:creationId xmlns:a16="http://schemas.microsoft.com/office/drawing/2014/main" id="{771736A2-CCD0-4DC1-AFD7-1C595F816B16}"/>
              </a:ext>
            </a:extLst>
          </p:cNvPr>
          <p:cNvSpPr/>
          <p:nvPr/>
        </p:nvSpPr>
        <p:spPr>
          <a:xfrm>
            <a:off x="4068173" y="5443888"/>
            <a:ext cx="381675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覚書締結準備</a:t>
            </a:r>
          </a:p>
        </p:txBody>
      </p:sp>
      <p:sp>
        <p:nvSpPr>
          <p:cNvPr id="42" name="矢印: 五方向 41">
            <a:extLst>
              <a:ext uri="{FF2B5EF4-FFF2-40B4-BE49-F238E27FC236}">
                <a16:creationId xmlns:a16="http://schemas.microsoft.com/office/drawing/2014/main" id="{365F272B-B63D-49CF-88F7-7A74D6BE41A9}"/>
              </a:ext>
            </a:extLst>
          </p:cNvPr>
          <p:cNvSpPr/>
          <p:nvPr/>
        </p:nvSpPr>
        <p:spPr>
          <a:xfrm>
            <a:off x="4476487" y="5443888"/>
            <a:ext cx="118400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覚書締結</a:t>
            </a:r>
          </a:p>
        </p:txBody>
      </p:sp>
      <p:sp>
        <p:nvSpPr>
          <p:cNvPr id="44" name="矢印: 五方向 43">
            <a:extLst>
              <a:ext uri="{FF2B5EF4-FFF2-40B4-BE49-F238E27FC236}">
                <a16:creationId xmlns:a16="http://schemas.microsoft.com/office/drawing/2014/main" id="{8A117EA3-7895-45A1-A043-CCD71FF0B362}"/>
              </a:ext>
            </a:extLst>
          </p:cNvPr>
          <p:cNvSpPr/>
          <p:nvPr/>
        </p:nvSpPr>
        <p:spPr>
          <a:xfrm>
            <a:off x="10002921" y="914860"/>
            <a:ext cx="967339" cy="40560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暫定施策</a:t>
            </a:r>
          </a:p>
        </p:txBody>
      </p:sp>
      <p:sp>
        <p:nvSpPr>
          <p:cNvPr id="45" name="矢印: 五方向 44">
            <a:extLst>
              <a:ext uri="{FF2B5EF4-FFF2-40B4-BE49-F238E27FC236}">
                <a16:creationId xmlns:a16="http://schemas.microsoft.com/office/drawing/2014/main" id="{BF9C7596-B76E-461A-B47F-CE6DB3F9BDD2}"/>
              </a:ext>
            </a:extLst>
          </p:cNvPr>
          <p:cNvSpPr/>
          <p:nvPr/>
        </p:nvSpPr>
        <p:spPr>
          <a:xfrm>
            <a:off x="11000448" y="914860"/>
            <a:ext cx="967339" cy="405604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根本施策</a:t>
            </a: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5ACDF5C8-836F-4420-99C2-9226E4BCD846}"/>
              </a:ext>
            </a:extLst>
          </p:cNvPr>
          <p:cNvSpPr/>
          <p:nvPr/>
        </p:nvSpPr>
        <p:spPr>
          <a:xfrm>
            <a:off x="5606326" y="5443888"/>
            <a:ext cx="378691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E43FA29B-54FC-494D-9C0B-35902D9691D9}"/>
              </a:ext>
            </a:extLst>
          </p:cNvPr>
          <p:cNvSpPr/>
          <p:nvPr/>
        </p:nvSpPr>
        <p:spPr>
          <a:xfrm>
            <a:off x="5431209" y="2210801"/>
            <a:ext cx="757382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EA70A67E-BDC0-4B47-B06D-4C6852458F4A}"/>
              </a:ext>
            </a:extLst>
          </p:cNvPr>
          <p:cNvSpPr/>
          <p:nvPr/>
        </p:nvSpPr>
        <p:spPr>
          <a:xfrm>
            <a:off x="6416197" y="3302668"/>
            <a:ext cx="785087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43" name="矢印: 五方向 42">
            <a:extLst>
              <a:ext uri="{FF2B5EF4-FFF2-40B4-BE49-F238E27FC236}">
                <a16:creationId xmlns:a16="http://schemas.microsoft.com/office/drawing/2014/main" id="{D53D1501-3F16-48C3-8456-E0588E8C6F50}"/>
              </a:ext>
            </a:extLst>
          </p:cNvPr>
          <p:cNvSpPr/>
          <p:nvPr/>
        </p:nvSpPr>
        <p:spPr>
          <a:xfrm>
            <a:off x="2882811" y="4369468"/>
            <a:ext cx="415908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暫定運用評価</a:t>
            </a: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E7396C3F-5844-45B3-924A-7194F1CA9503}"/>
              </a:ext>
            </a:extLst>
          </p:cNvPr>
          <p:cNvSpPr/>
          <p:nvPr/>
        </p:nvSpPr>
        <p:spPr>
          <a:xfrm>
            <a:off x="3308514" y="4369468"/>
            <a:ext cx="759659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根本対策を検討と批評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617D3207-BEFF-4859-9B84-BC842C80E8B9}"/>
              </a:ext>
            </a:extLst>
          </p:cNvPr>
          <p:cNvSpPr/>
          <p:nvPr/>
        </p:nvSpPr>
        <p:spPr>
          <a:xfrm>
            <a:off x="4068173" y="4369468"/>
            <a:ext cx="1578570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リベートが発生する取引先との合意</a:t>
            </a: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D5C91C7F-1B6D-4DEA-936E-93B8979D4145}"/>
              </a:ext>
            </a:extLst>
          </p:cNvPr>
          <p:cNvSpPr/>
          <p:nvPr/>
        </p:nvSpPr>
        <p:spPr>
          <a:xfrm>
            <a:off x="5647890" y="4369468"/>
            <a:ext cx="72753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D2AA0D2-4046-4C00-9E06-E7B8416E8EA6}"/>
              </a:ext>
            </a:extLst>
          </p:cNvPr>
          <p:cNvSpPr/>
          <p:nvPr/>
        </p:nvSpPr>
        <p:spPr>
          <a:xfrm>
            <a:off x="541864" y="6511088"/>
            <a:ext cx="1142592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対策スケジュールは、暫定的なスケジュールとして記載した。要件定義中のため変更する場合がある</a:t>
            </a:r>
            <a:endParaRPr lang="ja-JP" altLang="en-US" sz="1200" dirty="0"/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AB86D81D-D835-4D2D-99CB-704EBF4E156B}"/>
              </a:ext>
            </a:extLst>
          </p:cNvPr>
          <p:cNvSpPr/>
          <p:nvPr/>
        </p:nvSpPr>
        <p:spPr>
          <a:xfrm>
            <a:off x="3298718" y="3287428"/>
            <a:ext cx="769455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調査</a:t>
            </a: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9D291EE4-8115-46F1-9A45-25F1B513B501}"/>
              </a:ext>
            </a:extLst>
          </p:cNvPr>
          <p:cNvSpPr/>
          <p:nvPr/>
        </p:nvSpPr>
        <p:spPr>
          <a:xfrm>
            <a:off x="6011657" y="5443888"/>
            <a:ext cx="1172702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その他の債権に対して調査</a:t>
            </a:r>
          </a:p>
        </p:txBody>
      </p:sp>
      <p:sp>
        <p:nvSpPr>
          <p:cNvPr id="55" name="矢印: 五方向 54">
            <a:extLst>
              <a:ext uri="{FF2B5EF4-FFF2-40B4-BE49-F238E27FC236}">
                <a16:creationId xmlns:a16="http://schemas.microsoft.com/office/drawing/2014/main" id="{541A0B28-0189-4ED2-A4A2-22F6170AF33B}"/>
              </a:ext>
            </a:extLst>
          </p:cNvPr>
          <p:cNvSpPr/>
          <p:nvPr/>
        </p:nvSpPr>
        <p:spPr>
          <a:xfrm>
            <a:off x="7154515" y="5443888"/>
            <a:ext cx="78477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要件定義</a:t>
            </a: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6B0E063A-7FFC-49C8-B441-C9E244B9889B}"/>
              </a:ext>
            </a:extLst>
          </p:cNvPr>
          <p:cNvSpPr/>
          <p:nvPr/>
        </p:nvSpPr>
        <p:spPr>
          <a:xfrm>
            <a:off x="7975164" y="5443888"/>
            <a:ext cx="1509608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業務構築</a:t>
            </a: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B0C7A44F-0666-4E5E-A6D1-EDC1F19A99CC}"/>
              </a:ext>
            </a:extLst>
          </p:cNvPr>
          <p:cNvSpPr/>
          <p:nvPr/>
        </p:nvSpPr>
        <p:spPr>
          <a:xfrm>
            <a:off x="9484906" y="5443888"/>
            <a:ext cx="378691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</p:spTree>
    <p:extLst>
      <p:ext uri="{BB962C8B-B14F-4D97-AF65-F5344CB8AC3E}">
        <p14:creationId xmlns:p14="http://schemas.microsoft.com/office/powerpoint/2010/main" val="12456021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表 67">
            <a:extLst>
              <a:ext uri="{FF2B5EF4-FFF2-40B4-BE49-F238E27FC236}">
                <a16:creationId xmlns:a16="http://schemas.microsoft.com/office/drawing/2014/main" id="{7D37DB40-7A95-4B5A-8804-601C6AD65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951459"/>
              </p:ext>
            </p:extLst>
          </p:nvPr>
        </p:nvGraphicFramePr>
        <p:xfrm>
          <a:off x="973501" y="4286430"/>
          <a:ext cx="10871262" cy="12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8780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9342482">
                  <a:extLst>
                    <a:ext uri="{9D8B030D-6E8A-4147-A177-3AD203B41FA5}">
                      <a16:colId xmlns:a16="http://schemas.microsoft.com/office/drawing/2014/main" val="1996198101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【7】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照合に必要な証憑収集不足とルールの整備不備</a:t>
                      </a:r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582832"/>
                  </a:ext>
                </a:extLst>
              </a:tr>
            </a:tbl>
          </a:graphicData>
        </a:graphic>
      </p:graphicFrame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23D8F8A-F84B-49AC-A3CC-B5EE25897F7F}"/>
              </a:ext>
            </a:extLst>
          </p:cNvPr>
          <p:cNvSpPr/>
          <p:nvPr/>
        </p:nvSpPr>
        <p:spPr>
          <a:xfrm>
            <a:off x="526182" y="4295280"/>
            <a:ext cx="415174" cy="12075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チェックリスト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証憑</a:t>
            </a:r>
            <a:endParaRPr lang="en-US" altLang="ja-JP" sz="1100" b="1" dirty="0"/>
          </a:p>
        </p:txBody>
      </p:sp>
      <p:sp>
        <p:nvSpPr>
          <p:cNvPr id="70" name="矢印: 五方向 69">
            <a:extLst>
              <a:ext uri="{FF2B5EF4-FFF2-40B4-BE49-F238E27FC236}">
                <a16:creationId xmlns:a16="http://schemas.microsoft.com/office/drawing/2014/main" id="{F72EEBAF-F1D8-4124-ABDC-85DF76D11003}"/>
              </a:ext>
            </a:extLst>
          </p:cNvPr>
          <p:cNvSpPr/>
          <p:nvPr/>
        </p:nvSpPr>
        <p:spPr>
          <a:xfrm>
            <a:off x="2580193" y="4420462"/>
            <a:ext cx="649189" cy="100800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TW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調査</a:t>
            </a:r>
            <a:endParaRPr lang="en-US" altLang="zh-TW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範囲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</a:t>
            </a:r>
            <a:endParaRPr lang="en-US" altLang="zh-TW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矢印: 五方向 70">
            <a:extLst>
              <a:ext uri="{FF2B5EF4-FFF2-40B4-BE49-F238E27FC236}">
                <a16:creationId xmlns:a16="http://schemas.microsoft.com/office/drawing/2014/main" id="{3AE4EA07-2556-4398-9102-1F0184EA270F}"/>
              </a:ext>
            </a:extLst>
          </p:cNvPr>
          <p:cNvSpPr/>
          <p:nvPr/>
        </p:nvSpPr>
        <p:spPr>
          <a:xfrm>
            <a:off x="8770705" y="4420462"/>
            <a:ext cx="765033" cy="10080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</a:rPr>
              <a:t>暫定運用の評価</a:t>
            </a:r>
          </a:p>
        </p:txBody>
      </p:sp>
      <p:sp>
        <p:nvSpPr>
          <p:cNvPr id="72" name="矢印: 五方向 71">
            <a:extLst>
              <a:ext uri="{FF2B5EF4-FFF2-40B4-BE49-F238E27FC236}">
                <a16:creationId xmlns:a16="http://schemas.microsoft.com/office/drawing/2014/main" id="{61BD4D0C-232A-40A3-BD2A-B0EF06333E20}"/>
              </a:ext>
            </a:extLst>
          </p:cNvPr>
          <p:cNvSpPr/>
          <p:nvPr/>
        </p:nvSpPr>
        <p:spPr>
          <a:xfrm>
            <a:off x="11823764" y="4420462"/>
            <a:ext cx="388536" cy="10080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73" name="矢印: 五方向 72">
            <a:extLst>
              <a:ext uri="{FF2B5EF4-FFF2-40B4-BE49-F238E27FC236}">
                <a16:creationId xmlns:a16="http://schemas.microsoft.com/office/drawing/2014/main" id="{4BE72956-0F3D-4FBA-9CF6-4121FE31FD55}"/>
              </a:ext>
            </a:extLst>
          </p:cNvPr>
          <p:cNvSpPr/>
          <p:nvPr/>
        </p:nvSpPr>
        <p:spPr>
          <a:xfrm>
            <a:off x="8298179" y="4419686"/>
            <a:ext cx="467437" cy="100800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テスト運用</a:t>
            </a:r>
          </a:p>
        </p:txBody>
      </p: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35BCED13-1AD9-497A-A63F-31E54EAC2D1E}"/>
              </a:ext>
            </a:extLst>
          </p:cNvPr>
          <p:cNvSpPr/>
          <p:nvPr/>
        </p:nvSpPr>
        <p:spPr>
          <a:xfrm>
            <a:off x="6427679" y="4433175"/>
            <a:ext cx="786703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要件定義</a:t>
            </a:r>
          </a:p>
        </p:txBody>
      </p:sp>
      <p:sp>
        <p:nvSpPr>
          <p:cNvPr id="75" name="矢印: 五方向 74">
            <a:extLst>
              <a:ext uri="{FF2B5EF4-FFF2-40B4-BE49-F238E27FC236}">
                <a16:creationId xmlns:a16="http://schemas.microsoft.com/office/drawing/2014/main" id="{DC710E47-F247-4D80-B699-4F730657D674}"/>
              </a:ext>
            </a:extLst>
          </p:cNvPr>
          <p:cNvSpPr/>
          <p:nvPr/>
        </p:nvSpPr>
        <p:spPr>
          <a:xfrm>
            <a:off x="7197299" y="4433175"/>
            <a:ext cx="1068735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</a:t>
            </a:r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ja-JP" altLang="en-US" sz="1000" b="1" dirty="0">
                <a:solidFill>
                  <a:schemeClr val="tx1"/>
                </a:solidFill>
              </a:rPr>
              <a:t>業務構築</a:t>
            </a:r>
          </a:p>
        </p:txBody>
      </p:sp>
      <p:sp>
        <p:nvSpPr>
          <p:cNvPr id="76" name="矢印: 五方向 75">
            <a:extLst>
              <a:ext uri="{FF2B5EF4-FFF2-40B4-BE49-F238E27FC236}">
                <a16:creationId xmlns:a16="http://schemas.microsoft.com/office/drawing/2014/main" id="{F09E2288-2AE3-49C9-B803-34AE38D331CA}"/>
              </a:ext>
            </a:extLst>
          </p:cNvPr>
          <p:cNvSpPr/>
          <p:nvPr/>
        </p:nvSpPr>
        <p:spPr>
          <a:xfrm>
            <a:off x="9535738" y="4444706"/>
            <a:ext cx="78670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要件定義</a:t>
            </a:r>
          </a:p>
        </p:txBody>
      </p:sp>
      <p:sp>
        <p:nvSpPr>
          <p:cNvPr id="77" name="矢印: 五方向 76">
            <a:extLst>
              <a:ext uri="{FF2B5EF4-FFF2-40B4-BE49-F238E27FC236}">
                <a16:creationId xmlns:a16="http://schemas.microsoft.com/office/drawing/2014/main" id="{D03F8F8E-7128-45DD-B844-CA74D4FE8909}"/>
              </a:ext>
            </a:extLst>
          </p:cNvPr>
          <p:cNvSpPr/>
          <p:nvPr/>
        </p:nvSpPr>
        <p:spPr>
          <a:xfrm>
            <a:off x="10305358" y="4444706"/>
            <a:ext cx="1508230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業務構築</a:t>
            </a:r>
          </a:p>
        </p:txBody>
      </p:sp>
      <p:sp>
        <p:nvSpPr>
          <p:cNvPr id="78" name="矢印: 五方向 77">
            <a:extLst>
              <a:ext uri="{FF2B5EF4-FFF2-40B4-BE49-F238E27FC236}">
                <a16:creationId xmlns:a16="http://schemas.microsoft.com/office/drawing/2014/main" id="{14DF6C19-2F4E-4309-88A0-E39191B0EBFD}"/>
              </a:ext>
            </a:extLst>
          </p:cNvPr>
          <p:cNvSpPr/>
          <p:nvPr/>
        </p:nvSpPr>
        <p:spPr>
          <a:xfrm>
            <a:off x="5627579" y="4433175"/>
            <a:ext cx="786703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分析</a:t>
            </a:r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ja-JP" altLang="en-US" sz="1000" b="1" dirty="0">
                <a:solidFill>
                  <a:schemeClr val="tx1"/>
                </a:solidFill>
              </a:rPr>
              <a:t>施策立案</a:t>
            </a:r>
          </a:p>
        </p:txBody>
      </p:sp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FF51A91B-D94D-4CB2-8D92-3A76DBCB3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95869"/>
              </p:ext>
            </p:extLst>
          </p:nvPr>
        </p:nvGraphicFramePr>
        <p:xfrm>
          <a:off x="983677" y="1373504"/>
          <a:ext cx="10871262" cy="705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822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326273722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819835007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46590139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61923453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723087677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4042029908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380682336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4102847033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033000591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581139345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1102604135"/>
                    </a:ext>
                  </a:extLst>
                </a:gridCol>
                <a:gridCol w="778870">
                  <a:extLst>
                    <a:ext uri="{9D8B030D-6E8A-4147-A177-3AD203B41FA5}">
                      <a16:colId xmlns:a16="http://schemas.microsoft.com/office/drawing/2014/main" val="2456375833"/>
                    </a:ext>
                  </a:extLst>
                </a:gridCol>
              </a:tblGrid>
              <a:tr h="3526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課題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2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2022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2023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2024</a:t>
                      </a: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1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66829"/>
                  </a:ext>
                </a:extLst>
              </a:tr>
              <a:tr h="352674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10-12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10-12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10-12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1-3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4-6</a:t>
                      </a:r>
                      <a:r>
                        <a:rPr lang="ja-JP" altLang="en-US" sz="1400" b="1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7-9</a:t>
                      </a:r>
                      <a:r>
                        <a:rPr kumimoji="1" lang="ja-JP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月</a:t>
                      </a:r>
                      <a:endParaRPr kumimoji="1" lang="ja-JP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620" marR="762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21214"/>
                  </a:ext>
                </a:extLst>
              </a:tr>
            </a:tbl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EDDD414E-B8B3-4B9B-A64F-0756245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/>
          <a:lstStyle/>
          <a:p>
            <a:r>
              <a:rPr lang="ja-JP" altLang="en-US" b="1" dirty="0"/>
              <a:t>商品統合管理室　</a:t>
            </a:r>
            <a:r>
              <a:rPr lang="en-US" altLang="ja-JP" b="1" dirty="0"/>
              <a:t>42</a:t>
            </a:r>
            <a:r>
              <a:rPr lang="ja-JP" altLang="en-US" b="1" dirty="0"/>
              <a:t>期リスク対策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837FF6-F6B0-4B5C-ADBB-403CA6184E07}"/>
              </a:ext>
            </a:extLst>
          </p:cNvPr>
          <p:cNvSpPr txBox="1"/>
          <p:nvPr/>
        </p:nvSpPr>
        <p:spPr>
          <a:xfrm>
            <a:off x="11286444" y="45156"/>
            <a:ext cx="830298" cy="4616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13BB09-AAD7-4451-8B4E-A184A8DE2108}"/>
              </a:ext>
            </a:extLst>
          </p:cNvPr>
          <p:cNvSpPr/>
          <p:nvPr/>
        </p:nvSpPr>
        <p:spPr>
          <a:xfrm>
            <a:off x="541864" y="936932"/>
            <a:ext cx="1094666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ロードマップ</a:t>
            </a:r>
            <a:r>
              <a:rPr lang="ja-JP" altLang="en-US" b="1" dirty="0"/>
              <a:t>：</a:t>
            </a:r>
            <a:endParaRPr lang="en-US" altLang="ja-JP" b="1" dirty="0"/>
          </a:p>
          <a:p>
            <a:pPr algn="just"/>
            <a:endParaRPr lang="ja-JP" altLang="en-US" dirty="0"/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0F94E641-8CE7-4B02-A53C-E8AEC63776E7}"/>
              </a:ext>
            </a:extLst>
          </p:cNvPr>
          <p:cNvSpPr/>
          <p:nvPr/>
        </p:nvSpPr>
        <p:spPr>
          <a:xfrm>
            <a:off x="2540824" y="2205388"/>
            <a:ext cx="1562900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STEP1</a:t>
            </a:r>
            <a:endParaRPr kumimoji="1" lang="ja-JP" altLang="en-US" sz="11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48D6B1F3-293B-4FB1-ADC5-E135F9211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549913"/>
              </p:ext>
            </p:extLst>
          </p:nvPr>
        </p:nvGraphicFramePr>
        <p:xfrm>
          <a:off x="982736" y="2125970"/>
          <a:ext cx="10871263" cy="21621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8780">
                  <a:extLst>
                    <a:ext uri="{9D8B030D-6E8A-4147-A177-3AD203B41FA5}">
                      <a16:colId xmlns:a16="http://schemas.microsoft.com/office/drawing/2014/main" val="1710503364"/>
                    </a:ext>
                  </a:extLst>
                </a:gridCol>
                <a:gridCol w="9342483">
                  <a:extLst>
                    <a:ext uri="{9D8B030D-6E8A-4147-A177-3AD203B41FA5}">
                      <a16:colId xmlns:a16="http://schemas.microsoft.com/office/drawing/2014/main" val="1996198101"/>
                    </a:ext>
                  </a:extLst>
                </a:gridCol>
              </a:tblGrid>
              <a:tr h="1081097">
                <a:tc>
                  <a:txBody>
                    <a:bodyPr/>
                    <a:lstStyle/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【5】</a:t>
                      </a:r>
                      <a:r>
                        <a:rPr lang="ja-JP" altLang="en-US" sz="1200" b="1" dirty="0">
                          <a:latin typeface="+mj-lt"/>
                        </a:rPr>
                        <a:t>取次手数料の業務設計不足</a:t>
                      </a:r>
                      <a:endParaRPr lang="en-US" altLang="ja-JP" sz="1200" b="1" dirty="0">
                        <a:latin typeface="+mj-lt"/>
                      </a:endParaRPr>
                    </a:p>
                    <a:p>
                      <a:pPr marL="0" marR="0" lvl="0" indent="0" algn="l" defTabSz="872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sz="1200" b="0" dirty="0">
                        <a:effectLst/>
                        <a:latin typeface="+mj-lt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90222"/>
                  </a:ext>
                </a:extLst>
              </a:tr>
              <a:tr h="1081097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200" b="1" u="none" strike="noStrike" dirty="0">
                          <a:effectLst/>
                          <a:latin typeface="+mj-lt"/>
                          <a:ea typeface="Meiryo UI" panose="020B0604030504040204" pitchFamily="50" charset="-128"/>
                        </a:rPr>
                        <a:t>【6】</a:t>
                      </a:r>
                      <a:r>
                        <a:rPr kumimoji="1" lang="ja-JP" altLang="ja-JP" sz="12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多様な受付方法の課題</a:t>
                      </a:r>
                      <a:endParaRPr lang="ja-JP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8000" marR="108000" marT="108000" marB="108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21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C0F915-B660-4B70-A2CA-E4A3397190A5}"/>
              </a:ext>
            </a:extLst>
          </p:cNvPr>
          <p:cNvSpPr/>
          <p:nvPr/>
        </p:nvSpPr>
        <p:spPr>
          <a:xfrm>
            <a:off x="532965" y="2148938"/>
            <a:ext cx="415174" cy="10374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F062919-74E2-4A42-86D4-1FDAF2DB1716}"/>
              </a:ext>
            </a:extLst>
          </p:cNvPr>
          <p:cNvSpPr/>
          <p:nvPr/>
        </p:nvSpPr>
        <p:spPr>
          <a:xfrm>
            <a:off x="532965" y="3222109"/>
            <a:ext cx="415174" cy="10374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ja-JP" sz="1100" b="1" dirty="0"/>
              <a:t>チェックリスト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A9F0937-3AAC-43FD-A2B3-08315136F6B0}"/>
              </a:ext>
            </a:extLst>
          </p:cNvPr>
          <p:cNvSpPr/>
          <p:nvPr/>
        </p:nvSpPr>
        <p:spPr>
          <a:xfrm>
            <a:off x="532965" y="1387062"/>
            <a:ext cx="415174" cy="6524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ea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100" b="1" dirty="0"/>
              <a:t>成果物</a:t>
            </a:r>
            <a:endParaRPr lang="ja-JP" altLang="ja-JP" sz="1100" b="1" dirty="0"/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DDA6488C-041F-4B3C-8C65-0310CF487B50}"/>
              </a:ext>
            </a:extLst>
          </p:cNvPr>
          <p:cNvSpPr/>
          <p:nvPr/>
        </p:nvSpPr>
        <p:spPr>
          <a:xfrm>
            <a:off x="2557286" y="2174915"/>
            <a:ext cx="379416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エビデンス設計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626714B8-FB7F-4DE9-B5E0-8DC510AAB496}"/>
              </a:ext>
            </a:extLst>
          </p:cNvPr>
          <p:cNvSpPr/>
          <p:nvPr/>
        </p:nvSpPr>
        <p:spPr>
          <a:xfrm>
            <a:off x="2921207" y="2174915"/>
            <a:ext cx="379416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ルール設計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6AA2CB82-35FB-4F9B-95A0-0FBF4D1E3158}"/>
              </a:ext>
            </a:extLst>
          </p:cNvPr>
          <p:cNvSpPr/>
          <p:nvPr/>
        </p:nvSpPr>
        <p:spPr>
          <a:xfrm>
            <a:off x="3296534" y="2174915"/>
            <a:ext cx="39654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テスト運用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5253CF0C-8390-4A01-BD2C-FB1170F730DE}"/>
              </a:ext>
            </a:extLst>
          </p:cNvPr>
          <p:cNvSpPr/>
          <p:nvPr/>
        </p:nvSpPr>
        <p:spPr>
          <a:xfrm>
            <a:off x="3709541" y="2174915"/>
            <a:ext cx="343370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E64DF365-A6EB-406B-8AA0-B5D68882047F}"/>
              </a:ext>
            </a:extLst>
          </p:cNvPr>
          <p:cNvSpPr/>
          <p:nvPr/>
        </p:nvSpPr>
        <p:spPr>
          <a:xfrm>
            <a:off x="4466992" y="2174915"/>
            <a:ext cx="36346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暫定運用評価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2B5120C2-1916-46DB-925B-655E4ED2CB64}"/>
              </a:ext>
            </a:extLst>
          </p:cNvPr>
          <p:cNvSpPr/>
          <p:nvPr/>
        </p:nvSpPr>
        <p:spPr>
          <a:xfrm>
            <a:off x="4840208" y="2174915"/>
            <a:ext cx="36346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要件定義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3B796BD0-93FD-4461-BD3F-BD16DCEA27F2}"/>
              </a:ext>
            </a:extLst>
          </p:cNvPr>
          <p:cNvSpPr/>
          <p:nvPr/>
        </p:nvSpPr>
        <p:spPr>
          <a:xfrm>
            <a:off x="5220133" y="2174915"/>
            <a:ext cx="411550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エビデンス設計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5CB899C6-DF13-4351-AE62-85609144E5F5}"/>
              </a:ext>
            </a:extLst>
          </p:cNvPr>
          <p:cNvSpPr/>
          <p:nvPr/>
        </p:nvSpPr>
        <p:spPr>
          <a:xfrm>
            <a:off x="5625439" y="2174915"/>
            <a:ext cx="363299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テスト運用</a:t>
            </a: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85CFCB78-DF42-42AC-8F39-1D23D4D928B0}"/>
              </a:ext>
            </a:extLst>
          </p:cNvPr>
          <p:cNvSpPr/>
          <p:nvPr/>
        </p:nvSpPr>
        <p:spPr>
          <a:xfrm>
            <a:off x="6028744" y="2174915"/>
            <a:ext cx="386026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A2A877CC-4361-4E85-9F79-BB17B3A7EB4D}"/>
              </a:ext>
            </a:extLst>
          </p:cNvPr>
          <p:cNvSpPr/>
          <p:nvPr/>
        </p:nvSpPr>
        <p:spPr>
          <a:xfrm>
            <a:off x="10002921" y="914860"/>
            <a:ext cx="967339" cy="405604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暫定施策</a:t>
            </a: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B450214C-887E-40B7-AF0D-9784652AE76D}"/>
              </a:ext>
            </a:extLst>
          </p:cNvPr>
          <p:cNvSpPr/>
          <p:nvPr/>
        </p:nvSpPr>
        <p:spPr>
          <a:xfrm>
            <a:off x="11000448" y="914860"/>
            <a:ext cx="967339" cy="405604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根本施策</a:t>
            </a:r>
          </a:p>
        </p:txBody>
      </p:sp>
      <p:sp>
        <p:nvSpPr>
          <p:cNvPr id="31" name="矢印: 五方向 30">
            <a:extLst>
              <a:ext uri="{FF2B5EF4-FFF2-40B4-BE49-F238E27FC236}">
                <a16:creationId xmlns:a16="http://schemas.microsoft.com/office/drawing/2014/main" id="{C041FDF1-8821-41FA-A624-92498904A1AC}"/>
              </a:ext>
            </a:extLst>
          </p:cNvPr>
          <p:cNvSpPr/>
          <p:nvPr/>
        </p:nvSpPr>
        <p:spPr>
          <a:xfrm>
            <a:off x="2557286" y="3264807"/>
            <a:ext cx="467854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メール管理業務設計</a:t>
            </a:r>
          </a:p>
        </p:txBody>
      </p:sp>
      <p:sp>
        <p:nvSpPr>
          <p:cNvPr id="32" name="矢印: 五方向 31">
            <a:extLst>
              <a:ext uri="{FF2B5EF4-FFF2-40B4-BE49-F238E27FC236}">
                <a16:creationId xmlns:a16="http://schemas.microsoft.com/office/drawing/2014/main" id="{BBCDDDFF-CB45-410C-91CE-BD9157E691EE}"/>
              </a:ext>
            </a:extLst>
          </p:cNvPr>
          <p:cNvSpPr/>
          <p:nvPr/>
        </p:nvSpPr>
        <p:spPr>
          <a:xfrm>
            <a:off x="2936702" y="3264807"/>
            <a:ext cx="392409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申請フロー設計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矢印: 五方向 32">
            <a:extLst>
              <a:ext uri="{FF2B5EF4-FFF2-40B4-BE49-F238E27FC236}">
                <a16:creationId xmlns:a16="http://schemas.microsoft.com/office/drawing/2014/main" id="{F45C93C1-9E83-4090-AA2D-568EEE349D21}"/>
              </a:ext>
            </a:extLst>
          </p:cNvPr>
          <p:cNvSpPr/>
          <p:nvPr/>
        </p:nvSpPr>
        <p:spPr>
          <a:xfrm>
            <a:off x="3329111" y="3264807"/>
            <a:ext cx="768986" cy="98102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問合せの管理業務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矢印: 五方向 33">
            <a:extLst>
              <a:ext uri="{FF2B5EF4-FFF2-40B4-BE49-F238E27FC236}">
                <a16:creationId xmlns:a16="http://schemas.microsoft.com/office/drawing/2014/main" id="{3EE51937-F5C1-4D84-B7B3-39D2DB15F692}"/>
              </a:ext>
            </a:extLst>
          </p:cNvPr>
          <p:cNvSpPr/>
          <p:nvPr/>
        </p:nvSpPr>
        <p:spPr>
          <a:xfrm>
            <a:off x="4116533" y="3264807"/>
            <a:ext cx="638840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申請フロー設計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矢印: 五方向 34">
            <a:extLst>
              <a:ext uri="{FF2B5EF4-FFF2-40B4-BE49-F238E27FC236}">
                <a16:creationId xmlns:a16="http://schemas.microsoft.com/office/drawing/2014/main" id="{176B8942-2E32-4009-A8C6-50692E5FA25E}"/>
              </a:ext>
            </a:extLst>
          </p:cNvPr>
          <p:cNvSpPr/>
          <p:nvPr/>
        </p:nvSpPr>
        <p:spPr>
          <a:xfrm>
            <a:off x="4737005" y="3264807"/>
            <a:ext cx="918441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問合せの管理業務設計</a:t>
            </a:r>
            <a:endParaRPr kumimoji="1" lang="ja-JP" altLang="en-US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1F8A2B38-4455-453A-B809-A896CCAFC3A0}"/>
              </a:ext>
            </a:extLst>
          </p:cNvPr>
          <p:cNvSpPr/>
          <p:nvPr/>
        </p:nvSpPr>
        <p:spPr>
          <a:xfrm>
            <a:off x="5631683" y="3257709"/>
            <a:ext cx="753435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DCD68D-FF98-41F2-901E-232FF5AA0822}"/>
              </a:ext>
            </a:extLst>
          </p:cNvPr>
          <p:cNvSpPr/>
          <p:nvPr/>
        </p:nvSpPr>
        <p:spPr>
          <a:xfrm>
            <a:off x="982736" y="5814980"/>
            <a:ext cx="1142592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対策スケジュールは、暫定的なスケジュールとして記載した。要件定義中のため変更する場合がある</a:t>
            </a:r>
            <a:endParaRPr lang="ja-JP" altLang="en-US" sz="1200" dirty="0"/>
          </a:p>
        </p:txBody>
      </p:sp>
      <p:sp>
        <p:nvSpPr>
          <p:cNvPr id="54" name="矢印: 五方向 53">
            <a:extLst>
              <a:ext uri="{FF2B5EF4-FFF2-40B4-BE49-F238E27FC236}">
                <a16:creationId xmlns:a16="http://schemas.microsoft.com/office/drawing/2014/main" id="{5D983F38-7C02-4E22-B8BB-1E444FF8232C}"/>
              </a:ext>
            </a:extLst>
          </p:cNvPr>
          <p:cNvSpPr/>
          <p:nvPr/>
        </p:nvSpPr>
        <p:spPr>
          <a:xfrm>
            <a:off x="6399384" y="2186616"/>
            <a:ext cx="78670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調査</a:t>
            </a: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447CA058-C8E1-4FAB-ACDA-D67A0736A153}"/>
              </a:ext>
            </a:extLst>
          </p:cNvPr>
          <p:cNvSpPr/>
          <p:nvPr/>
        </p:nvSpPr>
        <p:spPr>
          <a:xfrm>
            <a:off x="4088439" y="2174915"/>
            <a:ext cx="392917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結果検証</a:t>
            </a:r>
            <a:endParaRPr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59" name="矢印: 五方向 58">
            <a:extLst>
              <a:ext uri="{FF2B5EF4-FFF2-40B4-BE49-F238E27FC236}">
                <a16:creationId xmlns:a16="http://schemas.microsoft.com/office/drawing/2014/main" id="{FC99A25B-10A1-4989-AE9B-7D41392A7744}"/>
              </a:ext>
            </a:extLst>
          </p:cNvPr>
          <p:cNvSpPr/>
          <p:nvPr/>
        </p:nvSpPr>
        <p:spPr>
          <a:xfrm>
            <a:off x="3329111" y="3280980"/>
            <a:ext cx="3100790" cy="981021"/>
          </a:xfrm>
          <a:prstGeom prst="homePlate">
            <a:avLst/>
          </a:prstGeom>
          <a:noFill/>
          <a:ln>
            <a:solidFill>
              <a:srgbClr val="FFCC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矢印: 五方向 60">
            <a:extLst>
              <a:ext uri="{FF2B5EF4-FFF2-40B4-BE49-F238E27FC236}">
                <a16:creationId xmlns:a16="http://schemas.microsoft.com/office/drawing/2014/main" id="{5662729B-5306-42A9-A8D1-31C946EA2BC4}"/>
              </a:ext>
            </a:extLst>
          </p:cNvPr>
          <p:cNvSpPr/>
          <p:nvPr/>
        </p:nvSpPr>
        <p:spPr>
          <a:xfrm>
            <a:off x="6337594" y="3564861"/>
            <a:ext cx="1336493" cy="380970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>
            <a:solidFill>
              <a:srgbClr val="FFCC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キントーン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STEP2</a:t>
            </a:r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以降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D48AF494-F0EF-4F05-92C1-BD2464132C83}"/>
              </a:ext>
            </a:extLst>
          </p:cNvPr>
          <p:cNvSpPr/>
          <p:nvPr/>
        </p:nvSpPr>
        <p:spPr>
          <a:xfrm>
            <a:off x="4370983" y="1999770"/>
            <a:ext cx="784860" cy="299331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>
            <a:solidFill>
              <a:srgbClr val="FFCC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</a:t>
            </a:r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以外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矢印: 五方向 62">
            <a:extLst>
              <a:ext uri="{FF2B5EF4-FFF2-40B4-BE49-F238E27FC236}">
                <a16:creationId xmlns:a16="http://schemas.microsoft.com/office/drawing/2014/main" id="{75B77201-8E5A-4B92-ABB4-7B8CEF1C8EA7}"/>
              </a:ext>
            </a:extLst>
          </p:cNvPr>
          <p:cNvSpPr/>
          <p:nvPr/>
        </p:nvSpPr>
        <p:spPr>
          <a:xfrm>
            <a:off x="2900323" y="1999770"/>
            <a:ext cx="784860" cy="299331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>
            <a:solidFill>
              <a:srgbClr val="FFCC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6D0F6A92-F8A2-442C-8B5C-9048A2A6EB1D}"/>
              </a:ext>
            </a:extLst>
          </p:cNvPr>
          <p:cNvSpPr/>
          <p:nvPr/>
        </p:nvSpPr>
        <p:spPr>
          <a:xfrm>
            <a:off x="7191864" y="2186616"/>
            <a:ext cx="78670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要件定義</a:t>
            </a:r>
          </a:p>
        </p:txBody>
      </p:sp>
      <p:sp>
        <p:nvSpPr>
          <p:cNvPr id="65" name="矢印: 五方向 64">
            <a:extLst>
              <a:ext uri="{FF2B5EF4-FFF2-40B4-BE49-F238E27FC236}">
                <a16:creationId xmlns:a16="http://schemas.microsoft.com/office/drawing/2014/main" id="{EF69E825-DA86-4D03-893E-6CCB9F6037B3}"/>
              </a:ext>
            </a:extLst>
          </p:cNvPr>
          <p:cNvSpPr/>
          <p:nvPr/>
        </p:nvSpPr>
        <p:spPr>
          <a:xfrm>
            <a:off x="7961484" y="2186616"/>
            <a:ext cx="786703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ja-JP" altLang="en-US" sz="1000" b="1" dirty="0">
                <a:solidFill>
                  <a:schemeClr val="tx1"/>
                </a:solidFill>
              </a:rPr>
              <a:t>業務構築</a:t>
            </a:r>
          </a:p>
        </p:txBody>
      </p:sp>
      <p:sp>
        <p:nvSpPr>
          <p:cNvPr id="66" name="矢印: 五方向 65">
            <a:extLst>
              <a:ext uri="{FF2B5EF4-FFF2-40B4-BE49-F238E27FC236}">
                <a16:creationId xmlns:a16="http://schemas.microsoft.com/office/drawing/2014/main" id="{9A876B45-7C7E-451B-91BB-5893AB868A1C}"/>
              </a:ext>
            </a:extLst>
          </p:cNvPr>
          <p:cNvSpPr/>
          <p:nvPr/>
        </p:nvSpPr>
        <p:spPr>
          <a:xfrm>
            <a:off x="6504583" y="1999770"/>
            <a:ext cx="784860" cy="299331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>
            <a:solidFill>
              <a:srgbClr val="FFCC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ラネット以外</a:t>
            </a:r>
            <a:endParaRPr lang="en-US" altLang="ja-JP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矢印: 五方向 78">
            <a:extLst>
              <a:ext uri="{FF2B5EF4-FFF2-40B4-BE49-F238E27FC236}">
                <a16:creationId xmlns:a16="http://schemas.microsoft.com/office/drawing/2014/main" id="{9E54767A-9CDA-4738-B74C-D72145F15DED}"/>
              </a:ext>
            </a:extLst>
          </p:cNvPr>
          <p:cNvSpPr/>
          <p:nvPr/>
        </p:nvSpPr>
        <p:spPr>
          <a:xfrm>
            <a:off x="3229382" y="4420462"/>
            <a:ext cx="2381614" cy="100800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現状</a:t>
            </a:r>
            <a:r>
              <a:rPr lang="zh-TW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調査</a:t>
            </a:r>
            <a:endParaRPr lang="en-US" altLang="zh-TW" sz="1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矢印: 五方向 79">
            <a:extLst>
              <a:ext uri="{FF2B5EF4-FFF2-40B4-BE49-F238E27FC236}">
                <a16:creationId xmlns:a16="http://schemas.microsoft.com/office/drawing/2014/main" id="{EBEF241A-F21D-4FC1-A65C-C10427C65206}"/>
              </a:ext>
            </a:extLst>
          </p:cNvPr>
          <p:cNvSpPr/>
          <p:nvPr/>
        </p:nvSpPr>
        <p:spPr>
          <a:xfrm>
            <a:off x="8749084" y="2174915"/>
            <a:ext cx="386026" cy="98102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本運用</a:t>
            </a:r>
          </a:p>
        </p:txBody>
      </p:sp>
      <p:sp>
        <p:nvSpPr>
          <p:cNvPr id="58" name="矢印: 五方向 57">
            <a:extLst>
              <a:ext uri="{FF2B5EF4-FFF2-40B4-BE49-F238E27FC236}">
                <a16:creationId xmlns:a16="http://schemas.microsoft.com/office/drawing/2014/main" id="{B598329B-5456-4BCB-B685-DF1FCB065C43}"/>
              </a:ext>
            </a:extLst>
          </p:cNvPr>
          <p:cNvSpPr/>
          <p:nvPr/>
        </p:nvSpPr>
        <p:spPr>
          <a:xfrm>
            <a:off x="9270793" y="2816114"/>
            <a:ext cx="2456387" cy="293965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8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</a:t>
            </a:r>
            <a:r>
              <a:rPr lang="ja-JP" altLang="en-US" sz="8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の結果検証次第でスケジュールの変更の可能性が高い</a:t>
            </a:r>
            <a:endParaRPr lang="ja-JP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4804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テーマ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3">
      <a:majorFont>
        <a:latin typeface="Meiryo UI"/>
        <a:ea typeface="メイリオ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ysClr val="window" lastClr="FFFFFF">
            <a:lumMod val="95000"/>
          </a:sysClr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Char char="•"/>
          <a:tabLst/>
          <a:defRPr kumimoji="0" sz="1200" b="0" i="0" u="none" strike="noStrike" kern="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Meiryo UI"/>
            <a:ea typeface="Meiryo UI"/>
            <a:cs typeface="+mn-cs"/>
          </a:defRPr>
        </a:defPPr>
      </a:lstStyle>
    </a:spDef>
    <a:lnDef>
      <a:spPr bwMode="auto">
        <a:solidFill>
          <a:srgbClr val="FFFFFF"/>
        </a:solidFill>
        <a:ln w="9525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 algn="ctr">
          <a:defRPr sz="1600" dirty="0" smtClean="0"/>
        </a:defPPr>
      </a:lstStyle>
    </a:txDef>
  </a:objectDefaults>
  <a:extraClrSchemeLst>
    <a:extraClrScheme>
      <a:clrScheme name="A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6699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9999"/>
        </a:hlink>
        <a:folHlink>
          <a:srgbClr val="3300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8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9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0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999999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1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80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33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AD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ビックカメラ.potx" id="{863C7610-D6E9-4C3D-9B53-3923A252BC56}" vid="{A9D3D4FB-C2E3-4803-B881-A5F8ABB1D9C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Psas改修_0727</Template>
  <TotalTime>41099</TotalTime>
  <Words>1365</Words>
  <Application>Microsoft Office PowerPoint</Application>
  <PresentationFormat>ワイド画面</PresentationFormat>
  <Paragraphs>250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8" baseType="lpstr">
      <vt:lpstr>HGP創英角ｺﾞｼｯｸUB</vt:lpstr>
      <vt:lpstr>Meiryo UI</vt:lpstr>
      <vt:lpstr>ＭＳ Ｐゴシック</vt:lpstr>
      <vt:lpstr>Roboto</vt:lpstr>
      <vt:lpstr>メイリオ</vt:lpstr>
      <vt:lpstr>游ゴシック</vt:lpstr>
      <vt:lpstr>Arial</vt:lpstr>
      <vt:lpstr>Calibri</vt:lpstr>
      <vt:lpstr>Wingdings</vt:lpstr>
      <vt:lpstr>テーマ3</vt:lpstr>
      <vt:lpstr>商品統合管理室　42期リスク対策</vt:lpstr>
      <vt:lpstr>商品統合管理室　42期リスク対策</vt:lpstr>
      <vt:lpstr>商品統合管理室　42期リスク対策</vt:lpstr>
      <vt:lpstr>商品統合管理室　42期リスク対策</vt:lpstr>
      <vt:lpstr>商品統合管理室　42期リスク対策</vt:lpstr>
      <vt:lpstr>商品統合管理室　42期リスク対策</vt:lpstr>
      <vt:lpstr>商品統合管理室　42期リスク対策</vt:lpstr>
      <vt:lpstr>商品統合管理室　42期リスク対策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hosoda</dc:creator>
  <cp:lastModifiedBy>11201062　吉橋　章</cp:lastModifiedBy>
  <cp:revision>2286</cp:revision>
  <cp:lastPrinted>2017-09-11T09:20:52Z</cp:lastPrinted>
  <dcterms:created xsi:type="dcterms:W3CDTF">2017-07-29T09:39:54Z</dcterms:created>
  <dcterms:modified xsi:type="dcterms:W3CDTF">2022-07-19T03:45:03Z</dcterms:modified>
</cp:coreProperties>
</file>