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10"/>
  </p:notesMasterIdLst>
  <p:handoutMasterIdLst>
    <p:handoutMasterId r:id="rId11"/>
  </p:handoutMasterIdLst>
  <p:sldIdLst>
    <p:sldId id="744" r:id="rId2"/>
    <p:sldId id="745" r:id="rId3"/>
    <p:sldId id="687" r:id="rId4"/>
    <p:sldId id="704" r:id="rId5"/>
    <p:sldId id="708" r:id="rId6"/>
    <p:sldId id="746" r:id="rId7"/>
    <p:sldId id="742" r:id="rId8"/>
    <p:sldId id="743" r:id="rId9"/>
  </p:sldIdLst>
  <p:sldSz cx="12192000" cy="6858000"/>
  <p:notesSz cx="6735763" cy="98726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3835C004-5649-4A65-A088-23E31C22AD32}">
          <p14:sldIdLst>
            <p14:sldId id="744"/>
            <p14:sldId id="745"/>
            <p14:sldId id="687"/>
            <p14:sldId id="704"/>
            <p14:sldId id="708"/>
            <p14:sldId id="746"/>
            <p14:sldId id="742"/>
            <p14:sldId id="7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1109068　松尾　健司" initials="1" lastIdx="3" clrIdx="0">
    <p:extLst>
      <p:ext uri="{19B8F6BF-5375-455C-9EA6-DF929625EA0E}">
        <p15:presenceInfo xmlns:p15="http://schemas.microsoft.com/office/powerpoint/2012/main" userId="S-1-5-21-4172189229-2787287235-243375271-6735" providerId="AD"/>
      </p:ext>
    </p:extLst>
  </p:cmAuthor>
  <p:cmAuthor id="2" name="智晴 東野" initials="智晴" lastIdx="2" clrIdx="1">
    <p:extLst>
      <p:ext uri="{19B8F6BF-5375-455C-9EA6-DF929625EA0E}">
        <p15:presenceInfo xmlns:p15="http://schemas.microsoft.com/office/powerpoint/2012/main" userId="2b4cbf9fc6f884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FFCC99"/>
    <a:srgbClr val="FF0066"/>
    <a:srgbClr val="FFCC00"/>
    <a:srgbClr val="FFFFCC"/>
    <a:srgbClr val="8E0000"/>
    <a:srgbClr val="DEE22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9" autoAdjust="0"/>
    <p:restoredTop sz="91197" autoAdjust="0"/>
  </p:normalViewPr>
  <p:slideViewPr>
    <p:cSldViewPr snapToGrid="0">
      <p:cViewPr varScale="1">
        <p:scale>
          <a:sx n="83" d="100"/>
          <a:sy n="83" d="100"/>
        </p:scale>
        <p:origin x="883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3512" y="208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4030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4763" y="1"/>
            <a:ext cx="2919412" cy="494030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8728F2C9-6A85-4A53-9C26-77215B7BA093}" type="datetimeFigureOut">
              <a:rPr kumimoji="1" lang="ja-JP" altLang="en-US" smtClean="0"/>
              <a:pPr/>
              <a:t>2022/7/19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377046"/>
            <a:ext cx="2919413" cy="494029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</a:t>
            </a:r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4763" y="9377046"/>
            <a:ext cx="2919412" cy="494029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17C02088-5C5A-4A84-B9FF-52F59138A6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23395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34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534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26A4112D-3992-4EA1-8AD8-804232A30FE1}" type="datetimeFigureOut">
              <a:rPr kumimoji="1" lang="ja-JP" altLang="en-US" smtClean="0"/>
              <a:pPr/>
              <a:t>2022/7/19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67" tIns="45734" rIns="91467" bIns="4573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51219"/>
            <a:ext cx="5388610" cy="3887361"/>
          </a:xfrm>
          <a:prstGeom prst="rect">
            <a:avLst/>
          </a:prstGeom>
        </p:spPr>
        <p:txBody>
          <a:bodyPr vert="horz" lIns="91467" tIns="45734" rIns="91467" bIns="4573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918831" cy="49534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</a:t>
            </a:r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7317"/>
            <a:ext cx="2918831" cy="49534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A22D667A-AAE3-42D2-A3D4-CC96BBA9ADD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0837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5" name="Rectangle 9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2373745" y="3885363"/>
            <a:ext cx="7935179" cy="839787"/>
          </a:xfrm>
          <a:prstGeom prst="rect">
            <a:avLst/>
          </a:prstGeom>
        </p:spPr>
        <p:txBody>
          <a:bodyPr lIns="0" rIns="87277" anchor="ctr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  <a:endParaRPr lang="en-US" altLang="ja-JP" noProof="0"/>
          </a:p>
        </p:txBody>
      </p:sp>
      <p:sp>
        <p:nvSpPr>
          <p:cNvPr id="10336" name="Rectangle 9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55574" y="5589240"/>
            <a:ext cx="7917187" cy="704850"/>
          </a:xfrm>
          <a:prstGeom prst="rect">
            <a:avLst/>
          </a:prstGeom>
        </p:spPr>
        <p:txBody>
          <a:bodyPr lIns="0" tIns="43638" rIns="87277" bIns="43638" anchor="ctr"/>
          <a:lstStyle>
            <a:lvl1pPr algn="ctr">
              <a:defRPr sz="13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 lvl="0"/>
            <a:r>
              <a:rPr lang="ja-JP" altLang="en-US" noProof="0"/>
              <a:t>マスター サブタイトルの書式設定</a:t>
            </a:r>
            <a:endParaRPr lang="en-US" altLang="ja-JP" noProof="0"/>
          </a:p>
        </p:txBody>
      </p:sp>
      <p:sp>
        <p:nvSpPr>
          <p:cNvPr id="2" name="正方形/長方形 1"/>
          <p:cNvSpPr/>
          <p:nvPr/>
        </p:nvSpPr>
        <p:spPr>
          <a:xfrm>
            <a:off x="513841" y="3453317"/>
            <a:ext cx="11076923" cy="72000"/>
          </a:xfrm>
          <a:prstGeom prst="rect">
            <a:avLst/>
          </a:prstGeom>
          <a:solidFill>
            <a:srgbClr val="D60000"/>
          </a:solidFill>
          <a:ln w="15875" algn="ctr">
            <a:noFill/>
            <a:miter lim="800000"/>
            <a:headEnd/>
            <a:tailEnd/>
          </a:ln>
        </p:spPr>
        <p:txBody>
          <a:bodyPr wrap="square" lIns="36000" tIns="36000" rIns="36000" bIns="36000" rtlCol="0" anchor="ctr"/>
          <a:lstStyle/>
          <a:p>
            <a:pPr algn="ctr"/>
            <a:endParaRPr kumimoji="1" lang="ja-JP" altLang="en-US" sz="18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78294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  <a:prstGeom prst="rect">
            <a:avLst/>
          </a:prstGeom>
        </p:spPr>
        <p:txBody>
          <a:bodyPr anchor="ctr"/>
          <a:lstStyle>
            <a:lvl1pPr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AutoShape 128">
            <a:extLst>
              <a:ext uri="{FF2B5EF4-FFF2-40B4-BE49-F238E27FC236}">
                <a16:creationId xmlns:a16="http://schemas.microsoft.com/office/drawing/2014/main" id="{0DBE7314-6AED-4138-9956-DB8139973634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25402" y="548680"/>
            <a:ext cx="12121661" cy="46038"/>
          </a:xfrm>
          <a:prstGeom prst="rect">
            <a:avLst/>
          </a:prstGeom>
          <a:solidFill>
            <a:srgbClr val="CC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rot="10800000" wrap="none" lIns="87277" tIns="43638" rIns="87277" bIns="43638" anchor="ctr"/>
          <a:lstStyle/>
          <a:p>
            <a:pPr eaLnBrk="0" hangingPunct="0">
              <a:spcBef>
                <a:spcPct val="10000"/>
              </a:spcBef>
              <a:buClr>
                <a:srgbClr val="000000"/>
              </a:buClr>
              <a:buSzPct val="100000"/>
              <a:buFont typeface="Wingdings" pitchFamily="2" charset="2"/>
              <a:buNone/>
              <a:defRPr/>
            </a:pPr>
            <a:endParaRPr kumimoji="0" lang="ja-JP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880051"/>
      </p:ext>
    </p:extLst>
  </p:cSld>
  <p:clrMapOvr>
    <a:masterClrMapping/>
  </p:clrMapOvr>
  <p:transition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51236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/>
          <p:cNvSpPr txBox="1"/>
          <p:nvPr/>
        </p:nvSpPr>
        <p:spPr>
          <a:xfrm>
            <a:off x="11733968" y="6690271"/>
            <a:ext cx="391454" cy="123111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31E2E-0283-47E6-88AC-614E15CB9FE9}" type="slidenum">
              <a:rPr kumimoji="1" lang="ja-JP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1733968" y="6690271"/>
            <a:ext cx="391454" cy="123111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31E2E-0283-47E6-88AC-614E15CB9FE9}" type="slidenum">
              <a:rPr kumimoji="1" lang="ja-JP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980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5pPr>
      <a:lvl6pPr marL="436383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6pPr>
      <a:lvl7pPr marL="872765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7pPr>
      <a:lvl8pPr marL="1309148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8pPr>
      <a:lvl9pPr marL="1745530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•"/>
        <a:defRPr kumimoji="1" sz="17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1588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kumimoji="1" sz="1300">
          <a:solidFill>
            <a:schemeClr val="tx1"/>
          </a:solidFill>
          <a:latin typeface="+mn-lt"/>
        </a:defRPr>
      </a:lvl2pPr>
      <a:lvl3pPr marL="946150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</a:defRPr>
      </a:lvl3pPr>
      <a:lvl4pPr marL="1333500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22438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</a:defRPr>
      </a:lvl5pPr>
      <a:lvl6pPr marL="2159186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6pPr>
      <a:lvl7pPr marL="2595568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7pPr>
      <a:lvl8pPr marL="3031951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8pPr>
      <a:lvl9pPr marL="3468334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9pPr>
    </p:bodyStyle>
    <p:otherStyle>
      <a:defPPr>
        <a:defRPr lang="ja-JP"/>
      </a:defPPr>
      <a:lvl1pPr marL="0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383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765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9148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5530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913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8296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4678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91061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9F6796-EEB4-4B34-9EB6-1289F4FA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A11155-82F3-4279-9712-A68474DA4AC5}"/>
              </a:ext>
            </a:extLst>
          </p:cNvPr>
          <p:cNvSpPr txBox="1"/>
          <p:nvPr/>
        </p:nvSpPr>
        <p:spPr>
          <a:xfrm>
            <a:off x="1341333" y="2736502"/>
            <a:ext cx="80730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ja-JP" altLang="en-US" sz="2800" dirty="0"/>
              <a:t>リベート管理（商品統合管理室）に関する課題</a:t>
            </a:r>
            <a:endParaRPr lang="en-US" altLang="ja-JP" sz="2800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800" dirty="0"/>
              <a:t>リベート管理（商品統合管理室）に関する対策</a:t>
            </a:r>
            <a:endParaRPr kumimoji="1" lang="en-US" altLang="ja-JP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24CD48-18BA-4442-8DBA-2031C73A8372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</p:spTree>
    <p:extLst>
      <p:ext uri="{BB962C8B-B14F-4D97-AF65-F5344CB8AC3E}">
        <p14:creationId xmlns:p14="http://schemas.microsoft.com/office/powerpoint/2010/main" val="3829864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C22124-0E5E-42F9-AC6B-102B813CD891}"/>
              </a:ext>
            </a:extLst>
          </p:cNvPr>
          <p:cNvSpPr/>
          <p:nvPr/>
        </p:nvSpPr>
        <p:spPr>
          <a:xfrm>
            <a:off x="0" y="2736502"/>
            <a:ext cx="12192000" cy="463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F67514-5B6B-4232-9470-48216C6D63E2}"/>
              </a:ext>
            </a:extLst>
          </p:cNvPr>
          <p:cNvSpPr txBox="1"/>
          <p:nvPr/>
        </p:nvSpPr>
        <p:spPr>
          <a:xfrm>
            <a:off x="1341333" y="2736502"/>
            <a:ext cx="8073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ja-JP" altLang="en-US" sz="2800" dirty="0"/>
              <a:t>リベート管理（商品統合管理室）に関する課題</a:t>
            </a:r>
            <a:endParaRPr lang="en-US" altLang="ja-JP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8A820F-C526-4599-8BBD-90FD079B2D2A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</p:spTree>
    <p:extLst>
      <p:ext uri="{BB962C8B-B14F-4D97-AF65-F5344CB8AC3E}">
        <p14:creationId xmlns:p14="http://schemas.microsoft.com/office/powerpoint/2010/main" val="16202412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リベート管理（商品統合管理室）に関する課題（</a:t>
            </a:r>
            <a:r>
              <a:rPr lang="en-US" altLang="ja-JP" b="1" dirty="0"/>
              <a:t>1/</a:t>
            </a:r>
            <a:r>
              <a:rPr lang="ja-JP" altLang="en-US" b="1" dirty="0"/>
              <a:t>６）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DAA4F48-8FAB-44A9-A99F-E79C9ADBC09F}"/>
              </a:ext>
            </a:extLst>
          </p:cNvPr>
          <p:cNvGrpSpPr/>
          <p:nvPr/>
        </p:nvGrpSpPr>
        <p:grpSpPr>
          <a:xfrm>
            <a:off x="622668" y="1120400"/>
            <a:ext cx="10946664" cy="1292873"/>
            <a:chOff x="509373" y="1360758"/>
            <a:chExt cx="10946664" cy="1292873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3C34C01-60F2-4B4A-9873-CC1746BBD44F}"/>
                </a:ext>
              </a:extLst>
            </p:cNvPr>
            <p:cNvSpPr/>
            <p:nvPr/>
          </p:nvSpPr>
          <p:spPr>
            <a:xfrm>
              <a:off x="541863" y="1742061"/>
              <a:ext cx="3215945" cy="9115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algn="just"/>
              <a:r>
                <a:rPr lang="en-US" altLang="ja-JP" sz="1400" b="1" dirty="0"/>
                <a:t>1.</a:t>
              </a:r>
              <a:r>
                <a:rPr lang="ja-JP" altLang="en-US" sz="1400" b="1" dirty="0"/>
                <a:t>紙とエクセルによる複雑な業務による人為的な事故の発生</a:t>
              </a:r>
              <a:endParaRPr lang="en-US" altLang="ja-JP" sz="1400" b="1" dirty="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DFE34F5A-0574-4184-9756-ADE07DE9F949}"/>
                </a:ext>
              </a:extLst>
            </p:cNvPr>
            <p:cNvSpPr/>
            <p:nvPr/>
          </p:nvSpPr>
          <p:spPr>
            <a:xfrm>
              <a:off x="4074203" y="1742061"/>
              <a:ext cx="6832696" cy="9115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r>
                <a:rPr lang="ja-JP" altLang="en-US" sz="1400" dirty="0"/>
                <a:t>人為的ミスによる誤計上や計上漏れがおきる可能性がある</a:t>
              </a:r>
              <a:endParaRPr lang="en-US" altLang="ja-JP" sz="1400" dirty="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F30C24F-38CB-4844-ACF6-24063C21D1A1}"/>
                </a:ext>
              </a:extLst>
            </p:cNvPr>
            <p:cNvSpPr/>
            <p:nvPr/>
          </p:nvSpPr>
          <p:spPr>
            <a:xfrm>
              <a:off x="509373" y="1360758"/>
              <a:ext cx="10946664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ja-JP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</a:t>
              </a:r>
              <a:r>
                <a:rPr lang="ja-JP" altLang="en-US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１</a:t>
              </a:r>
              <a:r>
                <a:rPr lang="en-US" altLang="ja-JP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】</a:t>
              </a:r>
              <a:r>
                <a:rPr lang="ja-JP" altLang="en-US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人為的事故防止策</a:t>
              </a:r>
              <a:endParaRPr lang="en-US" altLang="ja-JP" b="1" dirty="0"/>
            </a:p>
          </p:txBody>
        </p:sp>
      </p:grp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6F3746EA-299D-4235-8777-BD73995B5369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3871103" y="1957488"/>
            <a:ext cx="3163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02DF25-DD2A-45FA-B149-E5AEBFD84132}"/>
              </a:ext>
            </a:extLst>
          </p:cNvPr>
          <p:cNvSpPr txBox="1"/>
          <p:nvPr/>
        </p:nvSpPr>
        <p:spPr>
          <a:xfrm>
            <a:off x="509373" y="679936"/>
            <a:ext cx="11726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事故報告・事故調査などによるリスク管理により、リベート管理は６つの課題が明らかとなっている</a:t>
            </a: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D83B664C-A33D-4042-A65F-255B0AB8B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220344"/>
              </p:ext>
            </p:extLst>
          </p:nvPr>
        </p:nvGraphicFramePr>
        <p:xfrm>
          <a:off x="773185" y="2491976"/>
          <a:ext cx="10107494" cy="4264014"/>
        </p:xfrm>
        <a:graphic>
          <a:graphicData uri="http://schemas.openxmlformats.org/drawingml/2006/table">
            <a:tbl>
              <a:tblPr firstRow="1" bandRow="1"/>
              <a:tblGrid>
                <a:gridCol w="1828126">
                  <a:extLst>
                    <a:ext uri="{9D8B030D-6E8A-4147-A177-3AD203B41FA5}">
                      <a16:colId xmlns:a16="http://schemas.microsoft.com/office/drawing/2014/main" val="1405857763"/>
                    </a:ext>
                  </a:extLst>
                </a:gridCol>
                <a:gridCol w="1312996">
                  <a:extLst>
                    <a:ext uri="{9D8B030D-6E8A-4147-A177-3AD203B41FA5}">
                      <a16:colId xmlns:a16="http://schemas.microsoft.com/office/drawing/2014/main" val="1304969852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3301113290"/>
                    </a:ext>
                  </a:extLst>
                </a:gridCol>
                <a:gridCol w="1886695">
                  <a:extLst>
                    <a:ext uri="{9D8B030D-6E8A-4147-A177-3AD203B41FA5}">
                      <a16:colId xmlns:a16="http://schemas.microsoft.com/office/drawing/2014/main" val="1098998194"/>
                    </a:ext>
                  </a:extLst>
                </a:gridCol>
                <a:gridCol w="1886696">
                  <a:extLst>
                    <a:ext uri="{9D8B030D-6E8A-4147-A177-3AD203B41FA5}">
                      <a16:colId xmlns:a16="http://schemas.microsoft.com/office/drawing/2014/main" val="3958390743"/>
                    </a:ext>
                  </a:extLst>
                </a:gridCol>
                <a:gridCol w="1886695">
                  <a:extLst>
                    <a:ext uri="{9D8B030D-6E8A-4147-A177-3AD203B41FA5}">
                      <a16:colId xmlns:a16="http://schemas.microsoft.com/office/drawing/2014/main" val="19871183"/>
                    </a:ext>
                  </a:extLst>
                </a:gridCol>
              </a:tblGrid>
              <a:tr h="409551"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400" b="1" dirty="0">
                          <a:solidFill>
                            <a:schemeClr val="tx2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バイヤー・取引先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b="1" kern="1200">
                          <a:solidFill>
                            <a:schemeClr val="lt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lang="ja-JP" altLang="en-US" dirty="0">
                          <a:solidFill>
                            <a:schemeClr val="bg1"/>
                          </a:solidFill>
                        </a:rPr>
                        <a:t>商品統合管理室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348793"/>
                  </a:ext>
                </a:extLst>
              </a:tr>
              <a:tr h="360141"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909722"/>
                  </a:ext>
                </a:extLst>
              </a:tr>
              <a:tr h="713505"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endParaRPr kumimoji="1" lang="en-US" altLang="ja-JP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endParaRPr kumimoji="1" lang="en-US" altLang="ja-JP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684726"/>
                  </a:ext>
                </a:extLst>
              </a:tr>
              <a:tr h="471108">
                <a:tc rowSpan="2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文書</a:t>
                      </a:r>
                      <a:r>
                        <a:rPr kumimoji="1" lang="en-US" altLang="ja-JP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情報</a:t>
                      </a:r>
                      <a:endParaRPr kumimoji="1" lang="en-US" altLang="ja-JP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/>
                      <a:endParaRPr kumimoji="1" lang="en-US" altLang="ja-JP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申請システム</a:t>
                      </a:r>
                      <a:r>
                        <a:rPr kumimoji="1" lang="en-US" altLang="ja-JP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台帳</a:t>
                      </a:r>
                      <a:endParaRPr kumimoji="1" lang="en-US" altLang="ja-JP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承認システム</a:t>
                      </a:r>
                      <a:endParaRPr kumimoji="1" lang="en-US" altLang="ja-JP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/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稟議書類</a:t>
                      </a:r>
                    </a:p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エクセル* と 紙 管理</a:t>
                      </a:r>
                      <a:endParaRPr kumimoji="1" lang="en-US" altLang="ja-JP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961759"/>
                  </a:ext>
                </a:extLst>
              </a:tr>
              <a:tr h="1638391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登録</a:t>
                      </a:r>
                      <a:endParaRPr kumimoji="1" lang="ja-JP" altLang="en-US" dirty="0"/>
                    </a:p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保管</a:t>
                      </a:r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連携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744954"/>
                  </a:ext>
                </a:extLst>
              </a:tr>
              <a:tr h="624266"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WEB</a:t>
                      </a:r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入力</a:t>
                      </a:r>
                      <a:endParaRPr kumimoji="1" lang="en-US" altLang="ja-JP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登録メニュー</a:t>
                      </a:r>
                      <a:endParaRPr kumimoji="1" lang="en-US" altLang="ja-JP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1pPr>
                      <a:lvl2pPr marL="43638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2pPr>
                      <a:lvl3pPr marL="872765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3pPr>
                      <a:lvl4pPr marL="130914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4pPr>
                      <a:lvl5pPr marL="1745530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5pPr>
                      <a:lvl6pPr marL="2181913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6pPr>
                      <a:lvl7pPr marL="2618296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7pPr>
                      <a:lvl8pPr marL="3054678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8pPr>
                      <a:lvl9pPr marL="3491061" algn="l" defTabSz="872765" rtl="0" eaLnBrk="1" latinLnBrk="0" hangingPunct="1">
                        <a:defRPr kumimoji="1" sz="1700" kern="1200">
                          <a:solidFill>
                            <a:schemeClr val="dk1"/>
                          </a:solidFill>
                          <a:latin typeface="メイリオ"/>
                          <a:ea typeface="メイリオ"/>
                        </a:defRPr>
                      </a:lvl9pPr>
                    </a:lstStyle>
                    <a:p>
                      <a:pPr algn="l"/>
                      <a:r>
                        <a:rPr kumimoji="1" lang="ja-JP" altLang="en-US" sz="1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承認メニュー</a:t>
                      </a:r>
                    </a:p>
                  </a:txBody>
                  <a:tcPr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240614"/>
                  </a:ext>
                </a:extLst>
              </a:tr>
            </a:tbl>
          </a:graphicData>
        </a:graphic>
      </p:graphicFrame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135C4FE-3B8A-4103-B836-B4A329E6D40C}"/>
              </a:ext>
            </a:extLst>
          </p:cNvPr>
          <p:cNvSpPr txBox="1"/>
          <p:nvPr/>
        </p:nvSpPr>
        <p:spPr>
          <a:xfrm>
            <a:off x="5253620" y="5673631"/>
            <a:ext cx="5600540" cy="976312"/>
          </a:xfrm>
          <a:prstGeom prst="rect">
            <a:avLst/>
          </a:prstGeom>
          <a:solidFill>
            <a:srgbClr val="ED7D31">
              <a:lumMod val="60000"/>
              <a:lumOff val="40000"/>
            </a:srgbClr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Meiryo UI" panose="020B0604030504040204" pitchFamily="50" charset="-128"/>
              </a:rPr>
              <a:t>手作業の種類</a:t>
            </a:r>
            <a:endParaRPr kumimoji="0" lang="en-US" altLang="ja-JP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Meiryo UI" panose="020B0604030504040204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Meiryo UI" panose="020B0604030504040204" pitchFamily="50" charset="-128"/>
              </a:rPr>
              <a:t>合計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Meiryo UI" panose="020B0604030504040204" pitchFamily="50" charset="-128"/>
              </a:rPr>
              <a:t>62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Meiryo UI" panose="020B0604030504040204" pitchFamily="50" charset="-128"/>
              </a:rPr>
              <a:t>種類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0857F027-F417-4D7D-83CE-EBE5EEF63F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rgbClr val="A5A5A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414" y="5966028"/>
            <a:ext cx="989146" cy="989146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1A63152-E602-4D8C-B56D-4BE50AE81D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A5A5A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244" y="4332119"/>
            <a:ext cx="612024" cy="612024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FD9108A5-4D76-41E9-96DC-2E213960DD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rgbClr val="E7E6E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04" y="4408674"/>
            <a:ext cx="483728" cy="483728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B5DA37C-08F6-48E6-89CA-6FC3461C7DC6}"/>
              </a:ext>
            </a:extLst>
          </p:cNvPr>
          <p:cNvSpPr txBox="1"/>
          <p:nvPr/>
        </p:nvSpPr>
        <p:spPr>
          <a:xfrm>
            <a:off x="7266951" y="3405725"/>
            <a:ext cx="1135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eiryo UI" panose="020B0604030504040204" pitchFamily="50" charset="-128"/>
              </a:rPr>
              <a:t>情報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eiryo UI" panose="020B0604030504040204" pitchFamily="50" charset="-128"/>
              </a:rPr>
              <a:t>/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eiryo UI" panose="020B0604030504040204" pitchFamily="50" charset="-128"/>
              </a:rPr>
              <a:t>文書の整理整頓</a:t>
            </a:r>
          </a:p>
        </p:txBody>
      </p:sp>
      <p:sp>
        <p:nvSpPr>
          <p:cNvPr id="36" name="右矢印 21">
            <a:extLst>
              <a:ext uri="{FF2B5EF4-FFF2-40B4-BE49-F238E27FC236}">
                <a16:creationId xmlns:a16="http://schemas.microsoft.com/office/drawing/2014/main" id="{4F384109-EF9A-45C5-9CE5-2A40CACBD627}"/>
              </a:ext>
            </a:extLst>
          </p:cNvPr>
          <p:cNvSpPr/>
          <p:nvPr/>
        </p:nvSpPr>
        <p:spPr>
          <a:xfrm>
            <a:off x="2661580" y="4997383"/>
            <a:ext cx="2428192" cy="499531"/>
          </a:xfrm>
          <a:prstGeom prst="rightArrow">
            <a:avLst/>
          </a:prstGeom>
          <a:solidFill>
            <a:srgbClr val="FF0000">
              <a:alpha val="10196"/>
            </a:srgbClr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エクセル*と紙</a:t>
            </a:r>
            <a:endParaRPr kumimoji="0" lang="en-US" altLang="ja-JP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手作業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A81A8FC-6B0D-417D-8E09-AA5DE786CDD1}"/>
              </a:ext>
            </a:extLst>
          </p:cNvPr>
          <p:cNvSpPr txBox="1"/>
          <p:nvPr/>
        </p:nvSpPr>
        <p:spPr>
          <a:xfrm>
            <a:off x="2813675" y="3405725"/>
            <a:ext cx="8835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prstClr val="black"/>
                </a:solidFill>
                <a:ea typeface="Meiryo UI" panose="020B0604030504040204" pitchFamily="50" charset="-128"/>
              </a:rPr>
              <a:t>合意内容の収集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DB19767-9B03-4906-A1E3-14B31EA434BC}"/>
              </a:ext>
            </a:extLst>
          </p:cNvPr>
          <p:cNvSpPr txBox="1"/>
          <p:nvPr/>
        </p:nvSpPr>
        <p:spPr>
          <a:xfrm>
            <a:off x="3994966" y="3324803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ja-JP" altLang="en-US" sz="800" dirty="0">
                <a:solidFill>
                  <a:prstClr val="black"/>
                </a:solidFill>
                <a:ea typeface="Meiryo UI" panose="020B0604030504040204" pitchFamily="50" charset="-128"/>
              </a:rPr>
              <a:t>合意内容と実施内容</a:t>
            </a:r>
            <a:endParaRPr lang="en-US" altLang="ja-JP" sz="800" dirty="0">
              <a:solidFill>
                <a:prstClr val="black"/>
              </a:solidFill>
              <a:ea typeface="Meiryo UI" panose="020B0604030504040204" pitchFamily="50" charset="-128"/>
            </a:endParaRPr>
          </a:p>
          <a:p>
            <a:pPr algn="ctr">
              <a:defRPr/>
            </a:pPr>
            <a:r>
              <a:rPr lang="ja-JP" altLang="en-US" sz="800" dirty="0">
                <a:solidFill>
                  <a:prstClr val="black"/>
                </a:solidFill>
                <a:ea typeface="Meiryo UI" panose="020B0604030504040204" pitchFamily="50" charset="-128"/>
              </a:rPr>
              <a:t>を照査及び照合する</a:t>
            </a:r>
          </a:p>
        </p:txBody>
      </p:sp>
      <p:sp>
        <p:nvSpPr>
          <p:cNvPr id="39" name="フローチャート: 磁気ディスク 38">
            <a:extLst>
              <a:ext uri="{FF2B5EF4-FFF2-40B4-BE49-F238E27FC236}">
                <a16:creationId xmlns:a16="http://schemas.microsoft.com/office/drawing/2014/main" id="{BEA4DF41-B168-4E99-9B33-197F02416180}"/>
              </a:ext>
            </a:extLst>
          </p:cNvPr>
          <p:cNvSpPr/>
          <p:nvPr/>
        </p:nvSpPr>
        <p:spPr>
          <a:xfrm>
            <a:off x="2664716" y="6360160"/>
            <a:ext cx="2399774" cy="282354"/>
          </a:xfrm>
          <a:prstGeom prst="flowChartMagneticDisk">
            <a:avLst/>
          </a:prstGeom>
          <a:solidFill>
            <a:srgbClr val="44546A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メイリオ"/>
                <a:ea typeface="メイリオ"/>
                <a:cs typeface="+mn-cs"/>
              </a:rPr>
              <a:t>データベース</a:t>
            </a:r>
            <a:endParaRPr kumimoji="0" lang="ja-JP" altLang="en-US" sz="1800" b="1" i="0" u="none" strike="noStrike" kern="0" cap="none" spc="0" normalizeH="0" baseline="0" noProof="0" dirty="0">
              <a:ln w="6600">
                <a:solidFill>
                  <a:srgbClr val="ED7D31"/>
                </a:solidFill>
                <a:prstDash val="solid"/>
              </a:ln>
              <a:solidFill>
                <a:prstClr val="white"/>
              </a:solidFill>
              <a:effectLst>
                <a:outerShdw dist="38100" dir="2700000" algn="tl" rotWithShape="0">
                  <a:srgbClr val="ED7D31"/>
                </a:outerShdw>
              </a:effectLst>
              <a:uLnTx/>
              <a:uFillTx/>
              <a:latin typeface="メイリオ"/>
              <a:ea typeface="メイリオ"/>
              <a:cs typeface="+mn-cs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CF80D28F-21F5-49E1-94C6-6B1794652D1C}"/>
              </a:ext>
            </a:extLst>
          </p:cNvPr>
          <p:cNvGrpSpPr/>
          <p:nvPr/>
        </p:nvGrpSpPr>
        <p:grpSpPr>
          <a:xfrm>
            <a:off x="1389880" y="5294008"/>
            <a:ext cx="627899" cy="319792"/>
            <a:chOff x="2243061" y="8538824"/>
            <a:chExt cx="627899" cy="319792"/>
          </a:xfrm>
        </p:grpSpPr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510227D5-8851-4698-B3F9-15F63BB24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rgbClr val="A5A5A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1168" y="8538824"/>
              <a:ext cx="319792" cy="319792"/>
            </a:xfrm>
            <a:prstGeom prst="rect">
              <a:avLst/>
            </a:prstGeom>
          </p:spPr>
        </p:pic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2A9641D4-6796-4F90-B99B-246A3B185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rgbClr val="A5A5A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3061" y="8540705"/>
              <a:ext cx="266447" cy="266447"/>
            </a:xfrm>
            <a:prstGeom prst="rect">
              <a:avLst/>
            </a:prstGeom>
          </p:spPr>
        </p:pic>
      </p:grpSp>
      <p:pic>
        <p:nvPicPr>
          <p:cNvPr id="46" name="図 45">
            <a:extLst>
              <a:ext uri="{FF2B5EF4-FFF2-40B4-BE49-F238E27FC236}">
                <a16:creationId xmlns:a16="http://schemas.microsoft.com/office/drawing/2014/main" id="{327C6FA8-FE15-428F-9CAA-DF705B459A1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A5A5A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966" y="2866569"/>
            <a:ext cx="571188" cy="571188"/>
          </a:xfrm>
          <a:prstGeom prst="rect">
            <a:avLst/>
          </a:prstGeom>
        </p:spPr>
      </p:pic>
      <p:sp>
        <p:nvSpPr>
          <p:cNvPr id="47" name="左右矢印 4">
            <a:extLst>
              <a:ext uri="{FF2B5EF4-FFF2-40B4-BE49-F238E27FC236}">
                <a16:creationId xmlns:a16="http://schemas.microsoft.com/office/drawing/2014/main" id="{57C84C87-EDCB-4A27-8500-A0E9395BCD8B}"/>
              </a:ext>
            </a:extLst>
          </p:cNvPr>
          <p:cNvSpPr/>
          <p:nvPr/>
        </p:nvSpPr>
        <p:spPr>
          <a:xfrm>
            <a:off x="6845474" y="5100334"/>
            <a:ext cx="2366618" cy="167081"/>
          </a:xfrm>
          <a:prstGeom prst="leftRightArrow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非同期</a:t>
            </a:r>
          </a:p>
        </p:txBody>
      </p:sp>
      <p:sp>
        <p:nvSpPr>
          <p:cNvPr id="48" name="フリーフォーム 14">
            <a:extLst>
              <a:ext uri="{FF2B5EF4-FFF2-40B4-BE49-F238E27FC236}">
                <a16:creationId xmlns:a16="http://schemas.microsoft.com/office/drawing/2014/main" id="{2AFE07CB-F440-4B44-8492-3058E119B756}"/>
              </a:ext>
            </a:extLst>
          </p:cNvPr>
          <p:cNvSpPr/>
          <p:nvPr/>
        </p:nvSpPr>
        <p:spPr>
          <a:xfrm>
            <a:off x="4836425" y="2491977"/>
            <a:ext cx="6039646" cy="425256"/>
          </a:xfrm>
          <a:custGeom>
            <a:avLst/>
            <a:gdLst>
              <a:gd name="connsiteX0" fmla="*/ 0 w 2710699"/>
              <a:gd name="connsiteY0" fmla="*/ 0 h 384459"/>
              <a:gd name="connsiteX1" fmla="*/ 2518470 w 2710699"/>
              <a:gd name="connsiteY1" fmla="*/ 0 h 384459"/>
              <a:gd name="connsiteX2" fmla="*/ 2710699 w 2710699"/>
              <a:gd name="connsiteY2" fmla="*/ 192230 h 384459"/>
              <a:gd name="connsiteX3" fmla="*/ 2518470 w 2710699"/>
              <a:gd name="connsiteY3" fmla="*/ 384459 h 384459"/>
              <a:gd name="connsiteX4" fmla="*/ 0 w 2710699"/>
              <a:gd name="connsiteY4" fmla="*/ 384459 h 384459"/>
              <a:gd name="connsiteX5" fmla="*/ 192230 w 2710699"/>
              <a:gd name="connsiteY5" fmla="*/ 192230 h 384459"/>
              <a:gd name="connsiteX6" fmla="*/ 0 w 2710699"/>
              <a:gd name="connsiteY6" fmla="*/ 0 h 384459"/>
              <a:gd name="connsiteX0" fmla="*/ 0 w 2710699"/>
              <a:gd name="connsiteY0" fmla="*/ 0 h 384459"/>
              <a:gd name="connsiteX1" fmla="*/ 2706437 w 2710699"/>
              <a:gd name="connsiteY1" fmla="*/ 26243 h 384459"/>
              <a:gd name="connsiteX2" fmla="*/ 2710699 w 2710699"/>
              <a:gd name="connsiteY2" fmla="*/ 192230 h 384459"/>
              <a:gd name="connsiteX3" fmla="*/ 2518470 w 2710699"/>
              <a:gd name="connsiteY3" fmla="*/ 384459 h 384459"/>
              <a:gd name="connsiteX4" fmla="*/ 0 w 2710699"/>
              <a:gd name="connsiteY4" fmla="*/ 384459 h 384459"/>
              <a:gd name="connsiteX5" fmla="*/ 192230 w 2710699"/>
              <a:gd name="connsiteY5" fmla="*/ 192230 h 384459"/>
              <a:gd name="connsiteX6" fmla="*/ 0 w 2710699"/>
              <a:gd name="connsiteY6" fmla="*/ 0 h 384459"/>
              <a:gd name="connsiteX0" fmla="*/ 0 w 2712975"/>
              <a:gd name="connsiteY0" fmla="*/ 0 h 391021"/>
              <a:gd name="connsiteX1" fmla="*/ 2706437 w 2712975"/>
              <a:gd name="connsiteY1" fmla="*/ 26243 h 391021"/>
              <a:gd name="connsiteX2" fmla="*/ 2710699 w 2712975"/>
              <a:gd name="connsiteY2" fmla="*/ 192230 h 391021"/>
              <a:gd name="connsiteX3" fmla="*/ 2712975 w 2712975"/>
              <a:gd name="connsiteY3" fmla="*/ 391021 h 391021"/>
              <a:gd name="connsiteX4" fmla="*/ 0 w 2712975"/>
              <a:gd name="connsiteY4" fmla="*/ 384459 h 391021"/>
              <a:gd name="connsiteX5" fmla="*/ 192230 w 2712975"/>
              <a:gd name="connsiteY5" fmla="*/ 192230 h 391021"/>
              <a:gd name="connsiteX6" fmla="*/ 0 w 2712975"/>
              <a:gd name="connsiteY6" fmla="*/ 0 h 391021"/>
              <a:gd name="connsiteX0" fmla="*/ 0 w 2720551"/>
              <a:gd name="connsiteY0" fmla="*/ 0 h 391021"/>
              <a:gd name="connsiteX1" fmla="*/ 2706437 w 2720551"/>
              <a:gd name="connsiteY1" fmla="*/ 26243 h 391021"/>
              <a:gd name="connsiteX2" fmla="*/ 2720506 w 2720551"/>
              <a:gd name="connsiteY2" fmla="*/ 188294 h 391021"/>
              <a:gd name="connsiteX3" fmla="*/ 2712975 w 2720551"/>
              <a:gd name="connsiteY3" fmla="*/ 391021 h 391021"/>
              <a:gd name="connsiteX4" fmla="*/ 0 w 2720551"/>
              <a:gd name="connsiteY4" fmla="*/ 384459 h 391021"/>
              <a:gd name="connsiteX5" fmla="*/ 192230 w 2720551"/>
              <a:gd name="connsiteY5" fmla="*/ 192230 h 391021"/>
              <a:gd name="connsiteX6" fmla="*/ 0 w 2720551"/>
              <a:gd name="connsiteY6" fmla="*/ 0 h 391021"/>
              <a:gd name="connsiteX0" fmla="*/ 0 w 2720551"/>
              <a:gd name="connsiteY0" fmla="*/ 0 h 391021"/>
              <a:gd name="connsiteX1" fmla="*/ 2716244 w 2720551"/>
              <a:gd name="connsiteY1" fmla="*/ 26243 h 391021"/>
              <a:gd name="connsiteX2" fmla="*/ 2720506 w 2720551"/>
              <a:gd name="connsiteY2" fmla="*/ 188294 h 391021"/>
              <a:gd name="connsiteX3" fmla="*/ 2712975 w 2720551"/>
              <a:gd name="connsiteY3" fmla="*/ 391021 h 391021"/>
              <a:gd name="connsiteX4" fmla="*/ 0 w 2720551"/>
              <a:gd name="connsiteY4" fmla="*/ 384459 h 391021"/>
              <a:gd name="connsiteX5" fmla="*/ 192230 w 2720551"/>
              <a:gd name="connsiteY5" fmla="*/ 192230 h 391021"/>
              <a:gd name="connsiteX6" fmla="*/ 0 w 2720551"/>
              <a:gd name="connsiteY6" fmla="*/ 0 h 391021"/>
              <a:gd name="connsiteX0" fmla="*/ 0 w 2728667"/>
              <a:gd name="connsiteY0" fmla="*/ 0 h 402831"/>
              <a:gd name="connsiteX1" fmla="*/ 2716244 w 2728667"/>
              <a:gd name="connsiteY1" fmla="*/ 26243 h 402831"/>
              <a:gd name="connsiteX2" fmla="*/ 2720506 w 2728667"/>
              <a:gd name="connsiteY2" fmla="*/ 188294 h 402831"/>
              <a:gd name="connsiteX3" fmla="*/ 2728667 w 2728667"/>
              <a:gd name="connsiteY3" fmla="*/ 402831 h 402831"/>
              <a:gd name="connsiteX4" fmla="*/ 0 w 2728667"/>
              <a:gd name="connsiteY4" fmla="*/ 384459 h 402831"/>
              <a:gd name="connsiteX5" fmla="*/ 192230 w 2728667"/>
              <a:gd name="connsiteY5" fmla="*/ 192230 h 402831"/>
              <a:gd name="connsiteX6" fmla="*/ 0 w 2728667"/>
              <a:gd name="connsiteY6" fmla="*/ 0 h 402831"/>
              <a:gd name="connsiteX0" fmla="*/ 0 w 2720568"/>
              <a:gd name="connsiteY0" fmla="*/ 0 h 384459"/>
              <a:gd name="connsiteX1" fmla="*/ 2716244 w 2720568"/>
              <a:gd name="connsiteY1" fmla="*/ 26243 h 384459"/>
              <a:gd name="connsiteX2" fmla="*/ 2720506 w 2720568"/>
              <a:gd name="connsiteY2" fmla="*/ 188294 h 384459"/>
              <a:gd name="connsiteX3" fmla="*/ 2715591 w 2720568"/>
              <a:gd name="connsiteY3" fmla="*/ 379868 h 384459"/>
              <a:gd name="connsiteX4" fmla="*/ 0 w 2720568"/>
              <a:gd name="connsiteY4" fmla="*/ 384459 h 384459"/>
              <a:gd name="connsiteX5" fmla="*/ 192230 w 2720568"/>
              <a:gd name="connsiteY5" fmla="*/ 192230 h 384459"/>
              <a:gd name="connsiteX6" fmla="*/ 0 w 2720568"/>
              <a:gd name="connsiteY6" fmla="*/ 0 h 38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0568" h="384459">
                <a:moveTo>
                  <a:pt x="0" y="0"/>
                </a:moveTo>
                <a:lnTo>
                  <a:pt x="2716244" y="26243"/>
                </a:lnTo>
                <a:lnTo>
                  <a:pt x="2720506" y="188294"/>
                </a:lnTo>
                <a:cubicBezTo>
                  <a:pt x="2721265" y="254558"/>
                  <a:pt x="2714832" y="313604"/>
                  <a:pt x="2715591" y="379868"/>
                </a:cubicBezTo>
                <a:lnTo>
                  <a:pt x="0" y="384459"/>
                </a:lnTo>
                <a:lnTo>
                  <a:pt x="192230" y="192230"/>
                </a:lnTo>
                <a:lnTo>
                  <a:pt x="0" y="0"/>
                </a:lnTo>
                <a:close/>
              </a:path>
            </a:pathLst>
          </a:custGeom>
          <a:solidFill>
            <a:srgbClr val="70AD47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dkEdge">
            <a:bevelT w="8200" h="38100"/>
          </a:sp3d>
        </p:spPr>
        <p:txBody>
          <a:bodyPr spcFirstLastPara="0" vert="horz" wrap="square" lIns="244237" tIns="34671" rIns="209565" bIns="34671" numCol="1" spcCol="1270" anchor="ctr" anchorCtr="0">
            <a:noAutofit/>
          </a:bodyPr>
          <a:lstStyle/>
          <a:p>
            <a:pPr marL="0" marR="0" lvl="0" indent="0" algn="ctr" defTabSz="5778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情報文書管理</a:t>
            </a:r>
          </a:p>
        </p:txBody>
      </p:sp>
      <p:sp>
        <p:nvSpPr>
          <p:cNvPr id="49" name="フリーフォーム 6">
            <a:extLst>
              <a:ext uri="{FF2B5EF4-FFF2-40B4-BE49-F238E27FC236}">
                <a16:creationId xmlns:a16="http://schemas.microsoft.com/office/drawing/2014/main" id="{45A39C2D-ED5E-44DF-AA78-63B567C1CF03}"/>
              </a:ext>
            </a:extLst>
          </p:cNvPr>
          <p:cNvSpPr/>
          <p:nvPr/>
        </p:nvSpPr>
        <p:spPr>
          <a:xfrm>
            <a:off x="773186" y="2498544"/>
            <a:ext cx="2032446" cy="418691"/>
          </a:xfrm>
          <a:custGeom>
            <a:avLst/>
            <a:gdLst>
              <a:gd name="connsiteX0" fmla="*/ 0 w 2710699"/>
              <a:gd name="connsiteY0" fmla="*/ 0 h 384459"/>
              <a:gd name="connsiteX1" fmla="*/ 2518470 w 2710699"/>
              <a:gd name="connsiteY1" fmla="*/ 0 h 384459"/>
              <a:gd name="connsiteX2" fmla="*/ 2710699 w 2710699"/>
              <a:gd name="connsiteY2" fmla="*/ 192230 h 384459"/>
              <a:gd name="connsiteX3" fmla="*/ 2518470 w 2710699"/>
              <a:gd name="connsiteY3" fmla="*/ 384459 h 384459"/>
              <a:gd name="connsiteX4" fmla="*/ 0 w 2710699"/>
              <a:gd name="connsiteY4" fmla="*/ 384459 h 384459"/>
              <a:gd name="connsiteX5" fmla="*/ 0 w 2710699"/>
              <a:gd name="connsiteY5" fmla="*/ 0 h 38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0699" h="384459">
                <a:moveTo>
                  <a:pt x="0" y="0"/>
                </a:moveTo>
                <a:lnTo>
                  <a:pt x="2518470" y="0"/>
                </a:lnTo>
                <a:lnTo>
                  <a:pt x="2710699" y="192230"/>
                </a:lnTo>
                <a:lnTo>
                  <a:pt x="2518470" y="384459"/>
                </a:lnTo>
                <a:lnTo>
                  <a:pt x="0" y="384459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dkEdge">
            <a:bevelT w="8200" h="38100"/>
          </a:sp3d>
        </p:spPr>
        <p:txBody>
          <a:bodyPr spcFirstLastPara="0" vert="horz" wrap="square" lIns="69342" tIns="34671" rIns="113451" bIns="34671" numCol="1" spcCol="1270" anchor="ctr" anchorCtr="0">
            <a:noAutofit/>
          </a:bodyPr>
          <a:lstStyle/>
          <a:p>
            <a:pPr marL="0" marR="0" lvl="0" indent="0" algn="ctr" defTabSz="5778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申請</a:t>
            </a:r>
          </a:p>
        </p:txBody>
      </p:sp>
      <p:sp>
        <p:nvSpPr>
          <p:cNvPr id="50" name="フリーフォーム 9">
            <a:extLst>
              <a:ext uri="{FF2B5EF4-FFF2-40B4-BE49-F238E27FC236}">
                <a16:creationId xmlns:a16="http://schemas.microsoft.com/office/drawing/2014/main" id="{39DFBE40-460C-4DAA-B21C-699A0F79E848}"/>
              </a:ext>
            </a:extLst>
          </p:cNvPr>
          <p:cNvSpPr/>
          <p:nvPr/>
        </p:nvSpPr>
        <p:spPr>
          <a:xfrm>
            <a:off x="3844874" y="2496689"/>
            <a:ext cx="1523249" cy="420543"/>
          </a:xfrm>
          <a:custGeom>
            <a:avLst/>
            <a:gdLst>
              <a:gd name="connsiteX0" fmla="*/ 0 w 2525423"/>
              <a:gd name="connsiteY0" fmla="*/ 0 h 384459"/>
              <a:gd name="connsiteX1" fmla="*/ 2333194 w 2525423"/>
              <a:gd name="connsiteY1" fmla="*/ 0 h 384459"/>
              <a:gd name="connsiteX2" fmla="*/ 2525423 w 2525423"/>
              <a:gd name="connsiteY2" fmla="*/ 192230 h 384459"/>
              <a:gd name="connsiteX3" fmla="*/ 2333194 w 2525423"/>
              <a:gd name="connsiteY3" fmla="*/ 384459 h 384459"/>
              <a:gd name="connsiteX4" fmla="*/ 0 w 2525423"/>
              <a:gd name="connsiteY4" fmla="*/ 384459 h 384459"/>
              <a:gd name="connsiteX5" fmla="*/ 192230 w 2525423"/>
              <a:gd name="connsiteY5" fmla="*/ 192230 h 384459"/>
              <a:gd name="connsiteX6" fmla="*/ 0 w 2525423"/>
              <a:gd name="connsiteY6" fmla="*/ 0 h 38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5423" h="384459">
                <a:moveTo>
                  <a:pt x="0" y="0"/>
                </a:moveTo>
                <a:lnTo>
                  <a:pt x="2333194" y="0"/>
                </a:lnTo>
                <a:lnTo>
                  <a:pt x="2525423" y="192230"/>
                </a:lnTo>
                <a:lnTo>
                  <a:pt x="2333194" y="384459"/>
                </a:lnTo>
                <a:lnTo>
                  <a:pt x="0" y="384459"/>
                </a:lnTo>
                <a:lnTo>
                  <a:pt x="192230" y="192230"/>
                </a:lnTo>
                <a:lnTo>
                  <a:pt x="0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dkEdge">
            <a:bevelT w="8200" h="38100"/>
          </a:sp3d>
        </p:spPr>
        <p:txBody>
          <a:bodyPr spcFirstLastPara="0" vert="horz" wrap="square" lIns="244237" tIns="34671" rIns="209565" bIns="34671" numCol="1" spcCol="1270" anchor="ctr" anchorCtr="0">
            <a:noAutofit/>
          </a:bodyPr>
          <a:lstStyle/>
          <a:p>
            <a:pPr marL="0" marR="0" lvl="0" indent="0" algn="ctr" defTabSz="5778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照査照合</a:t>
            </a:r>
          </a:p>
        </p:txBody>
      </p:sp>
      <p:sp>
        <p:nvSpPr>
          <p:cNvPr id="51" name="フリーフォーム 8">
            <a:extLst>
              <a:ext uri="{FF2B5EF4-FFF2-40B4-BE49-F238E27FC236}">
                <a16:creationId xmlns:a16="http://schemas.microsoft.com/office/drawing/2014/main" id="{8F6785DE-A906-4332-A6C0-602E6373580F}"/>
              </a:ext>
            </a:extLst>
          </p:cNvPr>
          <p:cNvSpPr/>
          <p:nvPr/>
        </p:nvSpPr>
        <p:spPr>
          <a:xfrm>
            <a:off x="2595625" y="2498542"/>
            <a:ext cx="1504571" cy="418693"/>
          </a:xfrm>
          <a:custGeom>
            <a:avLst/>
            <a:gdLst>
              <a:gd name="connsiteX0" fmla="*/ 0 w 2710699"/>
              <a:gd name="connsiteY0" fmla="*/ 0 h 384459"/>
              <a:gd name="connsiteX1" fmla="*/ 2518470 w 2710699"/>
              <a:gd name="connsiteY1" fmla="*/ 0 h 384459"/>
              <a:gd name="connsiteX2" fmla="*/ 2710699 w 2710699"/>
              <a:gd name="connsiteY2" fmla="*/ 192230 h 384459"/>
              <a:gd name="connsiteX3" fmla="*/ 2518470 w 2710699"/>
              <a:gd name="connsiteY3" fmla="*/ 384459 h 384459"/>
              <a:gd name="connsiteX4" fmla="*/ 0 w 2710699"/>
              <a:gd name="connsiteY4" fmla="*/ 384459 h 384459"/>
              <a:gd name="connsiteX5" fmla="*/ 192230 w 2710699"/>
              <a:gd name="connsiteY5" fmla="*/ 192230 h 384459"/>
              <a:gd name="connsiteX6" fmla="*/ 0 w 2710699"/>
              <a:gd name="connsiteY6" fmla="*/ 0 h 38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10699" h="384459">
                <a:moveTo>
                  <a:pt x="0" y="0"/>
                </a:moveTo>
                <a:lnTo>
                  <a:pt x="2518470" y="0"/>
                </a:lnTo>
                <a:lnTo>
                  <a:pt x="2710699" y="192230"/>
                </a:lnTo>
                <a:lnTo>
                  <a:pt x="2518470" y="384459"/>
                </a:lnTo>
                <a:lnTo>
                  <a:pt x="0" y="384459"/>
                </a:lnTo>
                <a:lnTo>
                  <a:pt x="192230" y="192230"/>
                </a:lnTo>
                <a:lnTo>
                  <a:pt x="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dkEdge">
            <a:bevelT w="8200" h="38100"/>
          </a:sp3d>
        </p:spPr>
        <p:txBody>
          <a:bodyPr spcFirstLastPara="0" vert="horz" wrap="square" lIns="244237" tIns="34671" rIns="209565" bIns="34671" numCol="1" spcCol="1270" anchor="ctr" anchorCtr="0">
            <a:noAutofit/>
          </a:bodyPr>
          <a:lstStyle/>
          <a:p>
            <a:pPr marL="0" marR="0" lvl="0" indent="0" algn="ctr" defTabSz="5778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証憑収集</a:t>
            </a:r>
          </a:p>
        </p:txBody>
      </p:sp>
      <p:sp>
        <p:nvSpPr>
          <p:cNvPr id="53" name="爆発 1 47">
            <a:extLst>
              <a:ext uri="{FF2B5EF4-FFF2-40B4-BE49-F238E27FC236}">
                <a16:creationId xmlns:a16="http://schemas.microsoft.com/office/drawing/2014/main" id="{B61301A0-30B2-47C1-A1D2-9D7F73CE9EA9}"/>
              </a:ext>
            </a:extLst>
          </p:cNvPr>
          <p:cNvSpPr/>
          <p:nvPr/>
        </p:nvSpPr>
        <p:spPr>
          <a:xfrm>
            <a:off x="8899267" y="5186962"/>
            <a:ext cx="1954894" cy="556991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更新モレ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D862748E-969E-4BD9-AFED-F4B762D067D3}"/>
              </a:ext>
            </a:extLst>
          </p:cNvPr>
          <p:cNvSpPr txBox="1"/>
          <p:nvPr/>
        </p:nvSpPr>
        <p:spPr>
          <a:xfrm rot="2483874">
            <a:off x="10134228" y="3628411"/>
            <a:ext cx="1042960" cy="37344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ja-JP" altLang="en-US" sz="1400" dirty="0">
                <a:solidFill>
                  <a:srgbClr val="FF0000"/>
                </a:solidFill>
                <a:latin typeface="メイリオ"/>
              </a:rPr>
              <a:t>課題</a:t>
            </a:r>
          </a:p>
        </p:txBody>
      </p:sp>
      <p:sp>
        <p:nvSpPr>
          <p:cNvPr id="55" name="爆発 1 50">
            <a:extLst>
              <a:ext uri="{FF2B5EF4-FFF2-40B4-BE49-F238E27FC236}">
                <a16:creationId xmlns:a16="http://schemas.microsoft.com/office/drawing/2014/main" id="{1F95F4A6-E2EE-46CA-88E7-1B4EFCB826E7}"/>
              </a:ext>
            </a:extLst>
          </p:cNvPr>
          <p:cNvSpPr/>
          <p:nvPr/>
        </p:nvSpPr>
        <p:spPr>
          <a:xfrm>
            <a:off x="5253620" y="5231150"/>
            <a:ext cx="2150875" cy="573120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重複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8A7CADF-A256-480A-A660-0C47AE1DE122}"/>
              </a:ext>
            </a:extLst>
          </p:cNvPr>
          <p:cNvSpPr txBox="1"/>
          <p:nvPr/>
        </p:nvSpPr>
        <p:spPr>
          <a:xfrm>
            <a:off x="1074823" y="3450874"/>
            <a:ext cx="10486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prstClr val="black"/>
                </a:solidFill>
                <a:ea typeface="Meiryo UI" panose="020B0604030504040204" pitchFamily="50" charset="-128"/>
              </a:rPr>
              <a:t>合意内容に伴う申請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C33B9423-69E5-4E02-9AB5-1A11A4C0A23C}"/>
              </a:ext>
            </a:extLst>
          </p:cNvPr>
          <p:cNvSpPr txBox="1"/>
          <p:nvPr/>
        </p:nvSpPr>
        <p:spPr>
          <a:xfrm>
            <a:off x="1276011" y="4914636"/>
            <a:ext cx="8467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>
                <a:solidFill>
                  <a:prstClr val="black"/>
                </a:solidFill>
                <a:latin typeface="メイリオ"/>
              </a:rPr>
              <a:t>文書</a:t>
            </a:r>
            <a:r>
              <a:rPr lang="en-US" altLang="ja-JP" sz="800" dirty="0">
                <a:solidFill>
                  <a:prstClr val="black"/>
                </a:solidFill>
                <a:latin typeface="メイリオ"/>
              </a:rPr>
              <a:t>/</a:t>
            </a:r>
            <a:r>
              <a:rPr lang="ja-JP" altLang="en-US" sz="800" dirty="0">
                <a:solidFill>
                  <a:prstClr val="black"/>
                </a:solidFill>
                <a:latin typeface="メイリオ"/>
              </a:rPr>
              <a:t>申請情報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C02EA13-FD5D-4565-8F12-39D656870D6D}"/>
              </a:ext>
            </a:extLst>
          </p:cNvPr>
          <p:cNvSpPr txBox="1"/>
          <p:nvPr/>
        </p:nvSpPr>
        <p:spPr>
          <a:xfrm>
            <a:off x="1225044" y="5594650"/>
            <a:ext cx="9957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>
                <a:solidFill>
                  <a:prstClr val="black"/>
                </a:solidFill>
                <a:latin typeface="メイリオ"/>
              </a:rPr>
              <a:t>郵送</a:t>
            </a:r>
            <a:r>
              <a:rPr lang="en-US" altLang="ja-JP" sz="800" dirty="0">
                <a:solidFill>
                  <a:prstClr val="black"/>
                </a:solidFill>
                <a:latin typeface="メイリオ"/>
              </a:rPr>
              <a:t>/</a:t>
            </a:r>
            <a:r>
              <a:rPr lang="ja-JP" altLang="en-US" sz="800" dirty="0">
                <a:solidFill>
                  <a:prstClr val="black"/>
                </a:solidFill>
                <a:latin typeface="メイリオ"/>
              </a:rPr>
              <a:t>宅配</a:t>
            </a:r>
            <a:r>
              <a:rPr lang="en-US" altLang="ja-JP" sz="800" dirty="0">
                <a:solidFill>
                  <a:prstClr val="black"/>
                </a:solidFill>
                <a:latin typeface="メイリオ"/>
              </a:rPr>
              <a:t>/</a:t>
            </a:r>
            <a:r>
              <a:rPr lang="ja-JP" altLang="en-US" sz="800" dirty="0">
                <a:solidFill>
                  <a:prstClr val="black"/>
                </a:solidFill>
                <a:latin typeface="メイリオ"/>
              </a:rPr>
              <a:t>メール</a:t>
            </a:r>
          </a:p>
        </p:txBody>
      </p:sp>
      <p:sp>
        <p:nvSpPr>
          <p:cNvPr id="60" name="爆発 1 48">
            <a:extLst>
              <a:ext uri="{FF2B5EF4-FFF2-40B4-BE49-F238E27FC236}">
                <a16:creationId xmlns:a16="http://schemas.microsoft.com/office/drawing/2014/main" id="{7E8030FD-5274-44C8-AC3D-E7E3D57D29DB}"/>
              </a:ext>
            </a:extLst>
          </p:cNvPr>
          <p:cNvSpPr/>
          <p:nvPr/>
        </p:nvSpPr>
        <p:spPr>
          <a:xfrm>
            <a:off x="6784156" y="5197093"/>
            <a:ext cx="2702171" cy="499531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入力ミス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A65FFCC0-3A1B-49C3-B707-FCF9FAD2643C}"/>
              </a:ext>
            </a:extLst>
          </p:cNvPr>
          <p:cNvSpPr txBox="1"/>
          <p:nvPr/>
        </p:nvSpPr>
        <p:spPr>
          <a:xfrm flipH="1">
            <a:off x="9485710" y="6476597"/>
            <a:ext cx="1449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" dirty="0">
                <a:solidFill>
                  <a:prstClr val="black"/>
                </a:solidFill>
                <a:latin typeface="メイリオ"/>
              </a:rPr>
              <a:t>*</a:t>
            </a:r>
            <a:r>
              <a:rPr lang="en-US" altLang="ja-JP" sz="600" dirty="0">
                <a:solidFill>
                  <a:prstClr val="black"/>
                </a:solidFill>
                <a:latin typeface="メイリオ"/>
              </a:rPr>
              <a:t>PDF</a:t>
            </a:r>
            <a:r>
              <a:rPr lang="ja-JP" altLang="en-US" sz="600" dirty="0">
                <a:solidFill>
                  <a:prstClr val="black"/>
                </a:solidFill>
                <a:latin typeface="メイリオ"/>
              </a:rPr>
              <a:t>などのファイルデータ含む</a:t>
            </a:r>
          </a:p>
        </p:txBody>
      </p:sp>
    </p:spTree>
    <p:extLst>
      <p:ext uri="{BB962C8B-B14F-4D97-AF65-F5344CB8AC3E}">
        <p14:creationId xmlns:p14="http://schemas.microsoft.com/office/powerpoint/2010/main" val="13298881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608E58-F6FA-41E6-A9B3-32D1059CB83B}"/>
              </a:ext>
            </a:extLst>
          </p:cNvPr>
          <p:cNvSpPr/>
          <p:nvPr/>
        </p:nvSpPr>
        <p:spPr>
          <a:xfrm>
            <a:off x="456958" y="1171695"/>
            <a:ext cx="1094666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altLang="ja-JP" b="1" dirty="0"/>
              <a:t>【2】【3】【</a:t>
            </a:r>
            <a:r>
              <a:rPr lang="ja-JP" altLang="en-US" b="1" dirty="0"/>
              <a:t>４</a:t>
            </a:r>
            <a:r>
              <a:rPr lang="en-US" altLang="ja-JP" b="1" dirty="0"/>
              <a:t>】【</a:t>
            </a:r>
            <a:r>
              <a:rPr lang="ja-JP" altLang="en-US" b="1" dirty="0"/>
              <a:t>５</a:t>
            </a:r>
            <a:r>
              <a:rPr lang="en-US" altLang="ja-JP" b="1" dirty="0"/>
              <a:t>】</a:t>
            </a:r>
            <a:r>
              <a:rPr lang="ja-JP" altLang="en-US" b="1" dirty="0"/>
              <a:t>事故調査により明らかになった課題</a:t>
            </a:r>
            <a:endParaRPr lang="en-US" altLang="ja-JP" b="1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4F67DDB-903F-4C21-A1E7-EC62B66384D2}"/>
              </a:ext>
            </a:extLst>
          </p:cNvPr>
          <p:cNvGrpSpPr/>
          <p:nvPr/>
        </p:nvGrpSpPr>
        <p:grpSpPr>
          <a:xfrm>
            <a:off x="541863" y="1365336"/>
            <a:ext cx="10563121" cy="5228949"/>
            <a:chOff x="219711" y="735852"/>
            <a:chExt cx="11834758" cy="5858434"/>
          </a:xfrm>
        </p:grpSpPr>
        <p:sp>
          <p:nvSpPr>
            <p:cNvPr id="6" name="角丸四角形 66">
              <a:extLst>
                <a:ext uri="{FF2B5EF4-FFF2-40B4-BE49-F238E27FC236}">
                  <a16:creationId xmlns:a16="http://schemas.microsoft.com/office/drawing/2014/main" id="{97F68BD6-D156-405E-8207-DC003E3D3B28}"/>
                </a:ext>
              </a:extLst>
            </p:cNvPr>
            <p:cNvSpPr/>
            <p:nvPr/>
          </p:nvSpPr>
          <p:spPr>
            <a:xfrm>
              <a:off x="219711" y="3084519"/>
              <a:ext cx="2678654" cy="3509369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" name="角丸四角形 66">
              <a:extLst>
                <a:ext uri="{FF2B5EF4-FFF2-40B4-BE49-F238E27FC236}">
                  <a16:creationId xmlns:a16="http://schemas.microsoft.com/office/drawing/2014/main" id="{18EC2E37-31EB-4F29-B762-CD907260F394}"/>
                </a:ext>
              </a:extLst>
            </p:cNvPr>
            <p:cNvSpPr/>
            <p:nvPr/>
          </p:nvSpPr>
          <p:spPr>
            <a:xfrm>
              <a:off x="219712" y="1118008"/>
              <a:ext cx="2678654" cy="130346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905FD99-D3FB-47B7-A646-F0F8AE734D61}"/>
                </a:ext>
              </a:extLst>
            </p:cNvPr>
            <p:cNvSpPr/>
            <p:nvPr/>
          </p:nvSpPr>
          <p:spPr>
            <a:xfrm>
              <a:off x="5008209" y="735852"/>
              <a:ext cx="1045999" cy="3793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課題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E7BF98C-6351-4377-8F15-1F06725427D8}"/>
                </a:ext>
              </a:extLst>
            </p:cNvPr>
            <p:cNvSpPr/>
            <p:nvPr/>
          </p:nvSpPr>
          <p:spPr>
            <a:xfrm>
              <a:off x="9239541" y="744674"/>
              <a:ext cx="877163" cy="6551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対策案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966E3DA-C6F1-464B-8135-F005222EA894}"/>
                </a:ext>
              </a:extLst>
            </p:cNvPr>
            <p:cNvSpPr txBox="1"/>
            <p:nvPr/>
          </p:nvSpPr>
          <p:spPr>
            <a:xfrm>
              <a:off x="1010483" y="747368"/>
              <a:ext cx="1282621" cy="379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事故事例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2422157-A79B-4C0F-8A9E-3653B58A5EF2}"/>
                </a:ext>
              </a:extLst>
            </p:cNvPr>
            <p:cNvSpPr/>
            <p:nvPr/>
          </p:nvSpPr>
          <p:spPr>
            <a:xfrm>
              <a:off x="3538022" y="1109463"/>
              <a:ext cx="3589855" cy="125892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ja-JP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【2】</a:t>
              </a: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商品マスタ維持管理の不足</a:t>
              </a:r>
              <a:endPara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1450" marR="0" lvl="0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当社の商品マスタと取引先管理マスタに差異があった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1450" marR="0" lvl="0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長期間マスタデータ</a:t>
              </a:r>
              <a:r>
                <a:rPr lang="ja-JP" altLang="en-US" sz="11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の確認がされていなかった</a:t>
              </a:r>
              <a:endPara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2F73CBA9-4738-444C-8134-F55E3A8A6869}"/>
                </a:ext>
              </a:extLst>
            </p:cNvPr>
            <p:cNvSpPr/>
            <p:nvPr/>
          </p:nvSpPr>
          <p:spPr>
            <a:xfrm>
              <a:off x="3538022" y="5685580"/>
              <a:ext cx="3608695" cy="908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ja-JP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【5】</a:t>
              </a:r>
              <a:r>
                <a:rPr lang="ja-JP" altLang="en-US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取次手数料の業務設計不足</a:t>
              </a:r>
              <a:endParaRPr lang="en-US" altLang="ja-JP" sz="14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171450" indent="-17145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ü"/>
                <a:defRPr/>
              </a:pPr>
              <a:r>
                <a:rPr lang="ja-JP" altLang="en-US" sz="11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仮計上に利用する販促リベートの登録単価は、税率変更時に修正されていなかった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4F7E3648-764F-4D90-8A30-05D31688C1ED}"/>
                </a:ext>
              </a:extLst>
            </p:cNvPr>
            <p:cNvSpPr/>
            <p:nvPr/>
          </p:nvSpPr>
          <p:spPr>
            <a:xfrm>
              <a:off x="3538022" y="2514981"/>
              <a:ext cx="3592122" cy="125892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ja-JP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【3】</a:t>
              </a: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仕入先とのリベート合意内容の不足</a:t>
              </a:r>
              <a:endPara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0" marR="0" lvl="0" indent="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仕入先からのコメント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628650" marR="0" lvl="1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リベートシステム</a:t>
              </a:r>
              <a:r>
                <a:rPr lang="ja-JP" altLang="en-US" sz="9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や</a:t>
              </a: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運用を説明した文書は共有されていない</a:t>
              </a:r>
              <a:endPara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628650" marR="0" lvl="1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リベートの仕組みがわからない</a:t>
              </a:r>
              <a:endPara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628650" marR="0" lvl="1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リベートのシステムメールを確認していない</a:t>
              </a:r>
              <a:endPara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010E8AD7-0F26-4049-9B39-EB62B30AD4DF}"/>
                </a:ext>
              </a:extLst>
            </p:cNvPr>
            <p:cNvSpPr/>
            <p:nvPr/>
          </p:nvSpPr>
          <p:spPr>
            <a:xfrm>
              <a:off x="7531333" y="2514982"/>
              <a:ext cx="4523136" cy="12589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施策：リベート運用規約の締結と運用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※</a:t>
              </a: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リベートの運用ルール・説明含む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96816482-2116-4A47-944E-5F0753D0E5C0}"/>
                </a:ext>
              </a:extLst>
            </p:cNvPr>
            <p:cNvSpPr/>
            <p:nvPr/>
          </p:nvSpPr>
          <p:spPr>
            <a:xfrm>
              <a:off x="7531332" y="1094689"/>
              <a:ext cx="4523136" cy="1273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72000" rIns="60960" bIns="60960" numCol="1" spcCol="1270" anchor="t" anchorCtr="0">
              <a:noAutofit/>
            </a:bodyPr>
            <a:lstStyle/>
            <a:p>
              <a:pPr marL="0" lvl="1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0" algn="l"/>
                </a:tabLs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施策：商品マスタは、定期的な突合確認による誤データ修正をする</a:t>
              </a: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9F300ADB-AEEA-4748-8E91-707E629781B3}"/>
                </a:ext>
              </a:extLst>
            </p:cNvPr>
            <p:cNvSpPr/>
            <p:nvPr/>
          </p:nvSpPr>
          <p:spPr>
            <a:xfrm>
              <a:off x="7531332" y="5685184"/>
              <a:ext cx="4523136" cy="9087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indent="92075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施策：取次手数料の業務設計を行い運用する</a:t>
              </a:r>
              <a:endParaRPr lang="en-US" altLang="ja-JP" sz="11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lvl="0" indent="92075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商談、システム登録、手数料計算、計上（洗い替え）、支払入金</a:t>
              </a:r>
            </a:p>
            <a:p>
              <a:pPr lvl="0" indent="92075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各業務プロセスに必要な証憑類の定義や照合のルールを作成する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38183E63-C347-4452-A9A0-BA5C16A9EB47}"/>
                </a:ext>
              </a:extLst>
            </p:cNvPr>
            <p:cNvSpPr/>
            <p:nvPr/>
          </p:nvSpPr>
          <p:spPr>
            <a:xfrm>
              <a:off x="7531332" y="3936805"/>
              <a:ext cx="4523136" cy="15944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施策：商品以外の仕入先から発生する債権事項は、</a:t>
              </a:r>
              <a:endParaRPr lang="en-US" altLang="ja-JP" sz="11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商品統合管理室で管理する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※</a:t>
              </a: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通信費・送料助成費・工事助成費など</a:t>
              </a: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C3A58B5-DB51-4473-9D28-E42A07AC628A}"/>
                </a:ext>
              </a:extLst>
            </p:cNvPr>
            <p:cNvSpPr/>
            <p:nvPr/>
          </p:nvSpPr>
          <p:spPr>
            <a:xfrm>
              <a:off x="3538022" y="3937199"/>
              <a:ext cx="3592122" cy="159442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ja-JP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【4】</a:t>
              </a: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仕入先への債権管理不足</a:t>
              </a:r>
              <a:endPara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通信費や送料など経費請求は、請求金額の算定や履行確認などの債権管理実務者が、不明瞭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628650" marR="0" lvl="1" indent="-17145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工事・送料助成費は、仕入先別負担金管理表が更新されていなかった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872BFC4-1876-4354-AAC0-85D5AA95D5A2}"/>
                </a:ext>
              </a:extLst>
            </p:cNvPr>
            <p:cNvSpPr/>
            <p:nvPr/>
          </p:nvSpPr>
          <p:spPr>
            <a:xfrm>
              <a:off x="366453" y="1280093"/>
              <a:ext cx="2375737" cy="10213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日立</a:t>
              </a: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GLS</a:t>
              </a: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　工事助成費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三菱</a:t>
              </a:r>
              <a:r>
                <a:rPr lang="en-US" altLang="ja-JP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LN</a:t>
              </a: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送料助成費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パナソニック</a:t>
              </a:r>
              <a:r>
                <a:rPr lang="en-US" altLang="ja-JP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CM</a:t>
              </a: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送料助成費など</a:t>
              </a:r>
              <a:endParaRPr lang="en-US" altLang="ja-JP" sz="11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7BDB08C0-13F7-4336-8360-830CED3B8BB9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7130144" y="3144445"/>
              <a:ext cx="401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F17B3B22-B7C7-440C-9084-B5B17FFE77D8}"/>
                </a:ext>
              </a:extLst>
            </p:cNvPr>
            <p:cNvCxnSpPr>
              <a:cxnSpLocks/>
              <a:stCxn id="20" idx="3"/>
              <a:endCxn id="19" idx="1"/>
            </p:cNvCxnSpPr>
            <p:nvPr/>
          </p:nvCxnSpPr>
          <p:spPr>
            <a:xfrm flipV="1">
              <a:off x="7130144" y="4734017"/>
              <a:ext cx="401188" cy="3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8057B599-724E-4D5B-8820-12D6BD1CE4D8}"/>
                </a:ext>
              </a:extLst>
            </p:cNvPr>
            <p:cNvSpPr/>
            <p:nvPr/>
          </p:nvSpPr>
          <p:spPr>
            <a:xfrm>
              <a:off x="371170" y="3258630"/>
              <a:ext cx="2375737" cy="10173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リベート条件調査</a:t>
              </a: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Step1</a:t>
              </a:r>
              <a:endParaRPr lang="en-US" altLang="ja-JP" sz="11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伝票単価と原価の不整合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263525" marR="0" lvl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15</a:t>
              </a: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社</a:t>
              </a: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2E43ECCF-E89A-4A09-ADFF-879D2B7B117D}"/>
                </a:ext>
              </a:extLst>
            </p:cNvPr>
            <p:cNvSpPr/>
            <p:nvPr/>
          </p:nvSpPr>
          <p:spPr>
            <a:xfrm>
              <a:off x="371170" y="4332735"/>
              <a:ext cx="2375737" cy="10173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marR="0" lvl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リベート条件調査</a:t>
              </a: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Step2</a:t>
              </a:r>
              <a:endParaRPr lang="en-US" altLang="ja-JP" sz="11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R="0" lvl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販促リベート等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442913" marR="0" lvl="0" indent="-179388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オークローンマーケティング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442913" marR="0" lvl="0" indent="-179388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ラネット　別途</a:t>
              </a:r>
              <a:endPara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59CAF07B-B8B7-48AA-864B-C48C6D84C43B}"/>
                </a:ext>
              </a:extLst>
            </p:cNvPr>
            <p:cNvSpPr/>
            <p:nvPr/>
          </p:nvSpPr>
          <p:spPr>
            <a:xfrm>
              <a:off x="7763441" y="1426898"/>
              <a:ext cx="4057389" cy="8154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暫定施策：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先行</a:t>
              </a:r>
              <a:r>
                <a:rPr lang="en-US" altLang="ja-JP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3</a:t>
              </a: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社様にて月次、商品マスタ情報を送付し突合確認を依頼する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5F2478C3-C38A-458E-A857-D89DE7C209A3}"/>
                </a:ext>
              </a:extLst>
            </p:cNvPr>
            <p:cNvSpPr/>
            <p:nvPr/>
          </p:nvSpPr>
          <p:spPr>
            <a:xfrm>
              <a:off x="7763441" y="3036767"/>
              <a:ext cx="4057389" cy="622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暫定施策：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先行</a:t>
              </a:r>
              <a:r>
                <a:rPr lang="en-US" altLang="ja-JP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54</a:t>
              </a: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社様にてリベート運用規約の説明会の実施および同意メールの回答を依頼する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7FE93F86-8345-4BC4-8F6F-8ACADEBB334A}"/>
                </a:ext>
              </a:extLst>
            </p:cNvPr>
            <p:cNvSpPr/>
            <p:nvPr/>
          </p:nvSpPr>
          <p:spPr>
            <a:xfrm>
              <a:off x="7763441" y="4625168"/>
              <a:ext cx="4057389" cy="8002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暫定施策：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工事助成費と送料助成費に関してマスターを作成し、月次にて追加変更等の更新を行う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cxnSp>
          <p:nvCxnSpPr>
            <p:cNvPr id="29" name="コネクタ: カギ線 28">
              <a:extLst>
                <a:ext uri="{FF2B5EF4-FFF2-40B4-BE49-F238E27FC236}">
                  <a16:creationId xmlns:a16="http://schemas.microsoft.com/office/drawing/2014/main" id="{4BB8B564-5750-41F3-9177-0C5CB1A15677}"/>
                </a:ext>
              </a:extLst>
            </p:cNvPr>
            <p:cNvCxnSpPr>
              <a:cxnSpLocks/>
              <a:stCxn id="12" idx="3"/>
              <a:endCxn id="18" idx="1"/>
            </p:cNvCxnSpPr>
            <p:nvPr/>
          </p:nvCxnSpPr>
          <p:spPr>
            <a:xfrm flipV="1">
              <a:off x="7146717" y="6139537"/>
              <a:ext cx="384615" cy="396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コネクタ: カギ線 29">
              <a:extLst>
                <a:ext uri="{FF2B5EF4-FFF2-40B4-BE49-F238E27FC236}">
                  <a16:creationId xmlns:a16="http://schemas.microsoft.com/office/drawing/2014/main" id="{2A34CAAD-687A-4B0B-826F-0A1145F310BC}"/>
                </a:ext>
              </a:extLst>
            </p:cNvPr>
            <p:cNvCxnSpPr>
              <a:cxnSpLocks/>
              <a:stCxn id="6" idx="3"/>
              <a:endCxn id="14" idx="1"/>
            </p:cNvCxnSpPr>
            <p:nvPr/>
          </p:nvCxnSpPr>
          <p:spPr>
            <a:xfrm flipV="1">
              <a:off x="2898365" y="3144445"/>
              <a:ext cx="639657" cy="1694759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26021CE-8B53-4AA0-9407-C28847EF0FD6}"/>
                </a:ext>
              </a:extLst>
            </p:cNvPr>
            <p:cNvSpPr txBox="1"/>
            <p:nvPr/>
          </p:nvSpPr>
          <p:spPr>
            <a:xfrm>
              <a:off x="1235872" y="2713880"/>
              <a:ext cx="860757" cy="379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調査</a:t>
              </a:r>
            </a:p>
          </p:txBody>
        </p:sp>
        <p:cxnSp>
          <p:nvCxnSpPr>
            <p:cNvPr id="32" name="コネクタ: カギ線 31">
              <a:extLst>
                <a:ext uri="{FF2B5EF4-FFF2-40B4-BE49-F238E27FC236}">
                  <a16:creationId xmlns:a16="http://schemas.microsoft.com/office/drawing/2014/main" id="{936436CE-A0DD-4BA8-A8E4-7426675D74D3}"/>
                </a:ext>
              </a:extLst>
            </p:cNvPr>
            <p:cNvCxnSpPr>
              <a:cxnSpLocks/>
              <a:stCxn id="6" idx="3"/>
              <a:endCxn id="20" idx="1"/>
            </p:cNvCxnSpPr>
            <p:nvPr/>
          </p:nvCxnSpPr>
          <p:spPr>
            <a:xfrm flipV="1">
              <a:off x="2898365" y="4734412"/>
              <a:ext cx="639657" cy="104792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コネクタ: カギ線 32">
              <a:extLst>
                <a:ext uri="{FF2B5EF4-FFF2-40B4-BE49-F238E27FC236}">
                  <a16:creationId xmlns:a16="http://schemas.microsoft.com/office/drawing/2014/main" id="{D23A6E14-C60E-43D0-ACC9-E4FD3E6B1137}"/>
                </a:ext>
              </a:extLst>
            </p:cNvPr>
            <p:cNvCxnSpPr>
              <a:cxnSpLocks/>
              <a:stCxn id="6" idx="3"/>
              <a:endCxn id="11" idx="1"/>
            </p:cNvCxnSpPr>
            <p:nvPr/>
          </p:nvCxnSpPr>
          <p:spPr>
            <a:xfrm flipV="1">
              <a:off x="2898365" y="1738927"/>
              <a:ext cx="639657" cy="3100277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コネクタ: カギ線 33">
              <a:extLst>
                <a:ext uri="{FF2B5EF4-FFF2-40B4-BE49-F238E27FC236}">
                  <a16:creationId xmlns:a16="http://schemas.microsoft.com/office/drawing/2014/main" id="{4BC7E6DA-98BD-45B2-B9CC-F2FC1AE5D188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>
              <a:off x="2898365" y="4839204"/>
              <a:ext cx="639657" cy="1300729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912C202D-F734-407C-8566-26C5AB0DF2A1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 flipV="1">
              <a:off x="7127877" y="1731539"/>
              <a:ext cx="403455" cy="738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タイトル 1">
            <a:extLst>
              <a:ext uri="{FF2B5EF4-FFF2-40B4-BE49-F238E27FC236}">
                <a16:creationId xmlns:a16="http://schemas.microsoft.com/office/drawing/2014/main" id="{93033CB5-E543-421D-A3B3-C39DC0C25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4" y="33339"/>
            <a:ext cx="11245678" cy="652462"/>
          </a:xfrm>
        </p:spPr>
        <p:txBody>
          <a:bodyPr/>
          <a:lstStyle/>
          <a:p>
            <a:r>
              <a:rPr lang="ja-JP" altLang="en-US" b="1" dirty="0"/>
              <a:t>リベート管理（商品統合管理室）に関する課題（２</a:t>
            </a:r>
            <a:r>
              <a:rPr lang="en-US" altLang="ja-JP" b="1" dirty="0"/>
              <a:t>/6</a:t>
            </a:r>
            <a:r>
              <a:rPr lang="ja-JP" altLang="en-US" b="1" dirty="0"/>
              <a:t>・３</a:t>
            </a:r>
            <a:r>
              <a:rPr lang="en-US" altLang="ja-JP" b="1" dirty="0"/>
              <a:t>/6</a:t>
            </a:r>
            <a:r>
              <a:rPr lang="ja-JP" altLang="en-US" b="1" dirty="0"/>
              <a:t>・４</a:t>
            </a:r>
            <a:r>
              <a:rPr lang="en-US" altLang="ja-JP" b="1" dirty="0"/>
              <a:t>/6</a:t>
            </a:r>
            <a:r>
              <a:rPr lang="ja-JP" altLang="en-US" b="1" dirty="0"/>
              <a:t>・５</a:t>
            </a:r>
            <a:r>
              <a:rPr lang="en-US" altLang="ja-JP" b="1" dirty="0"/>
              <a:t>/</a:t>
            </a:r>
            <a:r>
              <a:rPr lang="ja-JP" altLang="en-US" b="1" dirty="0"/>
              <a:t>６）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A70AC11-F6C8-4B18-AA2B-42C49889EA66}"/>
              </a:ext>
            </a:extLst>
          </p:cNvPr>
          <p:cNvSpPr txBox="1"/>
          <p:nvPr/>
        </p:nvSpPr>
        <p:spPr>
          <a:xfrm>
            <a:off x="509373" y="679936"/>
            <a:ext cx="11726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事故報告・事故調査などによるリスク管理により、リベート管理は６つの課題が明らかとなっている</a:t>
            </a:r>
          </a:p>
        </p:txBody>
      </p:sp>
    </p:spTree>
    <p:extLst>
      <p:ext uri="{BB962C8B-B14F-4D97-AF65-F5344CB8AC3E}">
        <p14:creationId xmlns:p14="http://schemas.microsoft.com/office/powerpoint/2010/main" val="18009629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CFD1914-086A-4182-B70A-F597AF7D96C9}"/>
              </a:ext>
            </a:extLst>
          </p:cNvPr>
          <p:cNvGrpSpPr/>
          <p:nvPr/>
        </p:nvGrpSpPr>
        <p:grpSpPr>
          <a:xfrm>
            <a:off x="521543" y="1846556"/>
            <a:ext cx="10946664" cy="1893540"/>
            <a:chOff x="541863" y="1723300"/>
            <a:chExt cx="10946664" cy="1893540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7FD0A35-4000-4711-96F5-A946ADA86068}"/>
                </a:ext>
              </a:extLst>
            </p:cNvPr>
            <p:cNvSpPr/>
            <p:nvPr/>
          </p:nvSpPr>
          <p:spPr>
            <a:xfrm>
              <a:off x="541863" y="2705270"/>
              <a:ext cx="3215945" cy="9115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algn="just"/>
              <a:r>
                <a:rPr lang="en-US" altLang="ja-JP" sz="1400" b="1" dirty="0"/>
                <a:t>【6】</a:t>
              </a:r>
              <a:r>
                <a:rPr lang="ja-JP" altLang="ja-JP" sz="1400" b="1" dirty="0"/>
                <a:t>問い合わせ窓口が集約化されていない多様な受付方法の課題</a:t>
              </a:r>
              <a:endParaRPr lang="en-US" altLang="ja-JP" sz="1400" b="1" dirty="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3A86743C-A6CA-42D4-B74C-8902ADF620F6}"/>
                </a:ext>
              </a:extLst>
            </p:cNvPr>
            <p:cNvSpPr/>
            <p:nvPr/>
          </p:nvSpPr>
          <p:spPr>
            <a:xfrm>
              <a:off x="4074203" y="2705270"/>
              <a:ext cx="6832696" cy="9115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r>
                <a:rPr lang="ja-JP" altLang="en-US" sz="1400" dirty="0"/>
                <a:t>問い合わせ窓口が集約化されておらず、</a:t>
              </a:r>
              <a:r>
                <a:rPr lang="ja-JP" altLang="en-US" sz="1400" dirty="0" err="1"/>
                <a:t>誤ったたリベート</a:t>
              </a:r>
              <a:r>
                <a:rPr lang="ja-JP" altLang="en-US" sz="1400" dirty="0"/>
                <a:t>登録が行われるリスクがある。複数の手段で受付を行っている</a:t>
              </a: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8CE531A4-24F3-47BC-8304-C2553B5BD575}"/>
                </a:ext>
              </a:extLst>
            </p:cNvPr>
            <p:cNvCxnSpPr>
              <a:cxnSpLocks/>
              <a:stCxn id="15" idx="3"/>
              <a:endCxn id="16" idx="1"/>
            </p:cNvCxnSpPr>
            <p:nvPr/>
          </p:nvCxnSpPr>
          <p:spPr>
            <a:xfrm>
              <a:off x="3757808" y="3161055"/>
              <a:ext cx="3163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AD12866F-BD8F-460E-8BB2-CBB27A233170}"/>
                </a:ext>
              </a:extLst>
            </p:cNvPr>
            <p:cNvSpPr/>
            <p:nvPr/>
          </p:nvSpPr>
          <p:spPr>
            <a:xfrm>
              <a:off x="541863" y="1723300"/>
              <a:ext cx="10946664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ja-JP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</a:t>
              </a:r>
              <a:r>
                <a:rPr lang="ja-JP" altLang="en-US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６</a:t>
              </a:r>
              <a:r>
                <a:rPr lang="en-US" altLang="ja-JP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】41</a:t>
              </a:r>
              <a:r>
                <a:rPr lang="ja-JP" altLang="en-US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期決算に影響した人為的な事故により明らかとなった課題</a:t>
              </a:r>
              <a:endParaRPr lang="en-US" altLang="ja-JP" b="1" dirty="0"/>
            </a:p>
          </p:txBody>
        </p:sp>
      </p:grpSp>
      <p:sp>
        <p:nvSpPr>
          <p:cNvPr id="14" name="タイトル 1">
            <a:extLst>
              <a:ext uri="{FF2B5EF4-FFF2-40B4-BE49-F238E27FC236}">
                <a16:creationId xmlns:a16="http://schemas.microsoft.com/office/drawing/2014/main" id="{7E633FF3-7FF9-401E-AD02-3AC198B4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リベート管理（商品統合管理室）に関する課題（</a:t>
            </a:r>
            <a:r>
              <a:rPr lang="en-US" altLang="ja-JP" b="1" dirty="0"/>
              <a:t>6/6</a:t>
            </a:r>
            <a:r>
              <a:rPr lang="ja-JP" altLang="en-US" b="1" dirty="0"/>
              <a:t>）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7E783C8-C1F6-40D3-80B8-F30423869AAD}"/>
              </a:ext>
            </a:extLst>
          </p:cNvPr>
          <p:cNvSpPr txBox="1"/>
          <p:nvPr/>
        </p:nvSpPr>
        <p:spPr>
          <a:xfrm>
            <a:off x="509373" y="679936"/>
            <a:ext cx="11726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事故報告・事故調査などによるリスク管理により、リベート管理は６つの課題が明らかとなっている</a:t>
            </a:r>
          </a:p>
        </p:txBody>
      </p:sp>
    </p:spTree>
    <p:extLst>
      <p:ext uri="{BB962C8B-B14F-4D97-AF65-F5344CB8AC3E}">
        <p14:creationId xmlns:p14="http://schemas.microsoft.com/office/powerpoint/2010/main" val="10297119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52279EB-EB85-42EB-9D79-1BDD9D3442D8}"/>
              </a:ext>
            </a:extLst>
          </p:cNvPr>
          <p:cNvSpPr/>
          <p:nvPr/>
        </p:nvSpPr>
        <p:spPr>
          <a:xfrm>
            <a:off x="0" y="2738455"/>
            <a:ext cx="12192000" cy="4638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536780-AD02-4032-8146-01C065AE87F5}"/>
              </a:ext>
            </a:extLst>
          </p:cNvPr>
          <p:cNvSpPr txBox="1"/>
          <p:nvPr/>
        </p:nvSpPr>
        <p:spPr>
          <a:xfrm>
            <a:off x="1341333" y="2736502"/>
            <a:ext cx="10227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2.</a:t>
            </a:r>
            <a:r>
              <a:rPr kumimoji="1" lang="ja-JP" altLang="en-US" sz="2800" dirty="0"/>
              <a:t>リベート管理（商品統合管理室）に関する対策ロードマップ</a:t>
            </a:r>
            <a:endParaRPr kumimoji="1" lang="en-US" altLang="ja-JP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C807600-6F2C-4478-AEA4-36C24D20B08A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</p:spTree>
    <p:extLst>
      <p:ext uri="{BB962C8B-B14F-4D97-AF65-F5344CB8AC3E}">
        <p14:creationId xmlns:p14="http://schemas.microsoft.com/office/powerpoint/2010/main" val="187864327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nker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リベート管理（商品統合管理室）に関する対策ロードマップ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B13BB09-AAD7-4451-8B4E-A184A8DE2108}"/>
              </a:ext>
            </a:extLst>
          </p:cNvPr>
          <p:cNvSpPr/>
          <p:nvPr/>
        </p:nvSpPr>
        <p:spPr>
          <a:xfrm>
            <a:off x="541864" y="936932"/>
            <a:ext cx="1094666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ロードマップ</a:t>
            </a:r>
            <a:r>
              <a:rPr lang="ja-JP" altLang="en-US" b="1" dirty="0"/>
              <a:t>：</a:t>
            </a:r>
            <a:endParaRPr lang="en-US" altLang="ja-JP" b="1" dirty="0"/>
          </a:p>
          <a:p>
            <a:pPr algn="just"/>
            <a:endParaRPr lang="ja-JP" altLang="en-US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A373A1AE-1AE9-427D-B8D0-31DF75147C9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83676" y="1373504"/>
          <a:ext cx="10504852" cy="705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428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819835007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2465901396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1619234536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2723087677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4042029908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2380682336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4102847033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1033000591"/>
                    </a:ext>
                  </a:extLst>
                </a:gridCol>
              </a:tblGrid>
              <a:tr h="3526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課題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872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42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期</a:t>
                      </a: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872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43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期</a:t>
                      </a: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66829"/>
                  </a:ext>
                </a:extLst>
              </a:tr>
              <a:tr h="352674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9-11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12-2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3-5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6-8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9-11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12-2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3-5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6-8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2121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6E6B6A4D-7FAA-44EC-A410-C479BF80A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821960"/>
              </p:ext>
            </p:extLst>
          </p:nvPr>
        </p:nvGraphicFramePr>
        <p:xfrm>
          <a:off x="983677" y="2125970"/>
          <a:ext cx="10504851" cy="4276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5283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8379568">
                  <a:extLst>
                    <a:ext uri="{9D8B030D-6E8A-4147-A177-3AD203B41FA5}">
                      <a16:colId xmlns:a16="http://schemas.microsoft.com/office/drawing/2014/main" val="1996198101"/>
                    </a:ext>
                  </a:extLst>
                </a:gridCol>
              </a:tblGrid>
              <a:tr h="1069200">
                <a:tc>
                  <a:txBody>
                    <a:bodyPr/>
                    <a:lstStyle/>
                    <a:p>
                      <a:pPr marL="0" marR="0" lvl="0" indent="0" algn="l" defTabSz="872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【1】</a:t>
                      </a:r>
                      <a:r>
                        <a:rPr kumimoji="1" lang="ja-JP" altLang="en-US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紙とエクセルによる複雑な業務による人為的な事故の発生</a:t>
                      </a:r>
                      <a:endParaRPr lang="ja-JP" altLang="ja-JP" sz="1200" b="1" dirty="0">
                        <a:effectLst/>
                        <a:latin typeface="+mj-lt"/>
                      </a:endParaRPr>
                    </a:p>
                    <a:p>
                      <a:pPr algn="l" fontAlgn="t"/>
                      <a:endParaRPr lang="ja-JP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790222"/>
                  </a:ext>
                </a:extLst>
              </a:tr>
              <a:tr h="10692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200" b="1" u="none" strike="noStrike" dirty="0">
                          <a:effectLst/>
                          <a:latin typeface="+mj-lt"/>
                          <a:ea typeface="Meiryo UI" panose="020B0604030504040204" pitchFamily="50" charset="-128"/>
                        </a:rPr>
                        <a:t>【2】</a:t>
                      </a:r>
                      <a:r>
                        <a:rPr kumimoji="1" lang="ja-JP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商品マスタ維持管理の不足</a:t>
                      </a:r>
                      <a:endParaRPr kumimoji="1" lang="en-US" altLang="ja-JP" sz="1200" b="1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kumimoji="1" lang="en-US" altLang="ja-JP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※</a:t>
                      </a:r>
                      <a:r>
                        <a:rPr kumimoji="1" lang="ja-JP" alt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不整合の報告</a:t>
                      </a:r>
                      <a:r>
                        <a:rPr kumimoji="1" lang="en-US" altLang="ja-JP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ja-JP" alt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社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21"/>
                  </a:ext>
                </a:extLst>
              </a:tr>
              <a:tr h="106920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u="none" strike="noStrike" dirty="0">
                          <a:effectLst/>
                          <a:latin typeface="+mj-lt"/>
                          <a:ea typeface="Meiryo UI" panose="020B0604030504040204" pitchFamily="50" charset="-128"/>
                        </a:rPr>
                        <a:t>【3】</a:t>
                      </a:r>
                      <a:r>
                        <a:rPr kumimoji="1" lang="ja-JP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仕入先とのリベート合意内容の不足</a:t>
                      </a:r>
                      <a:endParaRPr lang="ja-JP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582832"/>
                  </a:ext>
                </a:extLst>
              </a:tr>
              <a:tr h="10692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200" b="1" u="none" strike="noStrike" dirty="0">
                          <a:effectLst/>
                          <a:latin typeface="+mj-lt"/>
                          <a:ea typeface="Meiryo UI" panose="020B0604030504040204" pitchFamily="50" charset="-128"/>
                        </a:rPr>
                        <a:t>【4】</a:t>
                      </a:r>
                      <a:r>
                        <a:rPr kumimoji="1" lang="ja-JP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仕入先への債権管理不足</a:t>
                      </a:r>
                      <a:endParaRPr kumimoji="1" lang="en-US" altLang="ja-JP" sz="1200" b="1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Meiryo UI" panose="020B0604030504040204" pitchFamily="50" charset="-128"/>
                        </a:rPr>
                        <a:t>送料助成費・工事助成費</a:t>
                      </a: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02547"/>
                  </a:ext>
                </a:extLst>
              </a:tr>
            </a:tbl>
          </a:graphicData>
        </a:graphic>
      </p:graphicFrame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BD0B4E26-FA10-4BF3-AC30-F93CC646A31A}"/>
              </a:ext>
            </a:extLst>
          </p:cNvPr>
          <p:cNvSpPr/>
          <p:nvPr/>
        </p:nvSpPr>
        <p:spPr>
          <a:xfrm>
            <a:off x="3189466" y="3241708"/>
            <a:ext cx="955814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暫定運用</a:t>
            </a:r>
            <a:endParaRPr lang="en-US" altLang="ja-JP" sz="1000" b="1" dirty="0">
              <a:solidFill>
                <a:schemeClr val="tx1"/>
              </a:solidFill>
            </a:endParaRPr>
          </a:p>
          <a:p>
            <a:r>
              <a:rPr lang="ja-JP" altLang="en-US" sz="1000" b="1" dirty="0">
                <a:solidFill>
                  <a:schemeClr val="tx1"/>
                </a:solidFill>
              </a:rPr>
              <a:t>定常業務化</a:t>
            </a:r>
            <a:endParaRPr lang="en-US" altLang="ja-JP" sz="1000" b="1" dirty="0">
              <a:solidFill>
                <a:schemeClr val="tx1"/>
              </a:solidFill>
            </a:endParaRPr>
          </a:p>
          <a:p>
            <a:r>
              <a: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11/</a:t>
            </a:r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末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F3DD235-D550-416A-B4AA-A3FFF6F7EEED}"/>
              </a:ext>
            </a:extLst>
          </p:cNvPr>
          <p:cNvSpPr/>
          <p:nvPr/>
        </p:nvSpPr>
        <p:spPr>
          <a:xfrm>
            <a:off x="541864" y="2135206"/>
            <a:ext cx="415174" cy="10359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ja-JP" sz="1100" b="1" dirty="0"/>
              <a:t>ツール導入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CE31070-3CFF-4DFD-A54C-D46982B6412C}"/>
              </a:ext>
            </a:extLst>
          </p:cNvPr>
          <p:cNvSpPr/>
          <p:nvPr/>
        </p:nvSpPr>
        <p:spPr>
          <a:xfrm>
            <a:off x="541864" y="3197215"/>
            <a:ext cx="415174" cy="10476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ja-JP" sz="1100" b="1" dirty="0"/>
              <a:t>チェックリスト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2EDD144-F10B-4902-A330-859386B74C2C}"/>
              </a:ext>
            </a:extLst>
          </p:cNvPr>
          <p:cNvSpPr/>
          <p:nvPr/>
        </p:nvSpPr>
        <p:spPr>
          <a:xfrm>
            <a:off x="541864" y="4290465"/>
            <a:ext cx="415174" cy="10256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100" b="1" dirty="0"/>
              <a:t>運用規約</a:t>
            </a:r>
            <a:endParaRPr lang="en-US" altLang="ja-JP" sz="1100" b="1" dirty="0"/>
          </a:p>
          <a:p>
            <a:pPr algn="ctr"/>
            <a:r>
              <a:rPr lang="ja-JP" altLang="en-US" sz="1100" b="1" dirty="0"/>
              <a:t>合意書</a:t>
            </a:r>
            <a:endParaRPr lang="ja-JP" altLang="ja-JP" sz="1100" b="1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2A0C968-4541-45DD-B0BB-6A4B7B179899}"/>
              </a:ext>
            </a:extLst>
          </p:cNvPr>
          <p:cNvSpPr/>
          <p:nvPr/>
        </p:nvSpPr>
        <p:spPr>
          <a:xfrm>
            <a:off x="541864" y="5364200"/>
            <a:ext cx="415174" cy="102318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100" b="1" dirty="0"/>
              <a:t>管理台帳</a:t>
            </a:r>
            <a:endParaRPr lang="en-US" altLang="ja-JP" sz="1100" b="1" dirty="0"/>
          </a:p>
          <a:p>
            <a:pPr algn="ctr"/>
            <a:r>
              <a:rPr lang="ja-JP" altLang="en-US" sz="1100" b="1" dirty="0"/>
              <a:t>実績表</a:t>
            </a:r>
            <a:endParaRPr lang="en-US" altLang="ja-JP" sz="1100" b="1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33E4979-B531-46BD-8E46-484A68F27C0A}"/>
              </a:ext>
            </a:extLst>
          </p:cNvPr>
          <p:cNvSpPr/>
          <p:nvPr/>
        </p:nvSpPr>
        <p:spPr>
          <a:xfrm>
            <a:off x="541864" y="1387061"/>
            <a:ext cx="415174" cy="6703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100" b="1" dirty="0"/>
              <a:t>成果物</a:t>
            </a:r>
            <a:endParaRPr lang="ja-JP" altLang="ja-JP" sz="1100" b="1" dirty="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D2AA0D2-4046-4C00-9E06-E7B8416E8EA6}"/>
              </a:ext>
            </a:extLst>
          </p:cNvPr>
          <p:cNvSpPr/>
          <p:nvPr/>
        </p:nvSpPr>
        <p:spPr>
          <a:xfrm>
            <a:off x="541864" y="6511088"/>
            <a:ext cx="1142592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点線箇所、要件定義中のためスケジュールを変更する可能性がある</a:t>
            </a:r>
            <a:endParaRPr lang="ja-JP" altLang="en-US" sz="1200" dirty="0"/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8294BA00-2D67-4401-9291-A43943944983}"/>
              </a:ext>
            </a:extLst>
          </p:cNvPr>
          <p:cNvSpPr/>
          <p:nvPr/>
        </p:nvSpPr>
        <p:spPr>
          <a:xfrm>
            <a:off x="3189466" y="4308508"/>
            <a:ext cx="955814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合意書回収</a:t>
            </a:r>
            <a:r>
              <a: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11/</a:t>
            </a:r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末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5B524C6-308C-4AC0-8475-9785B7F2A0C8}"/>
              </a:ext>
            </a:extLst>
          </p:cNvPr>
          <p:cNvGrpSpPr/>
          <p:nvPr/>
        </p:nvGrpSpPr>
        <p:grpSpPr>
          <a:xfrm>
            <a:off x="3164981" y="2167288"/>
            <a:ext cx="4966541" cy="1003881"/>
            <a:chOff x="3164981" y="2205388"/>
            <a:chExt cx="4564696" cy="1003881"/>
          </a:xfrm>
        </p:grpSpPr>
        <p:sp>
          <p:nvSpPr>
            <p:cNvPr id="9" name="矢印: 五方向 8">
              <a:extLst>
                <a:ext uri="{FF2B5EF4-FFF2-40B4-BE49-F238E27FC236}">
                  <a16:creationId xmlns:a16="http://schemas.microsoft.com/office/drawing/2014/main" id="{EB92BC30-A432-445B-A19D-9B2B143DB007}"/>
                </a:ext>
              </a:extLst>
            </p:cNvPr>
            <p:cNvSpPr/>
            <p:nvPr/>
          </p:nvSpPr>
          <p:spPr>
            <a:xfrm>
              <a:off x="3408820" y="2205388"/>
              <a:ext cx="919339" cy="540051"/>
            </a:xfrm>
            <a:prstGeom prst="homePlat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STEP1</a:t>
              </a:r>
            </a:p>
            <a:p>
              <a:r>
                <a:rPr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WF</a:t>
              </a:r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入れ替え</a:t>
              </a:r>
              <a:endPara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次の要件定義</a:t>
              </a:r>
            </a:p>
          </p:txBody>
        </p:sp>
        <p:sp>
          <p:nvSpPr>
            <p:cNvPr id="10" name="矢印: 五方向 9">
              <a:extLst>
                <a:ext uri="{FF2B5EF4-FFF2-40B4-BE49-F238E27FC236}">
                  <a16:creationId xmlns:a16="http://schemas.microsoft.com/office/drawing/2014/main" id="{A93EC899-9C9E-427C-84CB-2EC4EFB82534}"/>
                </a:ext>
              </a:extLst>
            </p:cNvPr>
            <p:cNvSpPr/>
            <p:nvPr/>
          </p:nvSpPr>
          <p:spPr>
            <a:xfrm>
              <a:off x="4316051" y="2205389"/>
              <a:ext cx="2631299" cy="98102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STEP2</a:t>
              </a:r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以降</a:t>
              </a:r>
              <a:endPara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42</a:t>
              </a:r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期</a:t>
              </a:r>
              <a:r>
                <a:rPr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8/</a:t>
              </a:r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末</a:t>
              </a:r>
              <a:endPara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" name="矢印: 五方向 35">
              <a:extLst>
                <a:ext uri="{FF2B5EF4-FFF2-40B4-BE49-F238E27FC236}">
                  <a16:creationId xmlns:a16="http://schemas.microsoft.com/office/drawing/2014/main" id="{E43FA29B-54FC-494D-9C0B-35902D9691D9}"/>
                </a:ext>
              </a:extLst>
            </p:cNvPr>
            <p:cNvSpPr/>
            <p:nvPr/>
          </p:nvSpPr>
          <p:spPr>
            <a:xfrm>
              <a:off x="6972295" y="2210801"/>
              <a:ext cx="757382" cy="971189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本運用</a:t>
              </a:r>
            </a:p>
          </p:txBody>
        </p:sp>
        <p:sp>
          <p:nvSpPr>
            <p:cNvPr id="48" name="矢印: 五方向 47">
              <a:extLst>
                <a:ext uri="{FF2B5EF4-FFF2-40B4-BE49-F238E27FC236}">
                  <a16:creationId xmlns:a16="http://schemas.microsoft.com/office/drawing/2014/main" id="{BFB3114D-BE27-4C76-A082-EC2FDF8ED194}"/>
                </a:ext>
              </a:extLst>
            </p:cNvPr>
            <p:cNvSpPr/>
            <p:nvPr/>
          </p:nvSpPr>
          <p:spPr>
            <a:xfrm>
              <a:off x="3164981" y="2205388"/>
              <a:ext cx="243840" cy="981021"/>
            </a:xfrm>
            <a:prstGeom prst="homePlat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準備</a:t>
              </a:r>
            </a:p>
          </p:txBody>
        </p:sp>
        <p:sp>
          <p:nvSpPr>
            <p:cNvPr id="25" name="矢印: 五方向 24">
              <a:extLst>
                <a:ext uri="{FF2B5EF4-FFF2-40B4-BE49-F238E27FC236}">
                  <a16:creationId xmlns:a16="http://schemas.microsoft.com/office/drawing/2014/main" id="{89975373-C0C2-4363-A21C-78D87DE038BD}"/>
                </a:ext>
              </a:extLst>
            </p:cNvPr>
            <p:cNvSpPr/>
            <p:nvPr/>
          </p:nvSpPr>
          <p:spPr>
            <a:xfrm>
              <a:off x="3408822" y="2784500"/>
              <a:ext cx="919338" cy="424769"/>
            </a:xfrm>
            <a:prstGeom prst="homePlat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問合せの管理業務フロー開発</a:t>
              </a:r>
              <a:endPara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5482349-9C11-4668-8396-FEBC246BEA3C}"/>
              </a:ext>
            </a:extLst>
          </p:cNvPr>
          <p:cNvGrpSpPr/>
          <p:nvPr/>
        </p:nvGrpSpPr>
        <p:grpSpPr>
          <a:xfrm>
            <a:off x="3189467" y="5417672"/>
            <a:ext cx="4947826" cy="948703"/>
            <a:chOff x="3189467" y="5931908"/>
            <a:chExt cx="4947826" cy="434467"/>
          </a:xfrm>
        </p:grpSpPr>
        <p:sp>
          <p:nvSpPr>
            <p:cNvPr id="30" name="矢印: 五方向 29">
              <a:extLst>
                <a:ext uri="{FF2B5EF4-FFF2-40B4-BE49-F238E27FC236}">
                  <a16:creationId xmlns:a16="http://schemas.microsoft.com/office/drawing/2014/main" id="{0065A24C-959D-44DF-BC24-83BC1A5D3C16}"/>
                </a:ext>
              </a:extLst>
            </p:cNvPr>
            <p:cNvSpPr/>
            <p:nvPr/>
          </p:nvSpPr>
          <p:spPr>
            <a:xfrm>
              <a:off x="3189467" y="5938734"/>
              <a:ext cx="1907614" cy="427641"/>
            </a:xfrm>
            <a:prstGeom prst="homePlat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暫定フロー作成</a:t>
              </a:r>
              <a:endParaRPr lang="ja-JP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矢印: 五方向 36">
              <a:extLst>
                <a:ext uri="{FF2B5EF4-FFF2-40B4-BE49-F238E27FC236}">
                  <a16:creationId xmlns:a16="http://schemas.microsoft.com/office/drawing/2014/main" id="{33E1BC76-71DB-471E-B669-46A0D5CADAFF}"/>
                </a:ext>
              </a:extLst>
            </p:cNvPr>
            <p:cNvSpPr/>
            <p:nvPr/>
          </p:nvSpPr>
          <p:spPr>
            <a:xfrm>
              <a:off x="5814845" y="5938734"/>
              <a:ext cx="1508073" cy="427641"/>
            </a:xfrm>
            <a:prstGeom prst="homePlat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運用業務の構築と改善</a:t>
              </a:r>
              <a:endPara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42</a:t>
              </a:r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期</a:t>
              </a:r>
              <a:r>
                <a:rPr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8/</a:t>
              </a:r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末</a:t>
              </a:r>
              <a:endPara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矢印: 五方向 37">
              <a:extLst>
                <a:ext uri="{FF2B5EF4-FFF2-40B4-BE49-F238E27FC236}">
                  <a16:creationId xmlns:a16="http://schemas.microsoft.com/office/drawing/2014/main" id="{83B4B1FE-E17D-42AC-A576-77763218C4D5}"/>
                </a:ext>
              </a:extLst>
            </p:cNvPr>
            <p:cNvSpPr/>
            <p:nvPr/>
          </p:nvSpPr>
          <p:spPr>
            <a:xfrm>
              <a:off x="5126429" y="5938734"/>
              <a:ext cx="659067" cy="427641"/>
            </a:xfrm>
            <a:prstGeom prst="homePlat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ja-JP" altLang="ja-JP" sz="1000" b="1" dirty="0">
                  <a:solidFill>
                    <a:schemeClr val="tx1"/>
                  </a:solidFill>
                </a:rPr>
                <a:t>管理台帳</a:t>
              </a:r>
              <a:r>
                <a:rPr lang="ja-JP" altLang="en-US" sz="1000" b="1" dirty="0">
                  <a:solidFill>
                    <a:schemeClr val="tx1"/>
                  </a:solidFill>
                  <a:ea typeface="Meiryo UI" panose="020B0604030504040204" pitchFamily="50" charset="-128"/>
                </a:rPr>
                <a:t>作成</a:t>
              </a:r>
            </a:p>
          </p:txBody>
        </p:sp>
        <p:sp>
          <p:nvSpPr>
            <p:cNvPr id="40" name="矢印: 五方向 39">
              <a:extLst>
                <a:ext uri="{FF2B5EF4-FFF2-40B4-BE49-F238E27FC236}">
                  <a16:creationId xmlns:a16="http://schemas.microsoft.com/office/drawing/2014/main" id="{20D2B9C1-E908-493E-A786-FC75B37E9D36}"/>
                </a:ext>
              </a:extLst>
            </p:cNvPr>
            <p:cNvSpPr/>
            <p:nvPr/>
          </p:nvSpPr>
          <p:spPr>
            <a:xfrm>
              <a:off x="7322918" y="5931908"/>
              <a:ext cx="814375" cy="427641"/>
            </a:xfrm>
            <a:prstGeom prst="homePlat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本運用</a:t>
              </a:r>
              <a:endPara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7D8D662-23CB-42BA-ADD9-9B612A5B34A5}"/>
              </a:ext>
            </a:extLst>
          </p:cNvPr>
          <p:cNvGrpSpPr/>
          <p:nvPr/>
        </p:nvGrpSpPr>
        <p:grpSpPr>
          <a:xfrm>
            <a:off x="3651173" y="911701"/>
            <a:ext cx="638316" cy="5912960"/>
            <a:chOff x="5123396" y="589440"/>
            <a:chExt cx="638316" cy="5912960"/>
          </a:xfrm>
        </p:grpSpPr>
        <p:sp>
          <p:nvSpPr>
            <p:cNvPr id="27" name="フローチャート: 組合せ 26">
              <a:extLst>
                <a:ext uri="{FF2B5EF4-FFF2-40B4-BE49-F238E27FC236}">
                  <a16:creationId xmlns:a16="http://schemas.microsoft.com/office/drawing/2014/main" id="{801F696E-F56D-46D5-9381-BD1A8E95C5D0}"/>
                </a:ext>
              </a:extLst>
            </p:cNvPr>
            <p:cNvSpPr/>
            <p:nvPr/>
          </p:nvSpPr>
          <p:spPr>
            <a:xfrm>
              <a:off x="5314596" y="812003"/>
              <a:ext cx="258618" cy="258618"/>
            </a:xfrm>
            <a:prstGeom prst="flowChartMerg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1D8E48E-6EEF-4666-9ED0-E363D56192F3}"/>
                </a:ext>
              </a:extLst>
            </p:cNvPr>
            <p:cNvSpPr/>
            <p:nvPr/>
          </p:nvSpPr>
          <p:spPr>
            <a:xfrm>
              <a:off x="5123396" y="589440"/>
              <a:ext cx="6383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2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11/17</a:t>
              </a:r>
              <a:endParaRPr lang="ja-JP" altLang="en-US" sz="1200" dirty="0"/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88FE1AB3-6FE9-46B6-9F42-EE98C75F7938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5443905" y="1070621"/>
              <a:ext cx="0" cy="5431779"/>
            </a:xfrm>
            <a:prstGeom prst="straightConnector1">
              <a:avLst/>
            </a:prstGeom>
            <a:ln w="28575">
              <a:solidFill>
                <a:srgbClr val="FB3B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6E639A1-42C1-43CA-B9C8-117A211A4D3A}"/>
              </a:ext>
            </a:extLst>
          </p:cNvPr>
          <p:cNvSpPr/>
          <p:nvPr/>
        </p:nvSpPr>
        <p:spPr>
          <a:xfrm>
            <a:off x="10776190" y="11949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★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3D417C4-7C58-42FC-B0DE-C8B48389CA1E}"/>
              </a:ext>
            </a:extLst>
          </p:cNvPr>
          <p:cNvSpPr/>
          <p:nvPr/>
        </p:nvSpPr>
        <p:spPr>
          <a:xfrm>
            <a:off x="8246519" y="6038323"/>
            <a:ext cx="1556262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42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期中完了予定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4560210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nker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リベート管理（商品統合管理室）に関する対策ロードマップ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B13BB09-AAD7-4451-8B4E-A184A8DE2108}"/>
              </a:ext>
            </a:extLst>
          </p:cNvPr>
          <p:cNvSpPr/>
          <p:nvPr/>
        </p:nvSpPr>
        <p:spPr>
          <a:xfrm>
            <a:off x="541864" y="936932"/>
            <a:ext cx="1094666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ロードマップ</a:t>
            </a:r>
            <a:r>
              <a:rPr lang="ja-JP" altLang="en-US" b="1" dirty="0"/>
              <a:t>：</a:t>
            </a:r>
            <a:endParaRPr lang="en-US" altLang="ja-JP" b="1" dirty="0"/>
          </a:p>
          <a:p>
            <a:pPr algn="just"/>
            <a:endParaRPr lang="ja-JP" altLang="en-US" dirty="0"/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0F94E641-8CE7-4B02-A53C-E8AEC63776E7}"/>
              </a:ext>
            </a:extLst>
          </p:cNvPr>
          <p:cNvSpPr/>
          <p:nvPr/>
        </p:nvSpPr>
        <p:spPr>
          <a:xfrm>
            <a:off x="2540824" y="2205388"/>
            <a:ext cx="1562900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STEP1</a:t>
            </a:r>
            <a:endParaRPr kumimoji="1" lang="ja-JP" altLang="en-US" sz="11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48D6B1F3-293B-4FB1-ADC5-E135F921192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82737" y="2125970"/>
          <a:ext cx="10554807" cy="10810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1463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8413344">
                  <a:extLst>
                    <a:ext uri="{9D8B030D-6E8A-4147-A177-3AD203B41FA5}">
                      <a16:colId xmlns:a16="http://schemas.microsoft.com/office/drawing/2014/main" val="1996198101"/>
                    </a:ext>
                  </a:extLst>
                </a:gridCol>
              </a:tblGrid>
              <a:tr h="1081097">
                <a:tc>
                  <a:txBody>
                    <a:bodyPr/>
                    <a:lstStyle/>
                    <a:p>
                      <a:pPr marL="0" marR="0" lvl="0" indent="0" algn="l" defTabSz="872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【5】</a:t>
                      </a:r>
                      <a:r>
                        <a:rPr lang="ja-JP" altLang="en-US" sz="1200" b="1" dirty="0">
                          <a:latin typeface="+mj-lt"/>
                        </a:rPr>
                        <a:t>取次手数料の業務設計不足</a:t>
                      </a:r>
                      <a:endParaRPr lang="en-US" altLang="ja-JP" sz="1200" b="1" dirty="0">
                        <a:latin typeface="+mj-lt"/>
                      </a:endParaRPr>
                    </a:p>
                    <a:p>
                      <a:pPr marL="0" marR="0" lvl="0" indent="0" algn="l" defTabSz="872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0" dirty="0">
                          <a:effectLst/>
                          <a:latin typeface="+mj-lt"/>
                        </a:rPr>
                        <a:t>※</a:t>
                      </a:r>
                      <a:r>
                        <a:rPr lang="ja-JP" altLang="en-US" sz="1200" b="0" dirty="0">
                          <a:effectLst/>
                          <a:latin typeface="+mj-lt"/>
                        </a:rPr>
                        <a:t>事故発生の</a:t>
                      </a:r>
                      <a:r>
                        <a:rPr lang="en-US" altLang="ja-JP" sz="1200" b="0" dirty="0">
                          <a:effectLst/>
                          <a:latin typeface="+mj-lt"/>
                        </a:rPr>
                        <a:t>au</a:t>
                      </a:r>
                      <a:endParaRPr lang="ja-JP" altLang="ja-JP" sz="1200" b="0" dirty="0">
                        <a:effectLst/>
                        <a:latin typeface="+mj-lt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790222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EC0F915-B660-4B70-A2CA-E4A3397190A5}"/>
              </a:ext>
            </a:extLst>
          </p:cNvPr>
          <p:cNvSpPr/>
          <p:nvPr/>
        </p:nvSpPr>
        <p:spPr>
          <a:xfrm>
            <a:off x="532965" y="2148938"/>
            <a:ext cx="415174" cy="103747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ja-JP" sz="1100" b="1" dirty="0"/>
              <a:t>チェックリスト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A9F0937-3AAC-43FD-A2B3-08315136F6B0}"/>
              </a:ext>
            </a:extLst>
          </p:cNvPr>
          <p:cNvSpPr/>
          <p:nvPr/>
        </p:nvSpPr>
        <p:spPr>
          <a:xfrm>
            <a:off x="532965" y="1387062"/>
            <a:ext cx="415174" cy="6524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100" b="1" dirty="0"/>
              <a:t>成果物</a:t>
            </a:r>
            <a:endParaRPr lang="ja-JP" altLang="ja-JP" sz="1100" b="1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6C2F9EA-3DE3-47BD-A1E4-A580A85BD9E9}"/>
              </a:ext>
            </a:extLst>
          </p:cNvPr>
          <p:cNvGrpSpPr/>
          <p:nvPr/>
        </p:nvGrpSpPr>
        <p:grpSpPr>
          <a:xfrm>
            <a:off x="3189745" y="2174915"/>
            <a:ext cx="2974835" cy="981021"/>
            <a:chOff x="2557285" y="2174915"/>
            <a:chExt cx="2197595" cy="981021"/>
          </a:xfrm>
        </p:grpSpPr>
        <p:sp>
          <p:nvSpPr>
            <p:cNvPr id="18" name="矢印: 五方向 17">
              <a:extLst>
                <a:ext uri="{FF2B5EF4-FFF2-40B4-BE49-F238E27FC236}">
                  <a16:creationId xmlns:a16="http://schemas.microsoft.com/office/drawing/2014/main" id="{DDA6488C-041F-4B3C-8C65-0310CF487B50}"/>
                </a:ext>
              </a:extLst>
            </p:cNvPr>
            <p:cNvSpPr/>
            <p:nvPr/>
          </p:nvSpPr>
          <p:spPr>
            <a:xfrm>
              <a:off x="2557285" y="2174915"/>
              <a:ext cx="699461" cy="981021"/>
            </a:xfrm>
            <a:prstGeom prst="homePlat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エビデンス設計</a:t>
              </a:r>
            </a:p>
          </p:txBody>
        </p:sp>
        <p:sp>
          <p:nvSpPr>
            <p:cNvPr id="19" name="矢印: 五方向 18">
              <a:extLst>
                <a:ext uri="{FF2B5EF4-FFF2-40B4-BE49-F238E27FC236}">
                  <a16:creationId xmlns:a16="http://schemas.microsoft.com/office/drawing/2014/main" id="{626714B8-FB7F-4DE9-B5E0-8DC510AAB496}"/>
                </a:ext>
              </a:extLst>
            </p:cNvPr>
            <p:cNvSpPr/>
            <p:nvPr/>
          </p:nvSpPr>
          <p:spPr>
            <a:xfrm>
              <a:off x="3256746" y="2174915"/>
              <a:ext cx="479122" cy="981021"/>
            </a:xfrm>
            <a:prstGeom prst="homePlat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ルール設計</a:t>
              </a:r>
              <a:endParaRPr kumimoji="1"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矢印: 五方向 19">
              <a:extLst>
                <a:ext uri="{FF2B5EF4-FFF2-40B4-BE49-F238E27FC236}">
                  <a16:creationId xmlns:a16="http://schemas.microsoft.com/office/drawing/2014/main" id="{6AA2CB82-35FB-4F9B-95A0-0FBF4D1E3158}"/>
                </a:ext>
              </a:extLst>
            </p:cNvPr>
            <p:cNvSpPr/>
            <p:nvPr/>
          </p:nvSpPr>
          <p:spPr>
            <a:xfrm>
              <a:off x="3741777" y="2174915"/>
              <a:ext cx="479122" cy="981021"/>
            </a:xfrm>
            <a:prstGeom prst="homePlat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テスト運用</a:t>
              </a:r>
              <a:endParaRPr kumimoji="1"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42</a:t>
              </a:r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期</a:t>
              </a:r>
              <a:r>
                <a:rPr lang="en-US" altLang="ja-JP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3/</a:t>
              </a:r>
              <a:r>
                <a:rPr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末</a:t>
              </a:r>
            </a:p>
          </p:txBody>
        </p:sp>
        <p:sp>
          <p:nvSpPr>
            <p:cNvPr id="21" name="矢印: 五方向 20">
              <a:extLst>
                <a:ext uri="{FF2B5EF4-FFF2-40B4-BE49-F238E27FC236}">
                  <a16:creationId xmlns:a16="http://schemas.microsoft.com/office/drawing/2014/main" id="{5253CF0C-8390-4A01-BD2C-FB1170F730DE}"/>
                </a:ext>
              </a:extLst>
            </p:cNvPr>
            <p:cNvSpPr/>
            <p:nvPr/>
          </p:nvSpPr>
          <p:spPr>
            <a:xfrm>
              <a:off x="4220899" y="2174915"/>
              <a:ext cx="533981" cy="981021"/>
            </a:xfrm>
            <a:prstGeom prst="homePlat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ja-JP" altLang="en-US" sz="10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本運用</a:t>
              </a:r>
              <a:endParaRPr kumimoji="1"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30F6DE77-EFB5-4031-92CC-53F630723D9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83676" y="1373504"/>
          <a:ext cx="10504852" cy="705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428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819835007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2465901396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1619234536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2723087677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4042029908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2380682336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4102847033"/>
                    </a:ext>
                  </a:extLst>
                </a:gridCol>
                <a:gridCol w="1046428">
                  <a:extLst>
                    <a:ext uri="{9D8B030D-6E8A-4147-A177-3AD203B41FA5}">
                      <a16:colId xmlns:a16="http://schemas.microsoft.com/office/drawing/2014/main" val="1033000591"/>
                    </a:ext>
                  </a:extLst>
                </a:gridCol>
              </a:tblGrid>
              <a:tr h="3526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課題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872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42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期</a:t>
                      </a: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872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43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期</a:t>
                      </a: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66829"/>
                  </a:ext>
                </a:extLst>
              </a:tr>
              <a:tr h="352674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9-11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12-2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3-5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6-8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9-11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12-2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3-5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6-8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21214"/>
                  </a:ext>
                </a:extLst>
              </a:tr>
            </a:tbl>
          </a:graphicData>
        </a:graphic>
      </p:graphicFrame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C35FEDC-CC86-45FC-9C13-E4FB336288A2}"/>
              </a:ext>
            </a:extLst>
          </p:cNvPr>
          <p:cNvSpPr/>
          <p:nvPr/>
        </p:nvSpPr>
        <p:spPr>
          <a:xfrm>
            <a:off x="547178" y="3235354"/>
            <a:ext cx="1142592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点線箇所、要件定義中のためスケジュールを変更する可能性がある</a:t>
            </a:r>
            <a:endParaRPr lang="ja-JP" altLang="en-US" sz="1200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6900A88-6EB4-4676-96FB-D5B0C0D19735}"/>
              </a:ext>
            </a:extLst>
          </p:cNvPr>
          <p:cNvGrpSpPr/>
          <p:nvPr/>
        </p:nvGrpSpPr>
        <p:grpSpPr>
          <a:xfrm>
            <a:off x="3651173" y="911701"/>
            <a:ext cx="638316" cy="5912960"/>
            <a:chOff x="5123396" y="589440"/>
            <a:chExt cx="638316" cy="5912960"/>
          </a:xfrm>
        </p:grpSpPr>
        <p:sp>
          <p:nvSpPr>
            <p:cNvPr id="25" name="フローチャート: 組合せ 24">
              <a:extLst>
                <a:ext uri="{FF2B5EF4-FFF2-40B4-BE49-F238E27FC236}">
                  <a16:creationId xmlns:a16="http://schemas.microsoft.com/office/drawing/2014/main" id="{5385CFE1-B24F-4721-9A72-66A4E0358CF8}"/>
                </a:ext>
              </a:extLst>
            </p:cNvPr>
            <p:cNvSpPr/>
            <p:nvPr/>
          </p:nvSpPr>
          <p:spPr>
            <a:xfrm>
              <a:off x="5314596" y="812003"/>
              <a:ext cx="258618" cy="258618"/>
            </a:xfrm>
            <a:prstGeom prst="flowChartMerg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C9E47272-D30D-4FF4-8EC0-BF8345D17619}"/>
                </a:ext>
              </a:extLst>
            </p:cNvPr>
            <p:cNvSpPr/>
            <p:nvPr/>
          </p:nvSpPr>
          <p:spPr>
            <a:xfrm>
              <a:off x="5123396" y="589440"/>
              <a:ext cx="6383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2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11/17</a:t>
              </a:r>
              <a:endParaRPr lang="ja-JP" altLang="en-US" sz="1200" dirty="0"/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FD1D2EED-8E6A-41F1-A540-D716EA6C8E2E}"/>
                </a:ext>
              </a:extLst>
            </p:cNvPr>
            <p:cNvCxnSpPr>
              <a:cxnSpLocks/>
              <a:stCxn id="25" idx="2"/>
            </p:cNvCxnSpPr>
            <p:nvPr/>
          </p:nvCxnSpPr>
          <p:spPr>
            <a:xfrm>
              <a:off x="5443905" y="1070621"/>
              <a:ext cx="0" cy="5431779"/>
            </a:xfrm>
            <a:prstGeom prst="straightConnector1">
              <a:avLst/>
            </a:prstGeom>
            <a:ln w="28575">
              <a:solidFill>
                <a:srgbClr val="FB3B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6CACDC3-DB90-4D89-B000-AE06245F9070}"/>
              </a:ext>
            </a:extLst>
          </p:cNvPr>
          <p:cNvSpPr/>
          <p:nvPr/>
        </p:nvSpPr>
        <p:spPr>
          <a:xfrm>
            <a:off x="10776190" y="11949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★</a:t>
            </a:r>
          </a:p>
        </p:txBody>
      </p:sp>
    </p:spTree>
    <p:extLst>
      <p:ext uri="{BB962C8B-B14F-4D97-AF65-F5344CB8AC3E}">
        <p14:creationId xmlns:p14="http://schemas.microsoft.com/office/powerpoint/2010/main" val="322848041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テーマ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3">
      <a:majorFont>
        <a:latin typeface="Meiryo UI"/>
        <a:ea typeface="メイリオ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ysClr val="window" lastClr="FFFFFF">
            <a:lumMod val="95000"/>
          </a:sysClr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171450" marR="0" indent="-17145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 typeface="Arial" panose="020B0604020202020204" pitchFamily="34" charset="0"/>
          <a:buChar char="•"/>
          <a:tabLst/>
          <a:defRPr kumimoji="0" sz="1200" b="0" i="0" u="none" strike="noStrike" kern="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Meiryo UI"/>
            <a:ea typeface="Meiryo UI"/>
            <a:cs typeface="+mn-cs"/>
          </a:defRPr>
        </a:defPPr>
      </a:lstStyle>
    </a:spDef>
    <a:lnDef>
      <a:spPr bwMode="auto">
        <a:solidFill>
          <a:srgbClr val="FFFFFF"/>
        </a:solidFill>
        <a:ln w="9525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rtlCol="0">
        <a:spAutoFit/>
      </a:bodyPr>
      <a:lstStyle>
        <a:defPPr algn="ctr">
          <a:defRPr sz="1600" dirty="0" smtClean="0"/>
        </a:defPPr>
      </a:lstStyle>
    </a:txDef>
  </a:objectDefaults>
  <a:extraClrSchemeLst>
    <a:extraClrScheme>
      <a:clrScheme name="A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5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666699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6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669999"/>
        </a:hlink>
        <a:folHlink>
          <a:srgbClr val="3300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7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3366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8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336666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9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0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999999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1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80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33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AD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ビックカメラ.potx" id="{863C7610-D6E9-4C3D-9B53-3923A252BC56}" vid="{A9D3D4FB-C2E3-4803-B881-A5F8ABB1D9C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Psas改修_0727</Template>
  <TotalTime>43813</TotalTime>
  <Words>997</Words>
  <Application>Microsoft Office PowerPoint</Application>
  <PresentationFormat>ワイド画面</PresentationFormat>
  <Paragraphs>176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7" baseType="lpstr">
      <vt:lpstr>HGP創英角ｺﾞｼｯｸUB</vt:lpstr>
      <vt:lpstr>Meiryo UI</vt:lpstr>
      <vt:lpstr>ＭＳ Ｐゴシック</vt:lpstr>
      <vt:lpstr>メイリオ</vt:lpstr>
      <vt:lpstr>游ゴシック</vt:lpstr>
      <vt:lpstr>Arial</vt:lpstr>
      <vt:lpstr>Calibri</vt:lpstr>
      <vt:lpstr>Wingdings</vt:lpstr>
      <vt:lpstr>テーマ3</vt:lpstr>
      <vt:lpstr>目次</vt:lpstr>
      <vt:lpstr>PowerPoint プレゼンテーション</vt:lpstr>
      <vt:lpstr>リベート管理（商品統合管理室）に関する課題（1/６）</vt:lpstr>
      <vt:lpstr>リベート管理（商品統合管理室）に関する課題（２/6・３/6・４/6・５/６）</vt:lpstr>
      <vt:lpstr>リベート管理（商品統合管理室）に関する課題（6/6）</vt:lpstr>
      <vt:lpstr>PowerPoint プレゼンテーション</vt:lpstr>
      <vt:lpstr>リベート管理（商品統合管理室）に関する対策ロードマップ</vt:lpstr>
      <vt:lpstr>リベート管理（商品統合管理室）に関する対策ロードマップ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hosoda</dc:creator>
  <cp:lastModifiedBy>11201062　吉橋　章</cp:lastModifiedBy>
  <cp:revision>2432</cp:revision>
  <cp:lastPrinted>2017-09-11T09:20:52Z</cp:lastPrinted>
  <dcterms:created xsi:type="dcterms:W3CDTF">2017-07-29T09:39:54Z</dcterms:created>
  <dcterms:modified xsi:type="dcterms:W3CDTF">2022-07-19T03:43:20Z</dcterms:modified>
</cp:coreProperties>
</file>